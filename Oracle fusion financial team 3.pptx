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453" r:id="rId3"/>
    <p:sldId id="303" r:id="rId4"/>
    <p:sldId id="302" r:id="rId5"/>
    <p:sldId id="257" r:id="rId6"/>
    <p:sldId id="304" r:id="rId7"/>
    <p:sldId id="258" r:id="rId8"/>
    <p:sldId id="305" r:id="rId9"/>
    <p:sldId id="259" r:id="rId10"/>
    <p:sldId id="306" r:id="rId11"/>
    <p:sldId id="260" r:id="rId12"/>
    <p:sldId id="307" r:id="rId13"/>
    <p:sldId id="309" r:id="rId14"/>
    <p:sldId id="261" r:id="rId15"/>
    <p:sldId id="310" r:id="rId16"/>
    <p:sldId id="262" r:id="rId17"/>
    <p:sldId id="311" r:id="rId18"/>
    <p:sldId id="263" r:id="rId19"/>
    <p:sldId id="312" r:id="rId20"/>
    <p:sldId id="264" r:id="rId21"/>
    <p:sldId id="313" r:id="rId22"/>
    <p:sldId id="265" r:id="rId23"/>
    <p:sldId id="314" r:id="rId24"/>
    <p:sldId id="266" r:id="rId25"/>
    <p:sldId id="315" r:id="rId26"/>
    <p:sldId id="267" r:id="rId27"/>
    <p:sldId id="316" r:id="rId28"/>
    <p:sldId id="268" r:id="rId29"/>
    <p:sldId id="317" r:id="rId30"/>
    <p:sldId id="318" r:id="rId31"/>
    <p:sldId id="269" r:id="rId32"/>
    <p:sldId id="319" r:id="rId33"/>
    <p:sldId id="270" r:id="rId34"/>
    <p:sldId id="320" r:id="rId35"/>
    <p:sldId id="271" r:id="rId36"/>
    <p:sldId id="321" r:id="rId37"/>
    <p:sldId id="272" r:id="rId38"/>
    <p:sldId id="322" r:id="rId39"/>
    <p:sldId id="273" r:id="rId40"/>
    <p:sldId id="323" r:id="rId41"/>
    <p:sldId id="324" r:id="rId42"/>
    <p:sldId id="274" r:id="rId43"/>
    <p:sldId id="325" r:id="rId44"/>
    <p:sldId id="275" r:id="rId45"/>
    <p:sldId id="326" r:id="rId46"/>
    <p:sldId id="276" r:id="rId47"/>
    <p:sldId id="327" r:id="rId48"/>
    <p:sldId id="277" r:id="rId49"/>
    <p:sldId id="328" r:id="rId50"/>
    <p:sldId id="278" r:id="rId51"/>
    <p:sldId id="329" r:id="rId52"/>
    <p:sldId id="279" r:id="rId53"/>
    <p:sldId id="330" r:id="rId54"/>
    <p:sldId id="280" r:id="rId55"/>
    <p:sldId id="331" r:id="rId56"/>
    <p:sldId id="281" r:id="rId57"/>
    <p:sldId id="332" r:id="rId58"/>
    <p:sldId id="282" r:id="rId59"/>
    <p:sldId id="333" r:id="rId60"/>
    <p:sldId id="334" r:id="rId61"/>
    <p:sldId id="283" r:id="rId62"/>
    <p:sldId id="335" r:id="rId63"/>
    <p:sldId id="284" r:id="rId64"/>
    <p:sldId id="336" r:id="rId65"/>
    <p:sldId id="285" r:id="rId66"/>
    <p:sldId id="337" r:id="rId67"/>
    <p:sldId id="286" r:id="rId68"/>
    <p:sldId id="338" r:id="rId69"/>
    <p:sldId id="287" r:id="rId70"/>
    <p:sldId id="339" r:id="rId71"/>
    <p:sldId id="288" r:id="rId72"/>
    <p:sldId id="340" r:id="rId73"/>
    <p:sldId id="289" r:id="rId74"/>
    <p:sldId id="341" r:id="rId75"/>
    <p:sldId id="290" r:id="rId76"/>
    <p:sldId id="342" r:id="rId77"/>
    <p:sldId id="291" r:id="rId78"/>
    <p:sldId id="343" r:id="rId79"/>
    <p:sldId id="292" r:id="rId80"/>
    <p:sldId id="344" r:id="rId81"/>
    <p:sldId id="293" r:id="rId82"/>
    <p:sldId id="294" r:id="rId83"/>
    <p:sldId id="345" r:id="rId84"/>
    <p:sldId id="295" r:id="rId85"/>
    <p:sldId id="346" r:id="rId86"/>
    <p:sldId id="296" r:id="rId87"/>
    <p:sldId id="347" r:id="rId88"/>
    <p:sldId id="297" r:id="rId89"/>
    <p:sldId id="348" r:id="rId90"/>
    <p:sldId id="298" r:id="rId91"/>
    <p:sldId id="349" r:id="rId92"/>
    <p:sldId id="299" r:id="rId93"/>
    <p:sldId id="350" r:id="rId94"/>
    <p:sldId id="300" r:id="rId95"/>
    <p:sldId id="351" r:id="rId96"/>
    <p:sldId id="301" r:id="rId97"/>
    <p:sldId id="352" r:id="rId98"/>
    <p:sldId id="353" r:id="rId99"/>
    <p:sldId id="391" r:id="rId100"/>
    <p:sldId id="354" r:id="rId101"/>
    <p:sldId id="355" r:id="rId102"/>
    <p:sldId id="356" r:id="rId103"/>
    <p:sldId id="392" r:id="rId104"/>
    <p:sldId id="393" r:id="rId105"/>
    <p:sldId id="357" r:id="rId106"/>
    <p:sldId id="358" r:id="rId107"/>
    <p:sldId id="359" r:id="rId108"/>
    <p:sldId id="360" r:id="rId109"/>
    <p:sldId id="394" r:id="rId110"/>
    <p:sldId id="395" r:id="rId111"/>
    <p:sldId id="361" r:id="rId112"/>
    <p:sldId id="362" r:id="rId113"/>
    <p:sldId id="363" r:id="rId114"/>
    <p:sldId id="396" r:id="rId115"/>
    <p:sldId id="364" r:id="rId116"/>
    <p:sldId id="365" r:id="rId117"/>
    <p:sldId id="397" r:id="rId118"/>
    <p:sldId id="366" r:id="rId119"/>
    <p:sldId id="367" r:id="rId120"/>
    <p:sldId id="398" r:id="rId121"/>
    <p:sldId id="368" r:id="rId122"/>
    <p:sldId id="369" r:id="rId123"/>
    <p:sldId id="399" r:id="rId124"/>
    <p:sldId id="370" r:id="rId125"/>
    <p:sldId id="371" r:id="rId126"/>
    <p:sldId id="400" r:id="rId127"/>
    <p:sldId id="401" r:id="rId128"/>
    <p:sldId id="372" r:id="rId129"/>
    <p:sldId id="373" r:id="rId130"/>
    <p:sldId id="374" r:id="rId131"/>
    <p:sldId id="402" r:id="rId132"/>
    <p:sldId id="375" r:id="rId133"/>
    <p:sldId id="376" r:id="rId134"/>
    <p:sldId id="377" r:id="rId135"/>
    <p:sldId id="378" r:id="rId136"/>
    <p:sldId id="379" r:id="rId137"/>
    <p:sldId id="380" r:id="rId138"/>
    <p:sldId id="403" r:id="rId139"/>
    <p:sldId id="381" r:id="rId140"/>
    <p:sldId id="382" r:id="rId141"/>
    <p:sldId id="383" r:id="rId142"/>
    <p:sldId id="404" r:id="rId143"/>
    <p:sldId id="384" r:id="rId144"/>
    <p:sldId id="405" r:id="rId145"/>
    <p:sldId id="385" r:id="rId146"/>
    <p:sldId id="386" r:id="rId147"/>
    <p:sldId id="387" r:id="rId148"/>
    <p:sldId id="388" r:id="rId149"/>
    <p:sldId id="406" r:id="rId150"/>
    <p:sldId id="389" r:id="rId151"/>
    <p:sldId id="390" r:id="rId152"/>
    <p:sldId id="407" r:id="rId153"/>
    <p:sldId id="409" r:id="rId154"/>
    <p:sldId id="408"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45" r:id="rId170"/>
    <p:sldId id="424" r:id="rId171"/>
    <p:sldId id="425" r:id="rId172"/>
    <p:sldId id="426" r:id="rId173"/>
    <p:sldId id="427" r:id="rId174"/>
    <p:sldId id="428" r:id="rId175"/>
    <p:sldId id="429" r:id="rId176"/>
    <p:sldId id="430" r:id="rId177"/>
    <p:sldId id="431" r:id="rId178"/>
    <p:sldId id="432" r:id="rId179"/>
    <p:sldId id="433" r:id="rId180"/>
    <p:sldId id="434" r:id="rId181"/>
    <p:sldId id="435" r:id="rId182"/>
    <p:sldId id="446" r:id="rId183"/>
    <p:sldId id="436" r:id="rId184"/>
    <p:sldId id="437" r:id="rId185"/>
    <p:sldId id="438" r:id="rId186"/>
    <p:sldId id="439" r:id="rId187"/>
    <p:sldId id="440" r:id="rId188"/>
    <p:sldId id="441" r:id="rId189"/>
    <p:sldId id="442" r:id="rId190"/>
    <p:sldId id="447" r:id="rId191"/>
    <p:sldId id="448" r:id="rId192"/>
    <p:sldId id="449" r:id="rId193"/>
    <p:sldId id="450" r:id="rId194"/>
    <p:sldId id="451" r:id="rId195"/>
    <p:sldId id="452" r:id="rId196"/>
    <p:sldId id="443" r:id="rId197"/>
    <p:sldId id="444" r:id="rId19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viewProps" Target="view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theme" Target="theme/theme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tableStyles" Target="tableStyle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s>
</file>

<file path=ppt/diagrams/_rels/data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_rels/data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s>
</file>

<file path=ppt/diagrams/_rels/data9.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image" Target="../media/image20.svg"/></Relationships>
</file>

<file path=ppt/diagrams/_rels/data1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svg"/><Relationship Id="rId1" Type="http://schemas.openxmlformats.org/officeDocument/2006/relationships/image" Target="../media/image21.svg"/></Relationships>
</file>

<file path=ppt/diagrams/_rels/data13.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image" Target="../media/image31.svg"/></Relationships>
</file>

<file path=ppt/diagrams/_rels/data15.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image" Target="../media/image35.svg"/></Relationships>
</file>

<file path=ppt/diagrams/_rels/data23.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svg"/><Relationship Id="rId1" Type="http://schemas.openxmlformats.org/officeDocument/2006/relationships/image" Target="../media/image48.svg"/></Relationships>
</file>

<file path=ppt/diagrams/_rels/data30.xml.rels><?xml version="1.0" encoding="UTF-8" standalone="yes"?>
<Relationships xmlns="http://schemas.openxmlformats.org/package/2006/relationships"><Relationship Id="rId2" Type="http://schemas.openxmlformats.org/officeDocument/2006/relationships/image" Target="../media/image65.svg"/><Relationship Id="rId1" Type="http://schemas.openxmlformats.org/officeDocument/2006/relationships/image" Target="../media/image64.svg"/></Relationships>
</file>

<file path=ppt/diagrams/_rels/data33.xml.rels><?xml version="1.0" encoding="UTF-8" standalone="yes"?>
<Relationships xmlns="http://schemas.openxmlformats.org/package/2006/relationships"><Relationship Id="rId2" Type="http://schemas.openxmlformats.org/officeDocument/2006/relationships/image" Target="../media/image76.svg"/><Relationship Id="rId1" Type="http://schemas.openxmlformats.org/officeDocument/2006/relationships/image" Target="../media/image75.svg"/></Relationships>
</file>

<file path=ppt/diagrams/_rels/data34.xml.rels><?xml version="1.0" encoding="UTF-8" standalone="yes"?>
<Relationships xmlns="http://schemas.openxmlformats.org/package/2006/relationships"><Relationship Id="rId2" Type="http://schemas.openxmlformats.org/officeDocument/2006/relationships/image" Target="../media/image104.svg"/><Relationship Id="rId1" Type="http://schemas.openxmlformats.org/officeDocument/2006/relationships/image" Target="../media/image103.svg"/></Relationships>
</file>

<file path=ppt/diagrams/_rels/data35.xml.rels><?xml version="1.0" encoding="UTF-8" standalone="yes"?>
<Relationships xmlns="http://schemas.openxmlformats.org/package/2006/relationships"><Relationship Id="rId2" Type="http://schemas.openxmlformats.org/officeDocument/2006/relationships/image" Target="../media/image118.svg"/><Relationship Id="rId1" Type="http://schemas.openxmlformats.org/officeDocument/2006/relationships/image" Target="../media/image1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s>
</file>

<file path=ppt/diagrams/_rels/drawing9.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image" Target="../media/image20.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svg"/><Relationship Id="rId1" Type="http://schemas.openxmlformats.org/officeDocument/2006/relationships/image" Target="../media/image21.svg"/></Relationships>
</file>

<file path=ppt/diagrams/_rels/drawing13.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image" Target="../media/image31.svg"/></Relationships>
</file>

<file path=ppt/diagrams/_rels/drawing15.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image" Target="../media/image35.svg"/></Relationships>
</file>

<file path=ppt/diagrams/_rels/drawing23.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svg"/><Relationship Id="rId1" Type="http://schemas.openxmlformats.org/officeDocument/2006/relationships/image" Target="../media/image48.svg"/></Relationships>
</file>

<file path=ppt/diagrams/_rels/drawing30.xml.rels><?xml version="1.0" encoding="UTF-8" standalone="yes"?>
<Relationships xmlns="http://schemas.openxmlformats.org/package/2006/relationships"><Relationship Id="rId2" Type="http://schemas.openxmlformats.org/officeDocument/2006/relationships/image" Target="../media/image65.svg"/><Relationship Id="rId1" Type="http://schemas.openxmlformats.org/officeDocument/2006/relationships/image" Target="../media/image64.svg"/></Relationships>
</file>

<file path=ppt/diagrams/_rels/drawing33.xml.rels><?xml version="1.0" encoding="UTF-8" standalone="yes"?>
<Relationships xmlns="http://schemas.openxmlformats.org/package/2006/relationships"><Relationship Id="rId2" Type="http://schemas.openxmlformats.org/officeDocument/2006/relationships/image" Target="../media/image76.svg"/><Relationship Id="rId1" Type="http://schemas.openxmlformats.org/officeDocument/2006/relationships/image" Target="../media/image75.svg"/></Relationships>
</file>

<file path=ppt/diagrams/_rels/drawing34.xml.rels><?xml version="1.0" encoding="UTF-8" standalone="yes"?>
<Relationships xmlns="http://schemas.openxmlformats.org/package/2006/relationships"><Relationship Id="rId2" Type="http://schemas.openxmlformats.org/officeDocument/2006/relationships/image" Target="../media/image104.svg"/><Relationship Id="rId1" Type="http://schemas.openxmlformats.org/officeDocument/2006/relationships/image" Target="../media/image103.svg"/></Relationships>
</file>

<file path=ppt/diagrams/_rels/drawing35.xml.rels><?xml version="1.0" encoding="UTF-8" standalone="yes"?>
<Relationships xmlns="http://schemas.openxmlformats.org/package/2006/relationships"><Relationship Id="rId2" Type="http://schemas.openxmlformats.org/officeDocument/2006/relationships/image" Target="../media/image118.svg"/><Relationship Id="rId1" Type="http://schemas.openxmlformats.org/officeDocument/2006/relationships/image" Target="../media/image11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6C61AE02-75E1-46C7-8D73-C186E12620C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0B8B56B-600C-434C-B8E6-952AB6E5A32F}">
      <dgm:prSet/>
      <dgm:spPr/>
      <dgm:t>
        <a:bodyPr/>
        <a:lstStyle/>
        <a:p>
          <a:pPr>
            <a:lnSpc>
              <a:spcPct val="100000"/>
            </a:lnSpc>
          </a:pPr>
          <a:r>
            <a:rPr lang="en-US"/>
            <a:t>Open the </a:t>
          </a:r>
          <a:r>
            <a:rPr lang="en-US" b="1"/>
            <a:t>Settings and Actions</a:t>
          </a:r>
          <a:r>
            <a:rPr lang="en-US"/>
            <a:t> menu from the user avatar on the Oracle Fusion home page.</a:t>
          </a:r>
        </a:p>
      </dgm:t>
    </dgm:pt>
    <dgm:pt modelId="{1BF835CD-DDA8-41B1-B625-B1485D19D9EE}" type="parTrans" cxnId="{4F51A6C1-9783-421A-87C6-185735B417C8}">
      <dgm:prSet/>
      <dgm:spPr/>
      <dgm:t>
        <a:bodyPr/>
        <a:lstStyle/>
        <a:p>
          <a:endParaRPr lang="en-US"/>
        </a:p>
      </dgm:t>
    </dgm:pt>
    <dgm:pt modelId="{01A245EF-7623-4335-A032-3B0DE59B8746}" type="sibTrans" cxnId="{4F51A6C1-9783-421A-87C6-185735B417C8}">
      <dgm:prSet/>
      <dgm:spPr/>
      <dgm:t>
        <a:bodyPr/>
        <a:lstStyle/>
        <a:p>
          <a:endParaRPr lang="en-US"/>
        </a:p>
      </dgm:t>
    </dgm:pt>
    <dgm:pt modelId="{6518DC0A-A933-44C8-901C-1780099F36F1}">
      <dgm:prSet/>
      <dgm:spPr/>
      <dgm:t>
        <a:bodyPr/>
        <a:lstStyle/>
        <a:p>
          <a:pPr>
            <a:lnSpc>
              <a:spcPct val="100000"/>
            </a:lnSpc>
          </a:pPr>
          <a:r>
            <a:rPr lang="en-US"/>
            <a:t>Select </a:t>
          </a:r>
          <a:r>
            <a:rPr lang="en-US" b="1"/>
            <a:t>Setup and Maintenance</a:t>
          </a:r>
          <a:r>
            <a:rPr lang="en-US"/>
            <a:t> to launch the Functional Setup Manager.</a:t>
          </a:r>
        </a:p>
      </dgm:t>
    </dgm:pt>
    <dgm:pt modelId="{FA6FCF9D-7F90-4647-B51E-9A5C4212D2AF}" type="parTrans" cxnId="{F314EB00-4110-4A94-B958-0FCFB9403548}">
      <dgm:prSet/>
      <dgm:spPr/>
      <dgm:t>
        <a:bodyPr/>
        <a:lstStyle/>
        <a:p>
          <a:endParaRPr lang="en-US"/>
        </a:p>
      </dgm:t>
    </dgm:pt>
    <dgm:pt modelId="{1014C1C7-01F3-49D3-BE1A-719D2F28E7EF}" type="sibTrans" cxnId="{F314EB00-4110-4A94-B958-0FCFB9403548}">
      <dgm:prSet/>
      <dgm:spPr/>
      <dgm:t>
        <a:bodyPr/>
        <a:lstStyle/>
        <a:p>
          <a:endParaRPr lang="en-US"/>
        </a:p>
      </dgm:t>
    </dgm:pt>
    <dgm:pt modelId="{A05FBCF6-F301-46BA-A3D4-A885E9904735}">
      <dgm:prSet/>
      <dgm:spPr/>
      <dgm:t>
        <a:bodyPr/>
        <a:lstStyle/>
        <a:p>
          <a:pPr>
            <a:lnSpc>
              <a:spcPct val="100000"/>
            </a:lnSpc>
          </a:pPr>
          <a:r>
            <a:rPr lang="en-US"/>
            <a:t>A setup role (for example, Application Implementation Consultant) is required to see this option</a:t>
          </a:r>
        </a:p>
      </dgm:t>
    </dgm:pt>
    <dgm:pt modelId="{54866340-1DF5-433E-8CBB-9D2D38C14883}" type="parTrans" cxnId="{4C6E7602-23D4-4563-95B2-221EAFD68ADA}">
      <dgm:prSet/>
      <dgm:spPr/>
      <dgm:t>
        <a:bodyPr/>
        <a:lstStyle/>
        <a:p>
          <a:endParaRPr lang="en-US"/>
        </a:p>
      </dgm:t>
    </dgm:pt>
    <dgm:pt modelId="{0F07AB40-A977-4E80-A0A1-6494D060AE10}" type="sibTrans" cxnId="{4C6E7602-23D4-4563-95B2-221EAFD68ADA}">
      <dgm:prSet/>
      <dgm:spPr/>
      <dgm:t>
        <a:bodyPr/>
        <a:lstStyle/>
        <a:p>
          <a:endParaRPr lang="en-US"/>
        </a:p>
      </dgm:t>
    </dgm:pt>
    <dgm:pt modelId="{ABB69D08-F4B3-40C9-8D23-00C0AF15C403}" type="pres">
      <dgm:prSet presAssocID="{6C61AE02-75E1-46C7-8D73-C186E12620C1}" presName="root" presStyleCnt="0">
        <dgm:presLayoutVars>
          <dgm:dir/>
          <dgm:resizeHandles val="exact"/>
        </dgm:presLayoutVars>
      </dgm:prSet>
      <dgm:spPr/>
    </dgm:pt>
    <dgm:pt modelId="{DD9D5C61-478B-4DCE-A903-0D89A12BE831}" type="pres">
      <dgm:prSet presAssocID="{B0B8B56B-600C-434C-B8E6-952AB6E5A32F}" presName="compNode" presStyleCnt="0"/>
      <dgm:spPr/>
    </dgm:pt>
    <dgm:pt modelId="{A7325D73-9736-41BA-ABA2-66441319CC15}" type="pres">
      <dgm:prSet presAssocID="{B0B8B56B-600C-434C-B8E6-952AB6E5A32F}" presName="bgRect" presStyleLbl="bgShp" presStyleIdx="0" presStyleCnt="3"/>
      <dgm:spPr/>
    </dgm:pt>
    <dgm:pt modelId="{83699C7E-C4AE-4A78-AF79-51D0D70C8362}" type="pres">
      <dgm:prSet presAssocID="{B0B8B56B-600C-434C-B8E6-952AB6E5A32F}"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Web Design"/>
        </a:ext>
      </dgm:extLst>
    </dgm:pt>
    <dgm:pt modelId="{C18EACC2-55DF-4813-8922-CE20E1771F9C}" type="pres">
      <dgm:prSet presAssocID="{B0B8B56B-600C-434C-B8E6-952AB6E5A32F}" presName="spaceRect" presStyleCnt="0"/>
      <dgm:spPr/>
    </dgm:pt>
    <dgm:pt modelId="{CF211661-5F69-49CB-9046-7F90A1403F90}" type="pres">
      <dgm:prSet presAssocID="{B0B8B56B-600C-434C-B8E6-952AB6E5A32F}" presName="parTx" presStyleLbl="revTx" presStyleIdx="0" presStyleCnt="3">
        <dgm:presLayoutVars>
          <dgm:chMax val="0"/>
          <dgm:chPref val="0"/>
        </dgm:presLayoutVars>
      </dgm:prSet>
      <dgm:spPr/>
    </dgm:pt>
    <dgm:pt modelId="{B2D8C2D1-336C-4F63-9737-53E6A7C7C86C}" type="pres">
      <dgm:prSet presAssocID="{01A245EF-7623-4335-A032-3B0DE59B8746}" presName="sibTrans" presStyleCnt="0"/>
      <dgm:spPr/>
    </dgm:pt>
    <dgm:pt modelId="{A0AAB966-213B-4282-9E2A-7412F2E97A7D}" type="pres">
      <dgm:prSet presAssocID="{6518DC0A-A933-44C8-901C-1780099F36F1}" presName="compNode" presStyleCnt="0"/>
      <dgm:spPr/>
    </dgm:pt>
    <dgm:pt modelId="{82FCD40D-659F-45C8-AB33-5F20756467C7}" type="pres">
      <dgm:prSet presAssocID="{6518DC0A-A933-44C8-901C-1780099F36F1}" presName="bgRect" presStyleLbl="bgShp" presStyleIdx="1" presStyleCnt="3"/>
      <dgm:spPr/>
    </dgm:pt>
    <dgm:pt modelId="{5C296626-E3A8-49F2-82AD-D384FBDECE36}" type="pres">
      <dgm:prSet presAssocID="{6518DC0A-A933-44C8-901C-1780099F36F1}"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783202DC-B871-42DB-9D4D-DC9593F68BCC}" type="pres">
      <dgm:prSet presAssocID="{6518DC0A-A933-44C8-901C-1780099F36F1}" presName="spaceRect" presStyleCnt="0"/>
      <dgm:spPr/>
    </dgm:pt>
    <dgm:pt modelId="{ABCE8C34-1B45-4A98-A067-4F129A930334}" type="pres">
      <dgm:prSet presAssocID="{6518DC0A-A933-44C8-901C-1780099F36F1}" presName="parTx" presStyleLbl="revTx" presStyleIdx="1" presStyleCnt="3">
        <dgm:presLayoutVars>
          <dgm:chMax val="0"/>
          <dgm:chPref val="0"/>
        </dgm:presLayoutVars>
      </dgm:prSet>
      <dgm:spPr/>
    </dgm:pt>
    <dgm:pt modelId="{28B4A2AF-A10F-40AF-8E6B-94A9D509D788}" type="pres">
      <dgm:prSet presAssocID="{1014C1C7-01F3-49D3-BE1A-719D2F28E7EF}" presName="sibTrans" presStyleCnt="0"/>
      <dgm:spPr/>
    </dgm:pt>
    <dgm:pt modelId="{221915B0-2C8A-414F-A521-E8AF76959D74}" type="pres">
      <dgm:prSet presAssocID="{A05FBCF6-F301-46BA-A3D4-A885E9904735}" presName="compNode" presStyleCnt="0"/>
      <dgm:spPr/>
    </dgm:pt>
    <dgm:pt modelId="{1B1893C8-CE93-4F22-A301-C6CA48A1B6D2}" type="pres">
      <dgm:prSet presAssocID="{A05FBCF6-F301-46BA-A3D4-A885E9904735}" presName="bgRect" presStyleLbl="bgShp" presStyleIdx="2" presStyleCnt="3"/>
      <dgm:spPr/>
    </dgm:pt>
    <dgm:pt modelId="{6407FC36-D3D2-4C24-95C4-B3B8A1D14B13}" type="pres">
      <dgm:prSet presAssocID="{A05FBCF6-F301-46BA-A3D4-A885E990473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Hierarchy"/>
        </a:ext>
      </dgm:extLst>
    </dgm:pt>
    <dgm:pt modelId="{5BB4F8B1-3173-456C-A4A1-3771765FABC2}" type="pres">
      <dgm:prSet presAssocID="{A05FBCF6-F301-46BA-A3D4-A885E9904735}" presName="spaceRect" presStyleCnt="0"/>
      <dgm:spPr/>
    </dgm:pt>
    <dgm:pt modelId="{D5486E6C-EB81-4B64-88DE-299D8FFFA518}" type="pres">
      <dgm:prSet presAssocID="{A05FBCF6-F301-46BA-A3D4-A885E9904735}" presName="parTx" presStyleLbl="revTx" presStyleIdx="2" presStyleCnt="3">
        <dgm:presLayoutVars>
          <dgm:chMax val="0"/>
          <dgm:chPref val="0"/>
        </dgm:presLayoutVars>
      </dgm:prSet>
      <dgm:spPr/>
    </dgm:pt>
  </dgm:ptLst>
  <dgm:cxnLst>
    <dgm:cxn modelId="{F314EB00-4110-4A94-B958-0FCFB9403548}" srcId="{6C61AE02-75E1-46C7-8D73-C186E12620C1}" destId="{6518DC0A-A933-44C8-901C-1780099F36F1}" srcOrd="1" destOrd="0" parTransId="{FA6FCF9D-7F90-4647-B51E-9A5C4212D2AF}" sibTransId="{1014C1C7-01F3-49D3-BE1A-719D2F28E7EF}"/>
    <dgm:cxn modelId="{4C6E7602-23D4-4563-95B2-221EAFD68ADA}" srcId="{6C61AE02-75E1-46C7-8D73-C186E12620C1}" destId="{A05FBCF6-F301-46BA-A3D4-A885E9904735}" srcOrd="2" destOrd="0" parTransId="{54866340-1DF5-433E-8CBB-9D2D38C14883}" sibTransId="{0F07AB40-A977-4E80-A0A1-6494D060AE10}"/>
    <dgm:cxn modelId="{0AC2511F-718B-4CB1-B27E-615A104BDB89}" type="presOf" srcId="{A05FBCF6-F301-46BA-A3D4-A885E9904735}" destId="{D5486E6C-EB81-4B64-88DE-299D8FFFA518}" srcOrd="0" destOrd="0" presId="urn:microsoft.com/office/officeart/2018/2/layout/IconVerticalSolidList"/>
    <dgm:cxn modelId="{76904867-B93C-4C90-B455-E4CF68EA4AA5}" type="presOf" srcId="{B0B8B56B-600C-434C-B8E6-952AB6E5A32F}" destId="{CF211661-5F69-49CB-9046-7F90A1403F90}" srcOrd="0" destOrd="0" presId="urn:microsoft.com/office/officeart/2018/2/layout/IconVerticalSolidList"/>
    <dgm:cxn modelId="{DAD27875-5A74-44E1-B4C1-DBAC4522C3A0}" type="presOf" srcId="{6C61AE02-75E1-46C7-8D73-C186E12620C1}" destId="{ABB69D08-F4B3-40C9-8D23-00C0AF15C403}" srcOrd="0" destOrd="0" presId="urn:microsoft.com/office/officeart/2018/2/layout/IconVerticalSolidList"/>
    <dgm:cxn modelId="{FEC2CD80-37B4-4951-B006-CFAFF88D5ADE}" type="presOf" srcId="{6518DC0A-A933-44C8-901C-1780099F36F1}" destId="{ABCE8C34-1B45-4A98-A067-4F129A930334}" srcOrd="0" destOrd="0" presId="urn:microsoft.com/office/officeart/2018/2/layout/IconVerticalSolidList"/>
    <dgm:cxn modelId="{4F51A6C1-9783-421A-87C6-185735B417C8}" srcId="{6C61AE02-75E1-46C7-8D73-C186E12620C1}" destId="{B0B8B56B-600C-434C-B8E6-952AB6E5A32F}" srcOrd="0" destOrd="0" parTransId="{1BF835CD-DDA8-41B1-B625-B1485D19D9EE}" sibTransId="{01A245EF-7623-4335-A032-3B0DE59B8746}"/>
    <dgm:cxn modelId="{E38950FD-E6E3-473D-BF80-313124992B37}" type="presParOf" srcId="{ABB69D08-F4B3-40C9-8D23-00C0AF15C403}" destId="{DD9D5C61-478B-4DCE-A903-0D89A12BE831}" srcOrd="0" destOrd="0" presId="urn:microsoft.com/office/officeart/2018/2/layout/IconVerticalSolidList"/>
    <dgm:cxn modelId="{FEB07CBC-D86F-4424-A105-7012B3A736FE}" type="presParOf" srcId="{DD9D5C61-478B-4DCE-A903-0D89A12BE831}" destId="{A7325D73-9736-41BA-ABA2-66441319CC15}" srcOrd="0" destOrd="0" presId="urn:microsoft.com/office/officeart/2018/2/layout/IconVerticalSolidList"/>
    <dgm:cxn modelId="{F98DE689-AC12-44E6-A47C-8599A17AFBB7}" type="presParOf" srcId="{DD9D5C61-478B-4DCE-A903-0D89A12BE831}" destId="{83699C7E-C4AE-4A78-AF79-51D0D70C8362}" srcOrd="1" destOrd="0" presId="urn:microsoft.com/office/officeart/2018/2/layout/IconVerticalSolidList"/>
    <dgm:cxn modelId="{720E10A3-F7A5-4C10-A534-9E159F6C4B41}" type="presParOf" srcId="{DD9D5C61-478B-4DCE-A903-0D89A12BE831}" destId="{C18EACC2-55DF-4813-8922-CE20E1771F9C}" srcOrd="2" destOrd="0" presId="urn:microsoft.com/office/officeart/2018/2/layout/IconVerticalSolidList"/>
    <dgm:cxn modelId="{F9E00312-7C76-43F8-A8C2-F7C61528507E}" type="presParOf" srcId="{DD9D5C61-478B-4DCE-A903-0D89A12BE831}" destId="{CF211661-5F69-49CB-9046-7F90A1403F90}" srcOrd="3" destOrd="0" presId="urn:microsoft.com/office/officeart/2018/2/layout/IconVerticalSolidList"/>
    <dgm:cxn modelId="{F7D2C543-28D7-4F34-8752-B707130FE5CB}" type="presParOf" srcId="{ABB69D08-F4B3-40C9-8D23-00C0AF15C403}" destId="{B2D8C2D1-336C-4F63-9737-53E6A7C7C86C}" srcOrd="1" destOrd="0" presId="urn:microsoft.com/office/officeart/2018/2/layout/IconVerticalSolidList"/>
    <dgm:cxn modelId="{019B917C-50B5-4430-B6E7-67CF3D20FB5C}" type="presParOf" srcId="{ABB69D08-F4B3-40C9-8D23-00C0AF15C403}" destId="{A0AAB966-213B-4282-9E2A-7412F2E97A7D}" srcOrd="2" destOrd="0" presId="urn:microsoft.com/office/officeart/2018/2/layout/IconVerticalSolidList"/>
    <dgm:cxn modelId="{9DFB59E5-A524-46AB-9F4C-4484C64CE081}" type="presParOf" srcId="{A0AAB966-213B-4282-9E2A-7412F2E97A7D}" destId="{82FCD40D-659F-45C8-AB33-5F20756467C7}" srcOrd="0" destOrd="0" presId="urn:microsoft.com/office/officeart/2018/2/layout/IconVerticalSolidList"/>
    <dgm:cxn modelId="{82044881-C338-4FC6-9C92-2D7EDB652D34}" type="presParOf" srcId="{A0AAB966-213B-4282-9E2A-7412F2E97A7D}" destId="{5C296626-E3A8-49F2-82AD-D384FBDECE36}" srcOrd="1" destOrd="0" presId="urn:microsoft.com/office/officeart/2018/2/layout/IconVerticalSolidList"/>
    <dgm:cxn modelId="{33E5CF9E-B9E4-4B19-8B00-425EB7D50D5D}" type="presParOf" srcId="{A0AAB966-213B-4282-9E2A-7412F2E97A7D}" destId="{783202DC-B871-42DB-9D4D-DC9593F68BCC}" srcOrd="2" destOrd="0" presId="urn:microsoft.com/office/officeart/2018/2/layout/IconVerticalSolidList"/>
    <dgm:cxn modelId="{421C61AF-6035-45B8-80D5-93CCEB1CD8D7}" type="presParOf" srcId="{A0AAB966-213B-4282-9E2A-7412F2E97A7D}" destId="{ABCE8C34-1B45-4A98-A067-4F129A930334}" srcOrd="3" destOrd="0" presId="urn:microsoft.com/office/officeart/2018/2/layout/IconVerticalSolidList"/>
    <dgm:cxn modelId="{53BE89C1-BD3F-40AA-96B4-A29265427948}" type="presParOf" srcId="{ABB69D08-F4B3-40C9-8D23-00C0AF15C403}" destId="{28B4A2AF-A10F-40AF-8E6B-94A9D509D788}" srcOrd="3" destOrd="0" presId="urn:microsoft.com/office/officeart/2018/2/layout/IconVerticalSolidList"/>
    <dgm:cxn modelId="{7AA5235B-1683-4B7B-87A5-8C8A30BEBAA8}" type="presParOf" srcId="{ABB69D08-F4B3-40C9-8D23-00C0AF15C403}" destId="{221915B0-2C8A-414F-A521-E8AF76959D74}" srcOrd="4" destOrd="0" presId="urn:microsoft.com/office/officeart/2018/2/layout/IconVerticalSolidList"/>
    <dgm:cxn modelId="{6BE9434E-0327-450E-93E3-8C5CE3D41CEB}" type="presParOf" srcId="{221915B0-2C8A-414F-A521-E8AF76959D74}" destId="{1B1893C8-CE93-4F22-A301-C6CA48A1B6D2}" srcOrd="0" destOrd="0" presId="urn:microsoft.com/office/officeart/2018/2/layout/IconVerticalSolidList"/>
    <dgm:cxn modelId="{8141875D-4413-4F1B-B095-D55CFCA39CCE}" type="presParOf" srcId="{221915B0-2C8A-414F-A521-E8AF76959D74}" destId="{6407FC36-D3D2-4C24-95C4-B3B8A1D14B13}" srcOrd="1" destOrd="0" presId="urn:microsoft.com/office/officeart/2018/2/layout/IconVerticalSolidList"/>
    <dgm:cxn modelId="{7B8069C6-200E-4B18-9054-89FD4FBBE2CF}" type="presParOf" srcId="{221915B0-2C8A-414F-A521-E8AF76959D74}" destId="{5BB4F8B1-3173-456C-A4A1-3771765FABC2}" srcOrd="2" destOrd="0" presId="urn:microsoft.com/office/officeart/2018/2/layout/IconVerticalSolidList"/>
    <dgm:cxn modelId="{792928D1-85F7-4B68-8D5E-177CE11274E9}" type="presParOf" srcId="{221915B0-2C8A-414F-A521-E8AF76959D74}" destId="{D5486E6C-EB81-4B64-88DE-299D8FFFA51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0F4789-3DB7-4346-8B65-3E8064ADF531}"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72F86386-881C-4053-952E-D34BB1CF0E87}">
      <dgm:prSet/>
      <dgm:spPr/>
      <dgm:t>
        <a:bodyPr/>
        <a:lstStyle/>
        <a:p>
          <a:r>
            <a:rPr lang="en-US"/>
            <a:t>In the </a:t>
          </a:r>
          <a:r>
            <a:rPr lang="en-US" b="1"/>
            <a:t>Setup: Financials</a:t>
          </a:r>
          <a:r>
            <a:rPr lang="en-US"/>
            <a:t> offering, select the </a:t>
          </a:r>
          <a:r>
            <a:rPr lang="en-US" b="1"/>
            <a:t>General Ledger</a:t>
          </a:r>
          <a:r>
            <a:rPr lang="en-US"/>
            <a:t> functional area from the left panel.</a:t>
          </a:r>
        </a:p>
      </dgm:t>
    </dgm:pt>
    <dgm:pt modelId="{16DE28D8-C1B5-43F3-823A-A1DF70A6A2B9}" type="parTrans" cxnId="{33DCDFCD-5A28-44C3-9803-27D9B345A38E}">
      <dgm:prSet/>
      <dgm:spPr/>
      <dgm:t>
        <a:bodyPr/>
        <a:lstStyle/>
        <a:p>
          <a:endParaRPr lang="en-US"/>
        </a:p>
      </dgm:t>
    </dgm:pt>
    <dgm:pt modelId="{3F2688F2-1495-4469-A5F5-C66DB2EA2EE9}" type="sibTrans" cxnId="{33DCDFCD-5A28-44C3-9803-27D9B345A38E}">
      <dgm:prSet/>
      <dgm:spPr/>
      <dgm:t>
        <a:bodyPr/>
        <a:lstStyle/>
        <a:p>
          <a:endParaRPr lang="en-US"/>
        </a:p>
      </dgm:t>
    </dgm:pt>
    <dgm:pt modelId="{8BF9399B-97F3-4379-9BD8-D9FE93AAD9C9}">
      <dgm:prSet/>
      <dgm:spPr/>
      <dgm:t>
        <a:bodyPr/>
        <a:lstStyle/>
        <a:p>
          <a:r>
            <a:rPr lang="en-US"/>
            <a:t>The default </a:t>
          </a:r>
          <a:r>
            <a:rPr lang="en-US" b="1"/>
            <a:t>Required Tasks</a:t>
          </a:r>
          <a:r>
            <a:rPr lang="en-US"/>
            <a:t> filter shows only mandatory tasks.</a:t>
          </a:r>
        </a:p>
      </dgm:t>
    </dgm:pt>
    <dgm:pt modelId="{D63305FA-622F-4399-9F37-FB5C79228A1A}" type="parTrans" cxnId="{EEA3FD6B-846E-474D-9FF6-A648EFF88F8D}">
      <dgm:prSet/>
      <dgm:spPr/>
      <dgm:t>
        <a:bodyPr/>
        <a:lstStyle/>
        <a:p>
          <a:endParaRPr lang="en-US"/>
        </a:p>
      </dgm:t>
    </dgm:pt>
    <dgm:pt modelId="{F78DC5E5-43CB-433C-B362-5647CDB4AC0E}" type="sibTrans" cxnId="{EEA3FD6B-846E-474D-9FF6-A648EFF88F8D}">
      <dgm:prSet/>
      <dgm:spPr/>
      <dgm:t>
        <a:bodyPr/>
        <a:lstStyle/>
        <a:p>
          <a:endParaRPr lang="en-US"/>
        </a:p>
      </dgm:t>
    </dgm:pt>
    <dgm:pt modelId="{5BB52C6E-D75D-4EBF-8DF2-E425F16564EB}">
      <dgm:prSet/>
      <dgm:spPr/>
      <dgm:t>
        <a:bodyPr/>
        <a:lstStyle/>
        <a:p>
          <a:r>
            <a:rPr lang="en-US"/>
            <a:t>Switch the </a:t>
          </a:r>
          <a:r>
            <a:rPr lang="en-US" b="1"/>
            <a:t>Show</a:t>
          </a:r>
          <a:r>
            <a:rPr lang="en-US"/>
            <a:t> filter to </a:t>
          </a:r>
          <a:r>
            <a:rPr lang="en-US" b="1"/>
            <a:t>All Tasks</a:t>
          </a:r>
          <a:r>
            <a:rPr lang="en-US"/>
            <a:t> to display the complete list of GL setup tasks.</a:t>
          </a:r>
        </a:p>
      </dgm:t>
    </dgm:pt>
    <dgm:pt modelId="{1F09800B-9B9F-43C4-B9B6-4F5C9AEBDF17}" type="parTrans" cxnId="{52CEF02B-14AB-4C07-8811-6FCA02D34114}">
      <dgm:prSet/>
      <dgm:spPr/>
      <dgm:t>
        <a:bodyPr/>
        <a:lstStyle/>
        <a:p>
          <a:endParaRPr lang="en-US"/>
        </a:p>
      </dgm:t>
    </dgm:pt>
    <dgm:pt modelId="{C70E33F3-F502-4F1D-8E71-1AD2F5FE5F79}" type="sibTrans" cxnId="{52CEF02B-14AB-4C07-8811-6FCA02D34114}">
      <dgm:prSet/>
      <dgm:spPr/>
      <dgm:t>
        <a:bodyPr/>
        <a:lstStyle/>
        <a:p>
          <a:endParaRPr lang="en-US"/>
        </a:p>
      </dgm:t>
    </dgm:pt>
    <dgm:pt modelId="{1C951F74-E1DE-4DC1-83FF-95BB75E4D1C8}" type="pres">
      <dgm:prSet presAssocID="{F60F4789-3DB7-4346-8B65-3E8064ADF531}" presName="hierChild1" presStyleCnt="0">
        <dgm:presLayoutVars>
          <dgm:chPref val="1"/>
          <dgm:dir/>
          <dgm:animOne val="branch"/>
          <dgm:animLvl val="lvl"/>
          <dgm:resizeHandles/>
        </dgm:presLayoutVars>
      </dgm:prSet>
      <dgm:spPr/>
    </dgm:pt>
    <dgm:pt modelId="{0521832D-A1FD-4DBA-A9BF-5A2BFCC0A254}" type="pres">
      <dgm:prSet presAssocID="{72F86386-881C-4053-952E-D34BB1CF0E87}" presName="hierRoot1" presStyleCnt="0"/>
      <dgm:spPr/>
    </dgm:pt>
    <dgm:pt modelId="{66CDFD7F-5628-4A0C-9229-352FD82D3A45}" type="pres">
      <dgm:prSet presAssocID="{72F86386-881C-4053-952E-D34BB1CF0E87}" presName="composite" presStyleCnt="0"/>
      <dgm:spPr/>
    </dgm:pt>
    <dgm:pt modelId="{2EA620F2-2D7D-457F-9A6D-6F618B9A6159}" type="pres">
      <dgm:prSet presAssocID="{72F86386-881C-4053-952E-D34BB1CF0E87}" presName="background" presStyleLbl="node0" presStyleIdx="0" presStyleCnt="3"/>
      <dgm:spPr/>
    </dgm:pt>
    <dgm:pt modelId="{C057EB90-E469-4AB9-A287-EBFFF5BF94E5}" type="pres">
      <dgm:prSet presAssocID="{72F86386-881C-4053-952E-D34BB1CF0E87}" presName="text" presStyleLbl="fgAcc0" presStyleIdx="0" presStyleCnt="3">
        <dgm:presLayoutVars>
          <dgm:chPref val="3"/>
        </dgm:presLayoutVars>
      </dgm:prSet>
      <dgm:spPr/>
    </dgm:pt>
    <dgm:pt modelId="{1C8B01BE-C500-497C-ABC8-4FA20B49796D}" type="pres">
      <dgm:prSet presAssocID="{72F86386-881C-4053-952E-D34BB1CF0E87}" presName="hierChild2" presStyleCnt="0"/>
      <dgm:spPr/>
    </dgm:pt>
    <dgm:pt modelId="{5C08B414-FD37-4610-AF75-356E5341BBCB}" type="pres">
      <dgm:prSet presAssocID="{8BF9399B-97F3-4379-9BD8-D9FE93AAD9C9}" presName="hierRoot1" presStyleCnt="0"/>
      <dgm:spPr/>
    </dgm:pt>
    <dgm:pt modelId="{47786F7F-F588-4BBC-81EC-B282B7EB3E8E}" type="pres">
      <dgm:prSet presAssocID="{8BF9399B-97F3-4379-9BD8-D9FE93AAD9C9}" presName="composite" presStyleCnt="0"/>
      <dgm:spPr/>
    </dgm:pt>
    <dgm:pt modelId="{3C9F6573-6AF4-4F59-832F-4A402B97E015}" type="pres">
      <dgm:prSet presAssocID="{8BF9399B-97F3-4379-9BD8-D9FE93AAD9C9}" presName="background" presStyleLbl="node0" presStyleIdx="1" presStyleCnt="3"/>
      <dgm:spPr/>
    </dgm:pt>
    <dgm:pt modelId="{B7F8447A-136F-44D6-82FF-D407D9D46463}" type="pres">
      <dgm:prSet presAssocID="{8BF9399B-97F3-4379-9BD8-D9FE93AAD9C9}" presName="text" presStyleLbl="fgAcc0" presStyleIdx="1" presStyleCnt="3">
        <dgm:presLayoutVars>
          <dgm:chPref val="3"/>
        </dgm:presLayoutVars>
      </dgm:prSet>
      <dgm:spPr/>
    </dgm:pt>
    <dgm:pt modelId="{113B3BB3-6739-4B13-8708-30E8C650E519}" type="pres">
      <dgm:prSet presAssocID="{8BF9399B-97F3-4379-9BD8-D9FE93AAD9C9}" presName="hierChild2" presStyleCnt="0"/>
      <dgm:spPr/>
    </dgm:pt>
    <dgm:pt modelId="{D5511078-37B2-400D-A5C2-03CD2CBEAC79}" type="pres">
      <dgm:prSet presAssocID="{5BB52C6E-D75D-4EBF-8DF2-E425F16564EB}" presName="hierRoot1" presStyleCnt="0"/>
      <dgm:spPr/>
    </dgm:pt>
    <dgm:pt modelId="{D55C770A-8905-4A45-84EB-AC288E8C16AF}" type="pres">
      <dgm:prSet presAssocID="{5BB52C6E-D75D-4EBF-8DF2-E425F16564EB}" presName="composite" presStyleCnt="0"/>
      <dgm:spPr/>
    </dgm:pt>
    <dgm:pt modelId="{05B9BDD8-A66E-4F79-A1DA-97889B34B358}" type="pres">
      <dgm:prSet presAssocID="{5BB52C6E-D75D-4EBF-8DF2-E425F16564EB}" presName="background" presStyleLbl="node0" presStyleIdx="2" presStyleCnt="3"/>
      <dgm:spPr/>
    </dgm:pt>
    <dgm:pt modelId="{7FCED099-5522-41DD-9BF7-81B5026E438F}" type="pres">
      <dgm:prSet presAssocID="{5BB52C6E-D75D-4EBF-8DF2-E425F16564EB}" presName="text" presStyleLbl="fgAcc0" presStyleIdx="2" presStyleCnt="3">
        <dgm:presLayoutVars>
          <dgm:chPref val="3"/>
        </dgm:presLayoutVars>
      </dgm:prSet>
      <dgm:spPr/>
    </dgm:pt>
    <dgm:pt modelId="{5DA50511-339F-4D4C-B1D4-235BD60345D8}" type="pres">
      <dgm:prSet presAssocID="{5BB52C6E-D75D-4EBF-8DF2-E425F16564EB}" presName="hierChild2" presStyleCnt="0"/>
      <dgm:spPr/>
    </dgm:pt>
  </dgm:ptLst>
  <dgm:cxnLst>
    <dgm:cxn modelId="{052CFC14-925C-4B1F-874B-B3E5E5F4104B}" type="presOf" srcId="{F60F4789-3DB7-4346-8B65-3E8064ADF531}" destId="{1C951F74-E1DE-4DC1-83FF-95BB75E4D1C8}" srcOrd="0" destOrd="0" presId="urn:microsoft.com/office/officeart/2005/8/layout/hierarchy1"/>
    <dgm:cxn modelId="{52CEF02B-14AB-4C07-8811-6FCA02D34114}" srcId="{F60F4789-3DB7-4346-8B65-3E8064ADF531}" destId="{5BB52C6E-D75D-4EBF-8DF2-E425F16564EB}" srcOrd="2" destOrd="0" parTransId="{1F09800B-9B9F-43C4-B9B6-4F5C9AEBDF17}" sibTransId="{C70E33F3-F502-4F1D-8E71-1AD2F5FE5F79}"/>
    <dgm:cxn modelId="{AAF92B6A-BEE1-4330-A87E-40E467C13E34}" type="presOf" srcId="{72F86386-881C-4053-952E-D34BB1CF0E87}" destId="{C057EB90-E469-4AB9-A287-EBFFF5BF94E5}" srcOrd="0" destOrd="0" presId="urn:microsoft.com/office/officeart/2005/8/layout/hierarchy1"/>
    <dgm:cxn modelId="{EEA3FD6B-846E-474D-9FF6-A648EFF88F8D}" srcId="{F60F4789-3DB7-4346-8B65-3E8064ADF531}" destId="{8BF9399B-97F3-4379-9BD8-D9FE93AAD9C9}" srcOrd="1" destOrd="0" parTransId="{D63305FA-622F-4399-9F37-FB5C79228A1A}" sibTransId="{F78DC5E5-43CB-433C-B362-5647CDB4AC0E}"/>
    <dgm:cxn modelId="{9DC2617F-1843-4FB7-9CCF-0B27838B5702}" type="presOf" srcId="{8BF9399B-97F3-4379-9BD8-D9FE93AAD9C9}" destId="{B7F8447A-136F-44D6-82FF-D407D9D46463}" srcOrd="0" destOrd="0" presId="urn:microsoft.com/office/officeart/2005/8/layout/hierarchy1"/>
    <dgm:cxn modelId="{E8887F81-F5CC-4F33-B958-33FE31D3FB80}" type="presOf" srcId="{5BB52C6E-D75D-4EBF-8DF2-E425F16564EB}" destId="{7FCED099-5522-41DD-9BF7-81B5026E438F}" srcOrd="0" destOrd="0" presId="urn:microsoft.com/office/officeart/2005/8/layout/hierarchy1"/>
    <dgm:cxn modelId="{33DCDFCD-5A28-44C3-9803-27D9B345A38E}" srcId="{F60F4789-3DB7-4346-8B65-3E8064ADF531}" destId="{72F86386-881C-4053-952E-D34BB1CF0E87}" srcOrd="0" destOrd="0" parTransId="{16DE28D8-C1B5-43F3-823A-A1DF70A6A2B9}" sibTransId="{3F2688F2-1495-4469-A5F5-C66DB2EA2EE9}"/>
    <dgm:cxn modelId="{B1E2D085-AFDC-49AE-8F56-4617DC3F9AFD}" type="presParOf" srcId="{1C951F74-E1DE-4DC1-83FF-95BB75E4D1C8}" destId="{0521832D-A1FD-4DBA-A9BF-5A2BFCC0A254}" srcOrd="0" destOrd="0" presId="urn:microsoft.com/office/officeart/2005/8/layout/hierarchy1"/>
    <dgm:cxn modelId="{05953E2D-210F-4A3A-BF7F-64164442C07A}" type="presParOf" srcId="{0521832D-A1FD-4DBA-A9BF-5A2BFCC0A254}" destId="{66CDFD7F-5628-4A0C-9229-352FD82D3A45}" srcOrd="0" destOrd="0" presId="urn:microsoft.com/office/officeart/2005/8/layout/hierarchy1"/>
    <dgm:cxn modelId="{B9E55378-D5A0-4C54-B510-4071DF80AC86}" type="presParOf" srcId="{66CDFD7F-5628-4A0C-9229-352FD82D3A45}" destId="{2EA620F2-2D7D-457F-9A6D-6F618B9A6159}" srcOrd="0" destOrd="0" presId="urn:microsoft.com/office/officeart/2005/8/layout/hierarchy1"/>
    <dgm:cxn modelId="{24B1DD76-D119-4B3D-A326-3CB4FC6C5B07}" type="presParOf" srcId="{66CDFD7F-5628-4A0C-9229-352FD82D3A45}" destId="{C057EB90-E469-4AB9-A287-EBFFF5BF94E5}" srcOrd="1" destOrd="0" presId="urn:microsoft.com/office/officeart/2005/8/layout/hierarchy1"/>
    <dgm:cxn modelId="{E9933145-F489-4593-A652-80F89188BCCC}" type="presParOf" srcId="{0521832D-A1FD-4DBA-A9BF-5A2BFCC0A254}" destId="{1C8B01BE-C500-497C-ABC8-4FA20B49796D}" srcOrd="1" destOrd="0" presId="urn:microsoft.com/office/officeart/2005/8/layout/hierarchy1"/>
    <dgm:cxn modelId="{D467F79C-3437-4D84-BE93-8699E61B400A}" type="presParOf" srcId="{1C951F74-E1DE-4DC1-83FF-95BB75E4D1C8}" destId="{5C08B414-FD37-4610-AF75-356E5341BBCB}" srcOrd="1" destOrd="0" presId="urn:microsoft.com/office/officeart/2005/8/layout/hierarchy1"/>
    <dgm:cxn modelId="{463373EA-7433-4755-845C-3F9BC9AA3B3B}" type="presParOf" srcId="{5C08B414-FD37-4610-AF75-356E5341BBCB}" destId="{47786F7F-F588-4BBC-81EC-B282B7EB3E8E}" srcOrd="0" destOrd="0" presId="urn:microsoft.com/office/officeart/2005/8/layout/hierarchy1"/>
    <dgm:cxn modelId="{DB470A6D-9710-4968-9DA4-0C30C422561F}" type="presParOf" srcId="{47786F7F-F588-4BBC-81EC-B282B7EB3E8E}" destId="{3C9F6573-6AF4-4F59-832F-4A402B97E015}" srcOrd="0" destOrd="0" presId="urn:microsoft.com/office/officeart/2005/8/layout/hierarchy1"/>
    <dgm:cxn modelId="{2CCEC38E-E6A7-439D-B88F-EE4E53F834C4}" type="presParOf" srcId="{47786F7F-F588-4BBC-81EC-B282B7EB3E8E}" destId="{B7F8447A-136F-44D6-82FF-D407D9D46463}" srcOrd="1" destOrd="0" presId="urn:microsoft.com/office/officeart/2005/8/layout/hierarchy1"/>
    <dgm:cxn modelId="{5981C078-22B0-440E-9FC4-0B20806CE999}" type="presParOf" srcId="{5C08B414-FD37-4610-AF75-356E5341BBCB}" destId="{113B3BB3-6739-4B13-8708-30E8C650E519}" srcOrd="1" destOrd="0" presId="urn:microsoft.com/office/officeart/2005/8/layout/hierarchy1"/>
    <dgm:cxn modelId="{7AE668D3-92A3-490C-B153-0C47E3A4BFEB}" type="presParOf" srcId="{1C951F74-E1DE-4DC1-83FF-95BB75E4D1C8}" destId="{D5511078-37B2-400D-A5C2-03CD2CBEAC79}" srcOrd="2" destOrd="0" presId="urn:microsoft.com/office/officeart/2005/8/layout/hierarchy1"/>
    <dgm:cxn modelId="{092E7C98-A065-43D4-BBCE-EA7A1FCF5914}" type="presParOf" srcId="{D5511078-37B2-400D-A5C2-03CD2CBEAC79}" destId="{D55C770A-8905-4A45-84EB-AC288E8C16AF}" srcOrd="0" destOrd="0" presId="urn:microsoft.com/office/officeart/2005/8/layout/hierarchy1"/>
    <dgm:cxn modelId="{AC8D599E-2D1E-47C0-92C7-E1C049F55D1B}" type="presParOf" srcId="{D55C770A-8905-4A45-84EB-AC288E8C16AF}" destId="{05B9BDD8-A66E-4F79-A1DA-97889B34B358}" srcOrd="0" destOrd="0" presId="urn:microsoft.com/office/officeart/2005/8/layout/hierarchy1"/>
    <dgm:cxn modelId="{690833E7-28B3-4A3D-8414-BFFFE220CA1A}" type="presParOf" srcId="{D55C770A-8905-4A45-84EB-AC288E8C16AF}" destId="{7FCED099-5522-41DD-9BF7-81B5026E438F}" srcOrd="1" destOrd="0" presId="urn:microsoft.com/office/officeart/2005/8/layout/hierarchy1"/>
    <dgm:cxn modelId="{9EB97553-5E05-4038-932B-A4FF5201962C}" type="presParOf" srcId="{D5511078-37B2-400D-A5C2-03CD2CBEAC79}" destId="{5DA50511-339F-4D4C-B1D4-235BD60345D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2C8134B-E444-49E5-B563-8A140ADA74BE}"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A43019E6-9ED6-4C7E-9091-A43BF018AEBF}">
      <dgm:prSet/>
      <dgm:spPr/>
      <dgm:t>
        <a:bodyPr/>
        <a:lstStyle/>
        <a:p>
          <a:r>
            <a:rPr lang="en-US"/>
            <a:t>With </a:t>
          </a:r>
          <a:r>
            <a:rPr lang="en-US" b="1"/>
            <a:t>All Tasks</a:t>
          </a:r>
          <a:r>
            <a:rPr lang="en-US"/>
            <a:t> displayed, scroll the task list to the journal configuration tasks.</a:t>
          </a:r>
        </a:p>
      </dgm:t>
    </dgm:pt>
    <dgm:pt modelId="{76393A16-8600-44CC-87F3-231073E20777}" type="parTrans" cxnId="{0164A623-7943-49BE-B8C7-3503A9C621C7}">
      <dgm:prSet/>
      <dgm:spPr/>
      <dgm:t>
        <a:bodyPr/>
        <a:lstStyle/>
        <a:p>
          <a:endParaRPr lang="en-US"/>
        </a:p>
      </dgm:t>
    </dgm:pt>
    <dgm:pt modelId="{A259241A-B60B-4916-A18E-4D3692FA7FA2}" type="sibTrans" cxnId="{0164A623-7943-49BE-B8C7-3503A9C621C7}">
      <dgm:prSet/>
      <dgm:spPr/>
      <dgm:t>
        <a:bodyPr/>
        <a:lstStyle/>
        <a:p>
          <a:endParaRPr lang="en-US"/>
        </a:p>
      </dgm:t>
    </dgm:pt>
    <dgm:pt modelId="{E97F8D57-F958-4D96-8B0C-06DDE55FA7A5}">
      <dgm:prSet/>
      <dgm:spPr/>
      <dgm:t>
        <a:bodyPr/>
        <a:lstStyle/>
        <a:p>
          <a:r>
            <a:rPr lang="en-US"/>
            <a:t>Select </a:t>
          </a:r>
          <a:r>
            <a:rPr lang="en-US" b="1"/>
            <a:t>Manage Journal Categories</a:t>
          </a:r>
          <a:r>
            <a:rPr lang="en-US"/>
            <a:t>, located next to Manage Journal Sources and Manage Journal Approval Rules.</a:t>
          </a:r>
        </a:p>
      </dgm:t>
    </dgm:pt>
    <dgm:pt modelId="{4A626F12-DC55-4918-8E45-0D56585DF815}" type="parTrans" cxnId="{9E26C93E-7B7E-4120-AE71-58DDA07CEB67}">
      <dgm:prSet/>
      <dgm:spPr/>
      <dgm:t>
        <a:bodyPr/>
        <a:lstStyle/>
        <a:p>
          <a:endParaRPr lang="en-US"/>
        </a:p>
      </dgm:t>
    </dgm:pt>
    <dgm:pt modelId="{4480EE7B-9F07-4FFF-B267-E0BEC3852AB1}" type="sibTrans" cxnId="{9E26C93E-7B7E-4120-AE71-58DDA07CEB67}">
      <dgm:prSet/>
      <dgm:spPr/>
      <dgm:t>
        <a:bodyPr/>
        <a:lstStyle/>
        <a:p>
          <a:endParaRPr lang="en-US"/>
        </a:p>
      </dgm:t>
    </dgm:pt>
    <dgm:pt modelId="{13F394A4-63B5-4961-B7E3-0F2E99138AD5}" type="pres">
      <dgm:prSet presAssocID="{82C8134B-E444-49E5-B563-8A140ADA74BE}" presName="hierChild1" presStyleCnt="0">
        <dgm:presLayoutVars>
          <dgm:chPref val="1"/>
          <dgm:dir/>
          <dgm:animOne val="branch"/>
          <dgm:animLvl val="lvl"/>
          <dgm:resizeHandles/>
        </dgm:presLayoutVars>
      </dgm:prSet>
      <dgm:spPr/>
    </dgm:pt>
    <dgm:pt modelId="{7B132D17-1982-4532-8092-D23549AAC77A}" type="pres">
      <dgm:prSet presAssocID="{A43019E6-9ED6-4C7E-9091-A43BF018AEBF}" presName="hierRoot1" presStyleCnt="0"/>
      <dgm:spPr/>
    </dgm:pt>
    <dgm:pt modelId="{ED9C5C90-0AB2-4A4C-914B-B3E79FEE8015}" type="pres">
      <dgm:prSet presAssocID="{A43019E6-9ED6-4C7E-9091-A43BF018AEBF}" presName="composite" presStyleCnt="0"/>
      <dgm:spPr/>
    </dgm:pt>
    <dgm:pt modelId="{22ACEBCA-5AEC-4072-B587-47FF0F961C57}" type="pres">
      <dgm:prSet presAssocID="{A43019E6-9ED6-4C7E-9091-A43BF018AEBF}" presName="background" presStyleLbl="node0" presStyleIdx="0" presStyleCnt="2"/>
      <dgm:spPr/>
    </dgm:pt>
    <dgm:pt modelId="{FFB713F0-249F-4F80-83ED-7A64C5978B23}" type="pres">
      <dgm:prSet presAssocID="{A43019E6-9ED6-4C7E-9091-A43BF018AEBF}" presName="text" presStyleLbl="fgAcc0" presStyleIdx="0" presStyleCnt="2">
        <dgm:presLayoutVars>
          <dgm:chPref val="3"/>
        </dgm:presLayoutVars>
      </dgm:prSet>
      <dgm:spPr/>
    </dgm:pt>
    <dgm:pt modelId="{6B4EE6B9-A94B-44BA-BF98-6E3864028A96}" type="pres">
      <dgm:prSet presAssocID="{A43019E6-9ED6-4C7E-9091-A43BF018AEBF}" presName="hierChild2" presStyleCnt="0"/>
      <dgm:spPr/>
    </dgm:pt>
    <dgm:pt modelId="{062BE631-E274-4392-9CB7-E310886C100F}" type="pres">
      <dgm:prSet presAssocID="{E97F8D57-F958-4D96-8B0C-06DDE55FA7A5}" presName="hierRoot1" presStyleCnt="0"/>
      <dgm:spPr/>
    </dgm:pt>
    <dgm:pt modelId="{C13CDAC7-FF53-4E44-BB6E-060EC3CCAE1D}" type="pres">
      <dgm:prSet presAssocID="{E97F8D57-F958-4D96-8B0C-06DDE55FA7A5}" presName="composite" presStyleCnt="0"/>
      <dgm:spPr/>
    </dgm:pt>
    <dgm:pt modelId="{EDF716BA-A658-4594-B1B0-39919A9E93FE}" type="pres">
      <dgm:prSet presAssocID="{E97F8D57-F958-4D96-8B0C-06DDE55FA7A5}" presName="background" presStyleLbl="node0" presStyleIdx="1" presStyleCnt="2"/>
      <dgm:spPr/>
    </dgm:pt>
    <dgm:pt modelId="{A3D49415-B48E-4955-B66C-3D975A4FB0D5}" type="pres">
      <dgm:prSet presAssocID="{E97F8D57-F958-4D96-8B0C-06DDE55FA7A5}" presName="text" presStyleLbl="fgAcc0" presStyleIdx="1" presStyleCnt="2">
        <dgm:presLayoutVars>
          <dgm:chPref val="3"/>
        </dgm:presLayoutVars>
      </dgm:prSet>
      <dgm:spPr/>
    </dgm:pt>
    <dgm:pt modelId="{01345D75-744D-4B5A-AB1A-9309A3A0D2F6}" type="pres">
      <dgm:prSet presAssocID="{E97F8D57-F958-4D96-8B0C-06DDE55FA7A5}" presName="hierChild2" presStyleCnt="0"/>
      <dgm:spPr/>
    </dgm:pt>
  </dgm:ptLst>
  <dgm:cxnLst>
    <dgm:cxn modelId="{CD43801C-CBE2-4423-80DA-7E705299F23B}" type="presOf" srcId="{E97F8D57-F958-4D96-8B0C-06DDE55FA7A5}" destId="{A3D49415-B48E-4955-B66C-3D975A4FB0D5}" srcOrd="0" destOrd="0" presId="urn:microsoft.com/office/officeart/2005/8/layout/hierarchy1"/>
    <dgm:cxn modelId="{0164A623-7943-49BE-B8C7-3503A9C621C7}" srcId="{82C8134B-E444-49E5-B563-8A140ADA74BE}" destId="{A43019E6-9ED6-4C7E-9091-A43BF018AEBF}" srcOrd="0" destOrd="0" parTransId="{76393A16-8600-44CC-87F3-231073E20777}" sibTransId="{A259241A-B60B-4916-A18E-4D3692FA7FA2}"/>
    <dgm:cxn modelId="{9E26C93E-7B7E-4120-AE71-58DDA07CEB67}" srcId="{82C8134B-E444-49E5-B563-8A140ADA74BE}" destId="{E97F8D57-F958-4D96-8B0C-06DDE55FA7A5}" srcOrd="1" destOrd="0" parTransId="{4A626F12-DC55-4918-8E45-0D56585DF815}" sibTransId="{4480EE7B-9F07-4FFF-B267-E0BEC3852AB1}"/>
    <dgm:cxn modelId="{2CDEE85C-2A84-4859-8A61-3C89A1341A15}" type="presOf" srcId="{82C8134B-E444-49E5-B563-8A140ADA74BE}" destId="{13F394A4-63B5-4961-B7E3-0F2E99138AD5}" srcOrd="0" destOrd="0" presId="urn:microsoft.com/office/officeart/2005/8/layout/hierarchy1"/>
    <dgm:cxn modelId="{FA904594-BBC0-4A59-9D47-B2E028302468}" type="presOf" srcId="{A43019E6-9ED6-4C7E-9091-A43BF018AEBF}" destId="{FFB713F0-249F-4F80-83ED-7A64C5978B23}" srcOrd="0" destOrd="0" presId="urn:microsoft.com/office/officeart/2005/8/layout/hierarchy1"/>
    <dgm:cxn modelId="{0AFEBEA1-8AEF-4E35-ACD4-F547A526C8F9}" type="presParOf" srcId="{13F394A4-63B5-4961-B7E3-0F2E99138AD5}" destId="{7B132D17-1982-4532-8092-D23549AAC77A}" srcOrd="0" destOrd="0" presId="urn:microsoft.com/office/officeart/2005/8/layout/hierarchy1"/>
    <dgm:cxn modelId="{819E2B08-D2DC-4132-8312-6AAA96E1051C}" type="presParOf" srcId="{7B132D17-1982-4532-8092-D23549AAC77A}" destId="{ED9C5C90-0AB2-4A4C-914B-B3E79FEE8015}" srcOrd="0" destOrd="0" presId="urn:microsoft.com/office/officeart/2005/8/layout/hierarchy1"/>
    <dgm:cxn modelId="{93F46249-AEE0-4FCA-A7F2-E035FBB3476E}" type="presParOf" srcId="{ED9C5C90-0AB2-4A4C-914B-B3E79FEE8015}" destId="{22ACEBCA-5AEC-4072-B587-47FF0F961C57}" srcOrd="0" destOrd="0" presId="urn:microsoft.com/office/officeart/2005/8/layout/hierarchy1"/>
    <dgm:cxn modelId="{3756227B-5A07-4456-A288-31877D3DD341}" type="presParOf" srcId="{ED9C5C90-0AB2-4A4C-914B-B3E79FEE8015}" destId="{FFB713F0-249F-4F80-83ED-7A64C5978B23}" srcOrd="1" destOrd="0" presId="urn:microsoft.com/office/officeart/2005/8/layout/hierarchy1"/>
    <dgm:cxn modelId="{803B165C-83EE-48E2-AE5E-620D8C5FA2F1}" type="presParOf" srcId="{7B132D17-1982-4532-8092-D23549AAC77A}" destId="{6B4EE6B9-A94B-44BA-BF98-6E3864028A96}" srcOrd="1" destOrd="0" presId="urn:microsoft.com/office/officeart/2005/8/layout/hierarchy1"/>
    <dgm:cxn modelId="{D1819B38-B7C7-4335-8243-53C02971A9F1}" type="presParOf" srcId="{13F394A4-63B5-4961-B7E3-0F2E99138AD5}" destId="{062BE631-E274-4392-9CB7-E310886C100F}" srcOrd="1" destOrd="0" presId="urn:microsoft.com/office/officeart/2005/8/layout/hierarchy1"/>
    <dgm:cxn modelId="{98B8F3DF-57BC-4135-B27C-B2170CA03745}" type="presParOf" srcId="{062BE631-E274-4392-9CB7-E310886C100F}" destId="{C13CDAC7-FF53-4E44-BB6E-060EC3CCAE1D}" srcOrd="0" destOrd="0" presId="urn:microsoft.com/office/officeart/2005/8/layout/hierarchy1"/>
    <dgm:cxn modelId="{D60C9CA6-1830-4CC0-BCE1-7F14F873CD27}" type="presParOf" srcId="{C13CDAC7-FF53-4E44-BB6E-060EC3CCAE1D}" destId="{EDF716BA-A658-4594-B1B0-39919A9E93FE}" srcOrd="0" destOrd="0" presId="urn:microsoft.com/office/officeart/2005/8/layout/hierarchy1"/>
    <dgm:cxn modelId="{1DDED702-CBCA-48DB-8132-6FCBEE5E3BCB}" type="presParOf" srcId="{C13CDAC7-FF53-4E44-BB6E-060EC3CCAE1D}" destId="{A3D49415-B48E-4955-B66C-3D975A4FB0D5}" srcOrd="1" destOrd="0" presId="urn:microsoft.com/office/officeart/2005/8/layout/hierarchy1"/>
    <dgm:cxn modelId="{43652ECA-F30A-46AF-9891-A7D3B8956273}" type="presParOf" srcId="{062BE631-E274-4392-9CB7-E310886C100F}" destId="{01345D75-744D-4B5A-AB1A-9309A3A0D2F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F7483B9-BA91-48C6-84C4-D94870529024}" type="doc">
      <dgm:prSet loTypeId="urn:microsoft.com/office/officeart/2005/8/layout/hierarchy3" loCatId="hierarchy" qsTypeId="urn:microsoft.com/office/officeart/2005/8/quickstyle/simple1" qsCatId="simple" csTypeId="urn:microsoft.com/office/officeart/2005/8/colors/accent1_2" csCatId="accent1"/>
      <dgm:spPr/>
      <dgm:t>
        <a:bodyPr/>
        <a:lstStyle/>
        <a:p>
          <a:endParaRPr lang="en-US"/>
        </a:p>
      </dgm:t>
    </dgm:pt>
    <dgm:pt modelId="{977B2DAC-6FAB-4CE3-938A-C443050E894D}">
      <dgm:prSet/>
      <dgm:spPr/>
      <dgm:t>
        <a:bodyPr/>
        <a:lstStyle/>
        <a:p>
          <a:r>
            <a:rPr lang="en-US"/>
            <a:t>Open </a:t>
          </a:r>
          <a:r>
            <a:rPr lang="en-US" b="1"/>
            <a:t>Settings and Actions</a:t>
          </a:r>
          <a:r>
            <a:rPr lang="en-US"/>
            <a:t> and select </a:t>
          </a:r>
          <a:r>
            <a:rPr lang="en-US" b="1"/>
            <a:t>Setup and Maintenance</a:t>
          </a:r>
          <a:r>
            <a:rPr lang="en-US"/>
            <a:t>.</a:t>
          </a:r>
        </a:p>
      </dgm:t>
    </dgm:pt>
    <dgm:pt modelId="{777F6862-55AB-4CC3-A641-5FFBC81E8A20}" type="parTrans" cxnId="{FCC354F3-BAA3-4B69-9350-CDB0A2BA1D8F}">
      <dgm:prSet/>
      <dgm:spPr/>
      <dgm:t>
        <a:bodyPr/>
        <a:lstStyle/>
        <a:p>
          <a:endParaRPr lang="en-US"/>
        </a:p>
      </dgm:t>
    </dgm:pt>
    <dgm:pt modelId="{80773604-0295-4783-A104-2CC5DA221450}" type="sibTrans" cxnId="{FCC354F3-BAA3-4B69-9350-CDB0A2BA1D8F}">
      <dgm:prSet/>
      <dgm:spPr/>
      <dgm:t>
        <a:bodyPr/>
        <a:lstStyle/>
        <a:p>
          <a:endParaRPr lang="en-US"/>
        </a:p>
      </dgm:t>
    </dgm:pt>
    <dgm:pt modelId="{3F209E9A-B29D-44B0-9162-AD8FBDDD3DF1}">
      <dgm:prSet/>
      <dgm:spPr/>
      <dgm:t>
        <a:bodyPr/>
        <a:lstStyle/>
        <a:p>
          <a:r>
            <a:rPr lang="en-US"/>
            <a:t>This opens the Functional Setup Manager used to reach all configuration tasks.</a:t>
          </a:r>
        </a:p>
      </dgm:t>
    </dgm:pt>
    <dgm:pt modelId="{146E2869-8604-4CFB-A3DE-1D40713A69DD}" type="parTrans" cxnId="{CE9A6FE9-DB86-4208-B0AD-FB7D33BD1EE2}">
      <dgm:prSet/>
      <dgm:spPr/>
      <dgm:t>
        <a:bodyPr/>
        <a:lstStyle/>
        <a:p>
          <a:endParaRPr lang="en-US"/>
        </a:p>
      </dgm:t>
    </dgm:pt>
    <dgm:pt modelId="{FD0B552C-6A18-47FD-9E94-98111D0DAE17}" type="sibTrans" cxnId="{CE9A6FE9-DB86-4208-B0AD-FB7D33BD1EE2}">
      <dgm:prSet/>
      <dgm:spPr/>
      <dgm:t>
        <a:bodyPr/>
        <a:lstStyle/>
        <a:p>
          <a:endParaRPr lang="en-US"/>
        </a:p>
      </dgm:t>
    </dgm:pt>
    <dgm:pt modelId="{2530C132-0B22-43CD-8362-81614E849CD3}" type="pres">
      <dgm:prSet presAssocID="{EF7483B9-BA91-48C6-84C4-D94870529024}" presName="diagram" presStyleCnt="0">
        <dgm:presLayoutVars>
          <dgm:chPref val="1"/>
          <dgm:dir/>
          <dgm:animOne val="branch"/>
          <dgm:animLvl val="lvl"/>
          <dgm:resizeHandles/>
        </dgm:presLayoutVars>
      </dgm:prSet>
      <dgm:spPr/>
    </dgm:pt>
    <dgm:pt modelId="{477EB08A-DD7D-4DCA-A7BD-83F722138EB7}" type="pres">
      <dgm:prSet presAssocID="{977B2DAC-6FAB-4CE3-938A-C443050E894D}" presName="root" presStyleCnt="0"/>
      <dgm:spPr/>
    </dgm:pt>
    <dgm:pt modelId="{3CB4B72E-639C-41D6-80A7-AD91F0255532}" type="pres">
      <dgm:prSet presAssocID="{977B2DAC-6FAB-4CE3-938A-C443050E894D}" presName="rootComposite" presStyleCnt="0"/>
      <dgm:spPr/>
    </dgm:pt>
    <dgm:pt modelId="{1218D822-0ACE-4823-B4F0-4314011D22DE}" type="pres">
      <dgm:prSet presAssocID="{977B2DAC-6FAB-4CE3-938A-C443050E894D}" presName="rootText" presStyleLbl="node1" presStyleIdx="0" presStyleCnt="2"/>
      <dgm:spPr/>
    </dgm:pt>
    <dgm:pt modelId="{F34CCACB-7E3E-4C23-8C68-17BD8B70F26F}" type="pres">
      <dgm:prSet presAssocID="{977B2DAC-6FAB-4CE3-938A-C443050E894D}" presName="rootConnector" presStyleLbl="node1" presStyleIdx="0" presStyleCnt="2"/>
      <dgm:spPr/>
    </dgm:pt>
    <dgm:pt modelId="{5358F51E-38AE-4396-B8FC-F2CC280CE392}" type="pres">
      <dgm:prSet presAssocID="{977B2DAC-6FAB-4CE3-938A-C443050E894D}" presName="childShape" presStyleCnt="0"/>
      <dgm:spPr/>
    </dgm:pt>
    <dgm:pt modelId="{52D8869C-1D35-436F-874C-CD530490D8AF}" type="pres">
      <dgm:prSet presAssocID="{3F209E9A-B29D-44B0-9162-AD8FBDDD3DF1}" presName="root" presStyleCnt="0"/>
      <dgm:spPr/>
    </dgm:pt>
    <dgm:pt modelId="{0F1B1922-9BA7-4191-BC09-CE3D8BA887A2}" type="pres">
      <dgm:prSet presAssocID="{3F209E9A-B29D-44B0-9162-AD8FBDDD3DF1}" presName="rootComposite" presStyleCnt="0"/>
      <dgm:spPr/>
    </dgm:pt>
    <dgm:pt modelId="{DEE5D0F0-5696-4923-8507-2BBC2F5D4FD5}" type="pres">
      <dgm:prSet presAssocID="{3F209E9A-B29D-44B0-9162-AD8FBDDD3DF1}" presName="rootText" presStyleLbl="node1" presStyleIdx="1" presStyleCnt="2"/>
      <dgm:spPr/>
    </dgm:pt>
    <dgm:pt modelId="{B79AF24A-DAFE-4AAE-99FD-3BA7EEAF83DB}" type="pres">
      <dgm:prSet presAssocID="{3F209E9A-B29D-44B0-9162-AD8FBDDD3DF1}" presName="rootConnector" presStyleLbl="node1" presStyleIdx="1" presStyleCnt="2"/>
      <dgm:spPr/>
    </dgm:pt>
    <dgm:pt modelId="{0BF874DB-8766-4A29-8EC5-AB62C2A990AE}" type="pres">
      <dgm:prSet presAssocID="{3F209E9A-B29D-44B0-9162-AD8FBDDD3DF1}" presName="childShape" presStyleCnt="0"/>
      <dgm:spPr/>
    </dgm:pt>
  </dgm:ptLst>
  <dgm:cxnLst>
    <dgm:cxn modelId="{6BEA2120-F842-469F-A6A3-9CF85283EEB9}" type="presOf" srcId="{3F209E9A-B29D-44B0-9162-AD8FBDDD3DF1}" destId="{B79AF24A-DAFE-4AAE-99FD-3BA7EEAF83DB}" srcOrd="1" destOrd="0" presId="urn:microsoft.com/office/officeart/2005/8/layout/hierarchy3"/>
    <dgm:cxn modelId="{AAD4ACAC-B3E0-44EC-BCB6-AF439544CE3C}" type="presOf" srcId="{EF7483B9-BA91-48C6-84C4-D94870529024}" destId="{2530C132-0B22-43CD-8362-81614E849CD3}" srcOrd="0" destOrd="0" presId="urn:microsoft.com/office/officeart/2005/8/layout/hierarchy3"/>
    <dgm:cxn modelId="{B9C316C1-F1E7-48D6-B5F0-FAC634CF6282}" type="presOf" srcId="{977B2DAC-6FAB-4CE3-938A-C443050E894D}" destId="{1218D822-0ACE-4823-B4F0-4314011D22DE}" srcOrd="0" destOrd="0" presId="urn:microsoft.com/office/officeart/2005/8/layout/hierarchy3"/>
    <dgm:cxn modelId="{2D479FE7-029E-47D3-AECE-D1741C6D7FD4}" type="presOf" srcId="{977B2DAC-6FAB-4CE3-938A-C443050E894D}" destId="{F34CCACB-7E3E-4C23-8C68-17BD8B70F26F}" srcOrd="1" destOrd="0" presId="urn:microsoft.com/office/officeart/2005/8/layout/hierarchy3"/>
    <dgm:cxn modelId="{CE9A6FE9-DB86-4208-B0AD-FB7D33BD1EE2}" srcId="{EF7483B9-BA91-48C6-84C4-D94870529024}" destId="{3F209E9A-B29D-44B0-9162-AD8FBDDD3DF1}" srcOrd="1" destOrd="0" parTransId="{146E2869-8604-4CFB-A3DE-1D40713A69DD}" sibTransId="{FD0B552C-6A18-47FD-9E94-98111D0DAE17}"/>
    <dgm:cxn modelId="{65744EF3-3896-4875-A622-4186A689F67B}" type="presOf" srcId="{3F209E9A-B29D-44B0-9162-AD8FBDDD3DF1}" destId="{DEE5D0F0-5696-4923-8507-2BBC2F5D4FD5}" srcOrd="0" destOrd="0" presId="urn:microsoft.com/office/officeart/2005/8/layout/hierarchy3"/>
    <dgm:cxn modelId="{FCC354F3-BAA3-4B69-9350-CDB0A2BA1D8F}" srcId="{EF7483B9-BA91-48C6-84C4-D94870529024}" destId="{977B2DAC-6FAB-4CE3-938A-C443050E894D}" srcOrd="0" destOrd="0" parTransId="{777F6862-55AB-4CC3-A641-5FFBC81E8A20}" sibTransId="{80773604-0295-4783-A104-2CC5DA221450}"/>
    <dgm:cxn modelId="{E9F637E5-0981-4E36-96DD-C149E4600BC3}" type="presParOf" srcId="{2530C132-0B22-43CD-8362-81614E849CD3}" destId="{477EB08A-DD7D-4DCA-A7BD-83F722138EB7}" srcOrd="0" destOrd="0" presId="urn:microsoft.com/office/officeart/2005/8/layout/hierarchy3"/>
    <dgm:cxn modelId="{F71A50A0-CE93-4B67-9A5D-30FC5962E111}" type="presParOf" srcId="{477EB08A-DD7D-4DCA-A7BD-83F722138EB7}" destId="{3CB4B72E-639C-41D6-80A7-AD91F0255532}" srcOrd="0" destOrd="0" presId="urn:microsoft.com/office/officeart/2005/8/layout/hierarchy3"/>
    <dgm:cxn modelId="{A3351455-D23E-4A93-A6C3-6D3251AB85AC}" type="presParOf" srcId="{3CB4B72E-639C-41D6-80A7-AD91F0255532}" destId="{1218D822-0ACE-4823-B4F0-4314011D22DE}" srcOrd="0" destOrd="0" presId="urn:microsoft.com/office/officeart/2005/8/layout/hierarchy3"/>
    <dgm:cxn modelId="{C6F5EC96-3C63-4139-93CE-D9B9BC4722EA}" type="presParOf" srcId="{3CB4B72E-639C-41D6-80A7-AD91F0255532}" destId="{F34CCACB-7E3E-4C23-8C68-17BD8B70F26F}" srcOrd="1" destOrd="0" presId="urn:microsoft.com/office/officeart/2005/8/layout/hierarchy3"/>
    <dgm:cxn modelId="{E6FA6319-C653-45B7-8ACF-DB407433C714}" type="presParOf" srcId="{477EB08A-DD7D-4DCA-A7BD-83F722138EB7}" destId="{5358F51E-38AE-4396-B8FC-F2CC280CE392}" srcOrd="1" destOrd="0" presId="urn:microsoft.com/office/officeart/2005/8/layout/hierarchy3"/>
    <dgm:cxn modelId="{A04539CB-99C1-4763-93D2-3950470295BC}" type="presParOf" srcId="{2530C132-0B22-43CD-8362-81614E849CD3}" destId="{52D8869C-1D35-436F-874C-CD530490D8AF}" srcOrd="1" destOrd="0" presId="urn:microsoft.com/office/officeart/2005/8/layout/hierarchy3"/>
    <dgm:cxn modelId="{481D9A7C-1EAA-4269-9DFF-C8CECBE605A1}" type="presParOf" srcId="{52D8869C-1D35-436F-874C-CD530490D8AF}" destId="{0F1B1922-9BA7-4191-BC09-CE3D8BA887A2}" srcOrd="0" destOrd="0" presId="urn:microsoft.com/office/officeart/2005/8/layout/hierarchy3"/>
    <dgm:cxn modelId="{E7B35D51-286C-43D0-9A3A-C117C6361C84}" type="presParOf" srcId="{0F1B1922-9BA7-4191-BC09-CE3D8BA887A2}" destId="{DEE5D0F0-5696-4923-8507-2BBC2F5D4FD5}" srcOrd="0" destOrd="0" presId="urn:microsoft.com/office/officeart/2005/8/layout/hierarchy3"/>
    <dgm:cxn modelId="{2978ECA9-6DF7-4368-B43F-4BBB26F9F74D}" type="presParOf" srcId="{0F1B1922-9BA7-4191-BC09-CE3D8BA887A2}" destId="{B79AF24A-DAFE-4AAE-99FD-3BA7EEAF83DB}" srcOrd="1" destOrd="0" presId="urn:microsoft.com/office/officeart/2005/8/layout/hierarchy3"/>
    <dgm:cxn modelId="{4F8C930C-2A8D-4F6B-B47C-2E64F1CF2178}" type="presParOf" srcId="{52D8869C-1D35-436F-874C-CD530490D8AF}" destId="{0BF874DB-8766-4A29-8EC5-AB62C2A990AE}"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DF4DDE2-4C13-4468-A0C7-96A25D47289C}" type="doc">
      <dgm:prSet loTypeId="urn:microsoft.com/office/officeart/2005/8/layout/hierarchy3" loCatId="hierarchy" qsTypeId="urn:microsoft.com/office/officeart/2005/8/quickstyle/simple1" qsCatId="simple" csTypeId="urn:microsoft.com/office/officeart/2005/8/colors/colorful1" csCatId="colorful"/>
      <dgm:spPr/>
      <dgm:t>
        <a:bodyPr/>
        <a:lstStyle/>
        <a:p>
          <a:endParaRPr lang="en-US"/>
        </a:p>
      </dgm:t>
    </dgm:pt>
    <dgm:pt modelId="{43AF1961-B4BA-4B9D-9B4F-9B82CB1E5FC5}">
      <dgm:prSet/>
      <dgm:spPr/>
      <dgm:t>
        <a:bodyPr/>
        <a:lstStyle/>
        <a:p>
          <a:r>
            <a:rPr lang="en-US"/>
            <a:t>Select the </a:t>
          </a:r>
          <a:r>
            <a:rPr lang="en-US" b="1"/>
            <a:t>General Ledger</a:t>
          </a:r>
          <a:r>
            <a:rPr lang="en-US"/>
            <a:t> functional area in the </a:t>
          </a:r>
          <a:r>
            <a:rPr lang="en-US" b="1"/>
            <a:t>Setup: Financials</a:t>
          </a:r>
          <a:r>
            <a:rPr lang="en-US"/>
            <a:t> offering.</a:t>
          </a:r>
        </a:p>
      </dgm:t>
    </dgm:pt>
    <dgm:pt modelId="{C7FDA55F-C1E5-4A78-A8DC-68FEEA44478B}" type="parTrans" cxnId="{63D0559E-A0C2-4246-A6B4-60E0E9E2853A}">
      <dgm:prSet/>
      <dgm:spPr/>
      <dgm:t>
        <a:bodyPr/>
        <a:lstStyle/>
        <a:p>
          <a:endParaRPr lang="en-US"/>
        </a:p>
      </dgm:t>
    </dgm:pt>
    <dgm:pt modelId="{AC8B3AAC-EC0B-466C-8726-7501DA6F8312}" type="sibTrans" cxnId="{63D0559E-A0C2-4246-A6B4-60E0E9E2853A}">
      <dgm:prSet/>
      <dgm:spPr/>
      <dgm:t>
        <a:bodyPr/>
        <a:lstStyle/>
        <a:p>
          <a:endParaRPr lang="en-US"/>
        </a:p>
      </dgm:t>
    </dgm:pt>
    <dgm:pt modelId="{559A5B33-2125-481C-B1D6-B415B6F3329A}">
      <dgm:prSet/>
      <dgm:spPr/>
      <dgm:t>
        <a:bodyPr/>
        <a:lstStyle/>
        <a:p>
          <a:r>
            <a:rPr lang="en-US"/>
            <a:t>With </a:t>
          </a:r>
          <a:r>
            <a:rPr lang="en-US" b="1"/>
            <a:t>All Tasks</a:t>
          </a:r>
          <a:r>
            <a:rPr lang="en-US"/>
            <a:t> displayed, open </a:t>
          </a:r>
          <a:r>
            <a:rPr lang="en-US" b="1"/>
            <a:t>Manage Accounting and Reporting Sequences</a:t>
          </a:r>
          <a:endParaRPr lang="en-US"/>
        </a:p>
      </dgm:t>
    </dgm:pt>
    <dgm:pt modelId="{F8EA6A8D-6C45-4EBF-86E3-227AD0298BC6}" type="parTrans" cxnId="{4BBCAA1E-E9FA-4BD5-8198-CA0BDCD74F7F}">
      <dgm:prSet/>
      <dgm:spPr/>
      <dgm:t>
        <a:bodyPr/>
        <a:lstStyle/>
        <a:p>
          <a:endParaRPr lang="en-US"/>
        </a:p>
      </dgm:t>
    </dgm:pt>
    <dgm:pt modelId="{4548D1BF-ACA8-4BF8-B4D9-DA51A3096148}" type="sibTrans" cxnId="{4BBCAA1E-E9FA-4BD5-8198-CA0BDCD74F7F}">
      <dgm:prSet/>
      <dgm:spPr/>
      <dgm:t>
        <a:bodyPr/>
        <a:lstStyle/>
        <a:p>
          <a:endParaRPr lang="en-US"/>
        </a:p>
      </dgm:t>
    </dgm:pt>
    <dgm:pt modelId="{9E75ACD0-776D-44BF-A383-9DC34CE47D6C}" type="pres">
      <dgm:prSet presAssocID="{0DF4DDE2-4C13-4468-A0C7-96A25D47289C}" presName="diagram" presStyleCnt="0">
        <dgm:presLayoutVars>
          <dgm:chPref val="1"/>
          <dgm:dir/>
          <dgm:animOne val="branch"/>
          <dgm:animLvl val="lvl"/>
          <dgm:resizeHandles/>
        </dgm:presLayoutVars>
      </dgm:prSet>
      <dgm:spPr/>
    </dgm:pt>
    <dgm:pt modelId="{1A86B3DA-5D1F-42B2-AD02-FBB44F763A8A}" type="pres">
      <dgm:prSet presAssocID="{43AF1961-B4BA-4B9D-9B4F-9B82CB1E5FC5}" presName="root" presStyleCnt="0"/>
      <dgm:spPr/>
    </dgm:pt>
    <dgm:pt modelId="{1A7F649D-0070-4A41-80CF-3558F68619EE}" type="pres">
      <dgm:prSet presAssocID="{43AF1961-B4BA-4B9D-9B4F-9B82CB1E5FC5}" presName="rootComposite" presStyleCnt="0"/>
      <dgm:spPr/>
    </dgm:pt>
    <dgm:pt modelId="{4E1D9B28-2670-4766-A85F-BAF1D5F610CB}" type="pres">
      <dgm:prSet presAssocID="{43AF1961-B4BA-4B9D-9B4F-9B82CB1E5FC5}" presName="rootText" presStyleLbl="node1" presStyleIdx="0" presStyleCnt="2"/>
      <dgm:spPr/>
    </dgm:pt>
    <dgm:pt modelId="{0B0F78BD-BB37-42D2-B0A5-B8F7A326E789}" type="pres">
      <dgm:prSet presAssocID="{43AF1961-B4BA-4B9D-9B4F-9B82CB1E5FC5}" presName="rootConnector" presStyleLbl="node1" presStyleIdx="0" presStyleCnt="2"/>
      <dgm:spPr/>
    </dgm:pt>
    <dgm:pt modelId="{E99E9C84-AB54-450E-A7CB-D4DB167EA475}" type="pres">
      <dgm:prSet presAssocID="{43AF1961-B4BA-4B9D-9B4F-9B82CB1E5FC5}" presName="childShape" presStyleCnt="0"/>
      <dgm:spPr/>
    </dgm:pt>
    <dgm:pt modelId="{94D7918F-602C-415E-A4E0-A874BA7D518C}" type="pres">
      <dgm:prSet presAssocID="{559A5B33-2125-481C-B1D6-B415B6F3329A}" presName="root" presStyleCnt="0"/>
      <dgm:spPr/>
    </dgm:pt>
    <dgm:pt modelId="{4545BC3F-7D66-4867-804F-2A369964F215}" type="pres">
      <dgm:prSet presAssocID="{559A5B33-2125-481C-B1D6-B415B6F3329A}" presName="rootComposite" presStyleCnt="0"/>
      <dgm:spPr/>
    </dgm:pt>
    <dgm:pt modelId="{192E8CBE-4C7B-4A1A-8D3F-EAB788ED0DFB}" type="pres">
      <dgm:prSet presAssocID="{559A5B33-2125-481C-B1D6-B415B6F3329A}" presName="rootText" presStyleLbl="node1" presStyleIdx="1" presStyleCnt="2"/>
      <dgm:spPr/>
    </dgm:pt>
    <dgm:pt modelId="{82EEEB8D-8BB5-445F-A52E-4CFD7C068CA6}" type="pres">
      <dgm:prSet presAssocID="{559A5B33-2125-481C-B1D6-B415B6F3329A}" presName="rootConnector" presStyleLbl="node1" presStyleIdx="1" presStyleCnt="2"/>
      <dgm:spPr/>
    </dgm:pt>
    <dgm:pt modelId="{7BFF9B7A-4DDE-4223-9562-533F277F7B73}" type="pres">
      <dgm:prSet presAssocID="{559A5B33-2125-481C-B1D6-B415B6F3329A}" presName="childShape" presStyleCnt="0"/>
      <dgm:spPr/>
    </dgm:pt>
  </dgm:ptLst>
  <dgm:cxnLst>
    <dgm:cxn modelId="{4BBCAA1E-E9FA-4BD5-8198-CA0BDCD74F7F}" srcId="{0DF4DDE2-4C13-4468-A0C7-96A25D47289C}" destId="{559A5B33-2125-481C-B1D6-B415B6F3329A}" srcOrd="1" destOrd="0" parTransId="{F8EA6A8D-6C45-4EBF-86E3-227AD0298BC6}" sibTransId="{4548D1BF-ACA8-4BF8-B4D9-DA51A3096148}"/>
    <dgm:cxn modelId="{24ADA82E-4FA6-4729-864A-77CA199BDEEF}" type="presOf" srcId="{559A5B33-2125-481C-B1D6-B415B6F3329A}" destId="{82EEEB8D-8BB5-445F-A52E-4CFD7C068CA6}" srcOrd="1" destOrd="0" presId="urn:microsoft.com/office/officeart/2005/8/layout/hierarchy3"/>
    <dgm:cxn modelId="{E2405E82-5A74-42D9-931D-4D74E73E7865}" type="presOf" srcId="{0DF4DDE2-4C13-4468-A0C7-96A25D47289C}" destId="{9E75ACD0-776D-44BF-A383-9DC34CE47D6C}" srcOrd="0" destOrd="0" presId="urn:microsoft.com/office/officeart/2005/8/layout/hierarchy3"/>
    <dgm:cxn modelId="{13938797-53F6-4B16-9286-FF5116E1AAA5}" type="presOf" srcId="{43AF1961-B4BA-4B9D-9B4F-9B82CB1E5FC5}" destId="{0B0F78BD-BB37-42D2-B0A5-B8F7A326E789}" srcOrd="1" destOrd="0" presId="urn:microsoft.com/office/officeart/2005/8/layout/hierarchy3"/>
    <dgm:cxn modelId="{63D0559E-A0C2-4246-A6B4-60E0E9E2853A}" srcId="{0DF4DDE2-4C13-4468-A0C7-96A25D47289C}" destId="{43AF1961-B4BA-4B9D-9B4F-9B82CB1E5FC5}" srcOrd="0" destOrd="0" parTransId="{C7FDA55F-C1E5-4A78-A8DC-68FEEA44478B}" sibTransId="{AC8B3AAC-EC0B-466C-8726-7501DA6F8312}"/>
    <dgm:cxn modelId="{85A890E8-2C8F-4C62-9B48-4387E4DB73D7}" type="presOf" srcId="{43AF1961-B4BA-4B9D-9B4F-9B82CB1E5FC5}" destId="{4E1D9B28-2670-4766-A85F-BAF1D5F610CB}" srcOrd="0" destOrd="0" presId="urn:microsoft.com/office/officeart/2005/8/layout/hierarchy3"/>
    <dgm:cxn modelId="{E4634CED-2181-49B0-B362-A5AD1C1CBE7C}" type="presOf" srcId="{559A5B33-2125-481C-B1D6-B415B6F3329A}" destId="{192E8CBE-4C7B-4A1A-8D3F-EAB788ED0DFB}" srcOrd="0" destOrd="0" presId="urn:microsoft.com/office/officeart/2005/8/layout/hierarchy3"/>
    <dgm:cxn modelId="{4F32AA14-F54A-434F-A720-8ED8FECB9584}" type="presParOf" srcId="{9E75ACD0-776D-44BF-A383-9DC34CE47D6C}" destId="{1A86B3DA-5D1F-42B2-AD02-FBB44F763A8A}" srcOrd="0" destOrd="0" presId="urn:microsoft.com/office/officeart/2005/8/layout/hierarchy3"/>
    <dgm:cxn modelId="{CC3A9D1E-89AC-4CD7-A97D-DC263029F099}" type="presParOf" srcId="{1A86B3DA-5D1F-42B2-AD02-FBB44F763A8A}" destId="{1A7F649D-0070-4A41-80CF-3558F68619EE}" srcOrd="0" destOrd="0" presId="urn:microsoft.com/office/officeart/2005/8/layout/hierarchy3"/>
    <dgm:cxn modelId="{FF6BC432-72A3-4467-966C-1F32D35681FC}" type="presParOf" srcId="{1A7F649D-0070-4A41-80CF-3558F68619EE}" destId="{4E1D9B28-2670-4766-A85F-BAF1D5F610CB}" srcOrd="0" destOrd="0" presId="urn:microsoft.com/office/officeart/2005/8/layout/hierarchy3"/>
    <dgm:cxn modelId="{95E115DC-7920-4138-BBC9-72C07572AD3C}" type="presParOf" srcId="{1A7F649D-0070-4A41-80CF-3558F68619EE}" destId="{0B0F78BD-BB37-42D2-B0A5-B8F7A326E789}" srcOrd="1" destOrd="0" presId="urn:microsoft.com/office/officeart/2005/8/layout/hierarchy3"/>
    <dgm:cxn modelId="{629FB062-DA31-431C-832D-296CC9D9DDC3}" type="presParOf" srcId="{1A86B3DA-5D1F-42B2-AD02-FBB44F763A8A}" destId="{E99E9C84-AB54-450E-A7CB-D4DB167EA475}" srcOrd="1" destOrd="0" presId="urn:microsoft.com/office/officeart/2005/8/layout/hierarchy3"/>
    <dgm:cxn modelId="{7FDB9AE7-74CB-4606-AD69-5C7BC9F611BC}" type="presParOf" srcId="{9E75ACD0-776D-44BF-A383-9DC34CE47D6C}" destId="{94D7918F-602C-415E-A4E0-A874BA7D518C}" srcOrd="1" destOrd="0" presId="urn:microsoft.com/office/officeart/2005/8/layout/hierarchy3"/>
    <dgm:cxn modelId="{7931316C-1E35-4576-9C56-E6487751E844}" type="presParOf" srcId="{94D7918F-602C-415E-A4E0-A874BA7D518C}" destId="{4545BC3F-7D66-4867-804F-2A369964F215}" srcOrd="0" destOrd="0" presId="urn:microsoft.com/office/officeart/2005/8/layout/hierarchy3"/>
    <dgm:cxn modelId="{66F84217-E2B2-4174-8DD2-B5F39B4369CB}" type="presParOf" srcId="{4545BC3F-7D66-4867-804F-2A369964F215}" destId="{192E8CBE-4C7B-4A1A-8D3F-EAB788ED0DFB}" srcOrd="0" destOrd="0" presId="urn:microsoft.com/office/officeart/2005/8/layout/hierarchy3"/>
    <dgm:cxn modelId="{C925E715-78C5-4CE2-9EB6-7B4741D79FF1}" type="presParOf" srcId="{4545BC3F-7D66-4867-804F-2A369964F215}" destId="{82EEEB8D-8BB5-445F-A52E-4CFD7C068CA6}" srcOrd="1" destOrd="0" presId="urn:microsoft.com/office/officeart/2005/8/layout/hierarchy3"/>
    <dgm:cxn modelId="{0772F9D8-2144-47EC-9E50-A6668FDAFE2F}" type="presParOf" srcId="{94D7918F-602C-415E-A4E0-A874BA7D518C}" destId="{7BFF9B7A-4DDE-4223-9562-533F277F7B73}"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0044223-256D-43E6-9EA9-3BE4779E4C6C}"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A4AEE00E-141A-4AD8-823C-AF64F5E0948B}">
      <dgm:prSet/>
      <dgm:spPr/>
      <dgm:t>
        <a:bodyPr/>
        <a:lstStyle/>
        <a:p>
          <a:r>
            <a:rPr lang="en-US"/>
            <a:t>The page has two tabs: </a:t>
          </a:r>
          <a:r>
            <a:rPr lang="en-US" b="1"/>
            <a:t>Sequences</a:t>
          </a:r>
          <a:r>
            <a:rPr lang="en-US"/>
            <a:t> and </a:t>
          </a:r>
          <a:r>
            <a:rPr lang="en-US" b="1"/>
            <a:t>Sequencing Assignments</a:t>
          </a:r>
          <a:r>
            <a:rPr lang="en-US"/>
            <a:t>.</a:t>
          </a:r>
        </a:p>
      </dgm:t>
    </dgm:pt>
    <dgm:pt modelId="{0E6B9866-9704-46C1-973D-60632F78607D}" type="parTrans" cxnId="{B128C5C3-CEBA-4CCB-852C-6CB170FD814A}">
      <dgm:prSet/>
      <dgm:spPr/>
      <dgm:t>
        <a:bodyPr/>
        <a:lstStyle/>
        <a:p>
          <a:endParaRPr lang="en-US"/>
        </a:p>
      </dgm:t>
    </dgm:pt>
    <dgm:pt modelId="{F325AFD9-07CA-4E5E-A91B-F446A07D9FB7}" type="sibTrans" cxnId="{B128C5C3-CEBA-4CCB-852C-6CB170FD814A}">
      <dgm:prSet/>
      <dgm:spPr/>
      <dgm:t>
        <a:bodyPr/>
        <a:lstStyle/>
        <a:p>
          <a:endParaRPr lang="en-US"/>
        </a:p>
      </dgm:t>
    </dgm:pt>
    <dgm:pt modelId="{D317639A-30A2-4965-9DD0-70B65ECF3D56}">
      <dgm:prSet/>
      <dgm:spPr/>
      <dgm:t>
        <a:bodyPr/>
        <a:lstStyle/>
        <a:p>
          <a:r>
            <a:rPr lang="en-US"/>
            <a:t>The </a:t>
          </a:r>
          <a:r>
            <a:rPr lang="en-US" b="1"/>
            <a:t>Sequences</a:t>
          </a:r>
          <a:r>
            <a:rPr lang="en-US"/>
            <a:t> tab lists existing sequences with their Name, Description and Status.</a:t>
          </a:r>
        </a:p>
      </dgm:t>
    </dgm:pt>
    <dgm:pt modelId="{03E8CB43-689E-446B-9858-053272462826}" type="parTrans" cxnId="{07B51BF8-6789-44C4-B683-833BEACB1221}">
      <dgm:prSet/>
      <dgm:spPr/>
      <dgm:t>
        <a:bodyPr/>
        <a:lstStyle/>
        <a:p>
          <a:endParaRPr lang="en-US"/>
        </a:p>
      </dgm:t>
    </dgm:pt>
    <dgm:pt modelId="{0B284114-AB5E-42D1-A456-80A8BE85C705}" type="sibTrans" cxnId="{07B51BF8-6789-44C4-B683-833BEACB1221}">
      <dgm:prSet/>
      <dgm:spPr/>
      <dgm:t>
        <a:bodyPr/>
        <a:lstStyle/>
        <a:p>
          <a:endParaRPr lang="en-US"/>
        </a:p>
      </dgm:t>
    </dgm:pt>
    <dgm:pt modelId="{D282FC5A-A6B2-4B02-AB4C-3C7654190F94}">
      <dgm:prSet/>
      <dgm:spPr/>
      <dgm:t>
        <a:bodyPr/>
        <a:lstStyle/>
        <a:p>
          <a:r>
            <a:rPr lang="en-US"/>
            <a:t>Click </a:t>
          </a:r>
          <a:r>
            <a:rPr lang="en-US" b="1"/>
            <a:t>Create (+)</a:t>
          </a:r>
          <a:r>
            <a:rPr lang="en-US"/>
            <a:t> to define a new sequence.</a:t>
          </a:r>
        </a:p>
      </dgm:t>
    </dgm:pt>
    <dgm:pt modelId="{748C691A-7084-48BC-ABEC-1C2E485D98AC}" type="parTrans" cxnId="{0D2965B5-1D6D-4370-9D75-74D63D52A979}">
      <dgm:prSet/>
      <dgm:spPr/>
      <dgm:t>
        <a:bodyPr/>
        <a:lstStyle/>
        <a:p>
          <a:endParaRPr lang="en-US"/>
        </a:p>
      </dgm:t>
    </dgm:pt>
    <dgm:pt modelId="{ED2BB8F2-8EA9-4180-AEA6-40CBD9F5AA2D}" type="sibTrans" cxnId="{0D2965B5-1D6D-4370-9D75-74D63D52A979}">
      <dgm:prSet/>
      <dgm:spPr/>
      <dgm:t>
        <a:bodyPr/>
        <a:lstStyle/>
        <a:p>
          <a:endParaRPr lang="en-US"/>
        </a:p>
      </dgm:t>
    </dgm:pt>
    <dgm:pt modelId="{307A3DA2-2A01-48BF-9C25-27DF35A29A70}" type="pres">
      <dgm:prSet presAssocID="{C0044223-256D-43E6-9EA9-3BE4779E4C6C}" presName="root" presStyleCnt="0">
        <dgm:presLayoutVars>
          <dgm:dir/>
          <dgm:resizeHandles val="exact"/>
        </dgm:presLayoutVars>
      </dgm:prSet>
      <dgm:spPr/>
    </dgm:pt>
    <dgm:pt modelId="{C340B707-B2A8-4246-908F-61A4E10784FC}" type="pres">
      <dgm:prSet presAssocID="{C0044223-256D-43E6-9EA9-3BE4779E4C6C}" presName="container" presStyleCnt="0">
        <dgm:presLayoutVars>
          <dgm:dir/>
          <dgm:resizeHandles val="exact"/>
        </dgm:presLayoutVars>
      </dgm:prSet>
      <dgm:spPr/>
    </dgm:pt>
    <dgm:pt modelId="{4BA70F8C-34C3-4AAF-8D05-487DBDCD2A89}" type="pres">
      <dgm:prSet presAssocID="{A4AEE00E-141A-4AD8-823C-AF64F5E0948B}" presName="compNode" presStyleCnt="0"/>
      <dgm:spPr/>
    </dgm:pt>
    <dgm:pt modelId="{83CC11E8-5C2E-4EBD-B42C-B645DF15D260}" type="pres">
      <dgm:prSet presAssocID="{A4AEE00E-141A-4AD8-823C-AF64F5E0948B}" presName="iconBgRect" presStyleLbl="bgShp" presStyleIdx="0" presStyleCnt="3"/>
      <dgm:spPr/>
    </dgm:pt>
    <dgm:pt modelId="{98B8B6BC-B0B0-4F76-ADAC-D341A6C0D533}" type="pres">
      <dgm:prSet presAssocID="{A4AEE00E-141A-4AD8-823C-AF64F5E0948B}"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aperclip"/>
        </a:ext>
      </dgm:extLst>
    </dgm:pt>
    <dgm:pt modelId="{E6F3A0E1-ED13-4A04-8FC5-2B5FF1619C62}" type="pres">
      <dgm:prSet presAssocID="{A4AEE00E-141A-4AD8-823C-AF64F5E0948B}" presName="spaceRect" presStyleCnt="0"/>
      <dgm:spPr/>
    </dgm:pt>
    <dgm:pt modelId="{6B0E8C7B-298D-4BF4-B259-7AB985DD2FF8}" type="pres">
      <dgm:prSet presAssocID="{A4AEE00E-141A-4AD8-823C-AF64F5E0948B}" presName="textRect" presStyleLbl="revTx" presStyleIdx="0" presStyleCnt="3">
        <dgm:presLayoutVars>
          <dgm:chMax val="1"/>
          <dgm:chPref val="1"/>
        </dgm:presLayoutVars>
      </dgm:prSet>
      <dgm:spPr/>
    </dgm:pt>
    <dgm:pt modelId="{93C2678F-6964-423E-82C7-060AFDD51A32}" type="pres">
      <dgm:prSet presAssocID="{F325AFD9-07CA-4E5E-A91B-F446A07D9FB7}" presName="sibTrans" presStyleLbl="sibTrans2D1" presStyleIdx="0" presStyleCnt="0"/>
      <dgm:spPr/>
    </dgm:pt>
    <dgm:pt modelId="{8212A132-7472-48DF-9636-7047DFD3F285}" type="pres">
      <dgm:prSet presAssocID="{D317639A-30A2-4965-9DD0-70B65ECF3D56}" presName="compNode" presStyleCnt="0"/>
      <dgm:spPr/>
    </dgm:pt>
    <dgm:pt modelId="{466BD90B-2D61-4188-B372-44954953E840}" type="pres">
      <dgm:prSet presAssocID="{D317639A-30A2-4965-9DD0-70B65ECF3D56}" presName="iconBgRect" presStyleLbl="bgShp" presStyleIdx="1" presStyleCnt="3"/>
      <dgm:spPr/>
    </dgm:pt>
    <dgm:pt modelId="{48F9FB43-CD89-41D2-8B2A-5FF1DA3A7B77}" type="pres">
      <dgm:prSet presAssocID="{D317639A-30A2-4965-9DD0-70B65ECF3D56}"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D5CE3364-238F-4E64-9B52-C20C56FEB77F}" type="pres">
      <dgm:prSet presAssocID="{D317639A-30A2-4965-9DD0-70B65ECF3D56}" presName="spaceRect" presStyleCnt="0"/>
      <dgm:spPr/>
    </dgm:pt>
    <dgm:pt modelId="{8BB73FBA-FBA0-4B56-905F-9A5E54F54CF0}" type="pres">
      <dgm:prSet presAssocID="{D317639A-30A2-4965-9DD0-70B65ECF3D56}" presName="textRect" presStyleLbl="revTx" presStyleIdx="1" presStyleCnt="3">
        <dgm:presLayoutVars>
          <dgm:chMax val="1"/>
          <dgm:chPref val="1"/>
        </dgm:presLayoutVars>
      </dgm:prSet>
      <dgm:spPr/>
    </dgm:pt>
    <dgm:pt modelId="{9E640804-AC8B-4FC9-ACB3-F57B83ED38D8}" type="pres">
      <dgm:prSet presAssocID="{0B284114-AB5E-42D1-A456-80A8BE85C705}" presName="sibTrans" presStyleLbl="sibTrans2D1" presStyleIdx="0" presStyleCnt="0"/>
      <dgm:spPr/>
    </dgm:pt>
    <dgm:pt modelId="{CB04D277-CE11-47A1-BFE5-CC8BDEB5FB66}" type="pres">
      <dgm:prSet presAssocID="{D282FC5A-A6B2-4B02-AB4C-3C7654190F94}" presName="compNode" presStyleCnt="0"/>
      <dgm:spPr/>
    </dgm:pt>
    <dgm:pt modelId="{AFF4867E-FD5C-40B6-9BA9-1037DA8F6FE3}" type="pres">
      <dgm:prSet presAssocID="{D282FC5A-A6B2-4B02-AB4C-3C7654190F94}" presName="iconBgRect" presStyleLbl="bgShp" presStyleIdx="2" presStyleCnt="3"/>
      <dgm:spPr/>
    </dgm:pt>
    <dgm:pt modelId="{3F84CE09-CD35-41D0-BA63-36B8B4217CD6}" type="pres">
      <dgm:prSet presAssocID="{D282FC5A-A6B2-4B02-AB4C-3C7654190F94}"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ecision chart"/>
        </a:ext>
      </dgm:extLst>
    </dgm:pt>
    <dgm:pt modelId="{B2D5F072-DDDB-44B8-8309-6B8DF97C0E3A}" type="pres">
      <dgm:prSet presAssocID="{D282FC5A-A6B2-4B02-AB4C-3C7654190F94}" presName="spaceRect" presStyleCnt="0"/>
      <dgm:spPr/>
    </dgm:pt>
    <dgm:pt modelId="{33B44364-F68F-47DB-B118-E35DD3D07407}" type="pres">
      <dgm:prSet presAssocID="{D282FC5A-A6B2-4B02-AB4C-3C7654190F94}" presName="textRect" presStyleLbl="revTx" presStyleIdx="2" presStyleCnt="3">
        <dgm:presLayoutVars>
          <dgm:chMax val="1"/>
          <dgm:chPref val="1"/>
        </dgm:presLayoutVars>
      </dgm:prSet>
      <dgm:spPr/>
    </dgm:pt>
  </dgm:ptLst>
  <dgm:cxnLst>
    <dgm:cxn modelId="{E223CA03-CE64-40F6-A8D5-F473819FCD03}" type="presOf" srcId="{0B284114-AB5E-42D1-A456-80A8BE85C705}" destId="{9E640804-AC8B-4FC9-ACB3-F57B83ED38D8}" srcOrd="0" destOrd="0" presId="urn:microsoft.com/office/officeart/2018/2/layout/IconCircleList"/>
    <dgm:cxn modelId="{2961D639-F468-4997-A3A6-1BE92DA98024}" type="presOf" srcId="{D317639A-30A2-4965-9DD0-70B65ECF3D56}" destId="{8BB73FBA-FBA0-4B56-905F-9A5E54F54CF0}" srcOrd="0" destOrd="0" presId="urn:microsoft.com/office/officeart/2018/2/layout/IconCircleList"/>
    <dgm:cxn modelId="{A719CD70-0257-4AEC-B415-D575D5DE1378}" type="presOf" srcId="{A4AEE00E-141A-4AD8-823C-AF64F5E0948B}" destId="{6B0E8C7B-298D-4BF4-B259-7AB985DD2FF8}" srcOrd="0" destOrd="0" presId="urn:microsoft.com/office/officeart/2018/2/layout/IconCircleList"/>
    <dgm:cxn modelId="{CE16AF7B-D24D-429B-92FD-AFCC2336CA3F}" type="presOf" srcId="{C0044223-256D-43E6-9EA9-3BE4779E4C6C}" destId="{307A3DA2-2A01-48BF-9C25-27DF35A29A70}" srcOrd="0" destOrd="0" presId="urn:microsoft.com/office/officeart/2018/2/layout/IconCircleList"/>
    <dgm:cxn modelId="{0D2965B5-1D6D-4370-9D75-74D63D52A979}" srcId="{C0044223-256D-43E6-9EA9-3BE4779E4C6C}" destId="{D282FC5A-A6B2-4B02-AB4C-3C7654190F94}" srcOrd="2" destOrd="0" parTransId="{748C691A-7084-48BC-ABEC-1C2E485D98AC}" sibTransId="{ED2BB8F2-8EA9-4180-AEA6-40CBD9F5AA2D}"/>
    <dgm:cxn modelId="{D8A488C2-112F-4747-AB8D-A473DFAB9E0D}" type="presOf" srcId="{D282FC5A-A6B2-4B02-AB4C-3C7654190F94}" destId="{33B44364-F68F-47DB-B118-E35DD3D07407}" srcOrd="0" destOrd="0" presId="urn:microsoft.com/office/officeart/2018/2/layout/IconCircleList"/>
    <dgm:cxn modelId="{B128C5C3-CEBA-4CCB-852C-6CB170FD814A}" srcId="{C0044223-256D-43E6-9EA9-3BE4779E4C6C}" destId="{A4AEE00E-141A-4AD8-823C-AF64F5E0948B}" srcOrd="0" destOrd="0" parTransId="{0E6B9866-9704-46C1-973D-60632F78607D}" sibTransId="{F325AFD9-07CA-4E5E-A91B-F446A07D9FB7}"/>
    <dgm:cxn modelId="{031E3EDC-163D-49A5-8E6D-E1B9DF1D4457}" type="presOf" srcId="{F325AFD9-07CA-4E5E-A91B-F446A07D9FB7}" destId="{93C2678F-6964-423E-82C7-060AFDD51A32}" srcOrd="0" destOrd="0" presId="urn:microsoft.com/office/officeart/2018/2/layout/IconCircleList"/>
    <dgm:cxn modelId="{07B51BF8-6789-44C4-B683-833BEACB1221}" srcId="{C0044223-256D-43E6-9EA9-3BE4779E4C6C}" destId="{D317639A-30A2-4965-9DD0-70B65ECF3D56}" srcOrd="1" destOrd="0" parTransId="{03E8CB43-689E-446B-9858-053272462826}" sibTransId="{0B284114-AB5E-42D1-A456-80A8BE85C705}"/>
    <dgm:cxn modelId="{0CA39D4C-EF0D-44A1-9BE0-CAECB37A926B}" type="presParOf" srcId="{307A3DA2-2A01-48BF-9C25-27DF35A29A70}" destId="{C340B707-B2A8-4246-908F-61A4E10784FC}" srcOrd="0" destOrd="0" presId="urn:microsoft.com/office/officeart/2018/2/layout/IconCircleList"/>
    <dgm:cxn modelId="{99266B04-30DB-4AAB-9CC0-455F96754710}" type="presParOf" srcId="{C340B707-B2A8-4246-908F-61A4E10784FC}" destId="{4BA70F8C-34C3-4AAF-8D05-487DBDCD2A89}" srcOrd="0" destOrd="0" presId="urn:microsoft.com/office/officeart/2018/2/layout/IconCircleList"/>
    <dgm:cxn modelId="{CDCA297C-CD7E-4A7D-A8CA-A31FC8C259C7}" type="presParOf" srcId="{4BA70F8C-34C3-4AAF-8D05-487DBDCD2A89}" destId="{83CC11E8-5C2E-4EBD-B42C-B645DF15D260}" srcOrd="0" destOrd="0" presId="urn:microsoft.com/office/officeart/2018/2/layout/IconCircleList"/>
    <dgm:cxn modelId="{4778FE37-6147-417A-86FE-D9C061B5D458}" type="presParOf" srcId="{4BA70F8C-34C3-4AAF-8D05-487DBDCD2A89}" destId="{98B8B6BC-B0B0-4F76-ADAC-D341A6C0D533}" srcOrd="1" destOrd="0" presId="urn:microsoft.com/office/officeart/2018/2/layout/IconCircleList"/>
    <dgm:cxn modelId="{EC8F01E6-F2D5-4930-8D06-AEACC615A8BB}" type="presParOf" srcId="{4BA70F8C-34C3-4AAF-8D05-487DBDCD2A89}" destId="{E6F3A0E1-ED13-4A04-8FC5-2B5FF1619C62}" srcOrd="2" destOrd="0" presId="urn:microsoft.com/office/officeart/2018/2/layout/IconCircleList"/>
    <dgm:cxn modelId="{BC0E06D7-D785-470A-ADC2-274D1DF95089}" type="presParOf" srcId="{4BA70F8C-34C3-4AAF-8D05-487DBDCD2A89}" destId="{6B0E8C7B-298D-4BF4-B259-7AB985DD2FF8}" srcOrd="3" destOrd="0" presId="urn:microsoft.com/office/officeart/2018/2/layout/IconCircleList"/>
    <dgm:cxn modelId="{984DDD38-46E0-4819-82C0-AB7E42A7DBBA}" type="presParOf" srcId="{C340B707-B2A8-4246-908F-61A4E10784FC}" destId="{93C2678F-6964-423E-82C7-060AFDD51A32}" srcOrd="1" destOrd="0" presId="urn:microsoft.com/office/officeart/2018/2/layout/IconCircleList"/>
    <dgm:cxn modelId="{AD8F3641-CABE-4B8E-99EE-F04822F5EE43}" type="presParOf" srcId="{C340B707-B2A8-4246-908F-61A4E10784FC}" destId="{8212A132-7472-48DF-9636-7047DFD3F285}" srcOrd="2" destOrd="0" presId="urn:microsoft.com/office/officeart/2018/2/layout/IconCircleList"/>
    <dgm:cxn modelId="{61902001-7114-4E4B-A408-E651BA8FC7EF}" type="presParOf" srcId="{8212A132-7472-48DF-9636-7047DFD3F285}" destId="{466BD90B-2D61-4188-B372-44954953E840}" srcOrd="0" destOrd="0" presId="urn:microsoft.com/office/officeart/2018/2/layout/IconCircleList"/>
    <dgm:cxn modelId="{017E66AA-8498-4732-A3E2-260BDE2A5452}" type="presParOf" srcId="{8212A132-7472-48DF-9636-7047DFD3F285}" destId="{48F9FB43-CD89-41D2-8B2A-5FF1DA3A7B77}" srcOrd="1" destOrd="0" presId="urn:microsoft.com/office/officeart/2018/2/layout/IconCircleList"/>
    <dgm:cxn modelId="{1397D21A-4853-4587-A4A8-2EA60D0543A0}" type="presParOf" srcId="{8212A132-7472-48DF-9636-7047DFD3F285}" destId="{D5CE3364-238F-4E64-9B52-C20C56FEB77F}" srcOrd="2" destOrd="0" presId="urn:microsoft.com/office/officeart/2018/2/layout/IconCircleList"/>
    <dgm:cxn modelId="{32E2DA16-DCA4-4F00-84E1-373FF12F5954}" type="presParOf" srcId="{8212A132-7472-48DF-9636-7047DFD3F285}" destId="{8BB73FBA-FBA0-4B56-905F-9A5E54F54CF0}" srcOrd="3" destOrd="0" presId="urn:microsoft.com/office/officeart/2018/2/layout/IconCircleList"/>
    <dgm:cxn modelId="{4F0B1429-9809-468F-8C73-0A42CA20960B}" type="presParOf" srcId="{C340B707-B2A8-4246-908F-61A4E10784FC}" destId="{9E640804-AC8B-4FC9-ACB3-F57B83ED38D8}" srcOrd="3" destOrd="0" presId="urn:microsoft.com/office/officeart/2018/2/layout/IconCircleList"/>
    <dgm:cxn modelId="{1C07D767-E3D2-40BB-A11C-590DE8D41BF7}" type="presParOf" srcId="{C340B707-B2A8-4246-908F-61A4E10784FC}" destId="{CB04D277-CE11-47A1-BFE5-CC8BDEB5FB66}" srcOrd="4" destOrd="0" presId="urn:microsoft.com/office/officeart/2018/2/layout/IconCircleList"/>
    <dgm:cxn modelId="{990809B1-77D8-4144-9B98-9A76F8046BF8}" type="presParOf" srcId="{CB04D277-CE11-47A1-BFE5-CC8BDEB5FB66}" destId="{AFF4867E-FD5C-40B6-9BA9-1037DA8F6FE3}" srcOrd="0" destOrd="0" presId="urn:microsoft.com/office/officeart/2018/2/layout/IconCircleList"/>
    <dgm:cxn modelId="{ADC1E780-611C-412E-A861-26ED632EBEB2}" type="presParOf" srcId="{CB04D277-CE11-47A1-BFE5-CC8BDEB5FB66}" destId="{3F84CE09-CD35-41D0-BA63-36B8B4217CD6}" srcOrd="1" destOrd="0" presId="urn:microsoft.com/office/officeart/2018/2/layout/IconCircleList"/>
    <dgm:cxn modelId="{D0A676DE-36F4-4E28-B6A8-2F30AA23C930}" type="presParOf" srcId="{CB04D277-CE11-47A1-BFE5-CC8BDEB5FB66}" destId="{B2D5F072-DDDB-44B8-8309-6B8DF97C0E3A}" srcOrd="2" destOrd="0" presId="urn:microsoft.com/office/officeart/2018/2/layout/IconCircleList"/>
    <dgm:cxn modelId="{9AFB4A55-69AB-41DA-B9E6-4114435C5C76}" type="presParOf" srcId="{CB04D277-CE11-47A1-BFE5-CC8BDEB5FB66}" destId="{33B44364-F68F-47DB-B118-E35DD3D07407}"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FB3D3B5-ECB1-4E2C-9058-8E94E5775893}"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AE9C7981-CC73-4EAE-AA11-A3CC300DA138}">
      <dgm:prSet/>
      <dgm:spPr/>
      <dgm:t>
        <a:bodyPr/>
        <a:lstStyle/>
        <a:p>
          <a:r>
            <a:rPr lang="en-US"/>
            <a:t>The grid shows the assignment attributes: </a:t>
          </a:r>
          <a:r>
            <a:rPr lang="en-US" b="1"/>
            <a:t>Ledger</a:t>
          </a:r>
          <a:r>
            <a:rPr lang="en-US"/>
            <a:t>, </a:t>
          </a:r>
          <a:r>
            <a:rPr lang="en-US" b="1"/>
            <a:t>Legal Entity</a:t>
          </a:r>
          <a:r>
            <a:rPr lang="en-US"/>
            <a:t>, </a:t>
          </a:r>
          <a:r>
            <a:rPr lang="en-US" b="1"/>
            <a:t>Journal Entry Type</a:t>
          </a:r>
          <a:r>
            <a:rPr lang="en-US"/>
            <a:t>, </a:t>
          </a:r>
          <a:r>
            <a:rPr lang="en-US" b="1"/>
            <a:t>Sequencing Event</a:t>
          </a:r>
          <a:r>
            <a:rPr lang="en-US"/>
            <a:t> and </a:t>
          </a:r>
          <a:r>
            <a:rPr lang="en-US" b="1"/>
            <a:t>Sequence Validation Date</a:t>
          </a:r>
          <a:r>
            <a:rPr lang="en-US"/>
            <a:t>.</a:t>
          </a:r>
        </a:p>
      </dgm:t>
    </dgm:pt>
    <dgm:pt modelId="{AEB1468D-0965-44FE-A1AE-C15EA826F2F2}" type="parTrans" cxnId="{3EAD0D25-BFFF-4A46-925B-3ECA18FD9C8D}">
      <dgm:prSet/>
      <dgm:spPr/>
      <dgm:t>
        <a:bodyPr/>
        <a:lstStyle/>
        <a:p>
          <a:endParaRPr lang="en-US"/>
        </a:p>
      </dgm:t>
    </dgm:pt>
    <dgm:pt modelId="{6C7A09A4-BBF9-460A-8E17-3ABABE125F7B}" type="sibTrans" cxnId="{3EAD0D25-BFFF-4A46-925B-3ECA18FD9C8D}">
      <dgm:prSet/>
      <dgm:spPr/>
      <dgm:t>
        <a:bodyPr/>
        <a:lstStyle/>
        <a:p>
          <a:endParaRPr lang="en-US"/>
        </a:p>
      </dgm:t>
    </dgm:pt>
    <dgm:pt modelId="{B52BE460-97B2-478A-A843-47303F3A32C3}">
      <dgm:prSet/>
      <dgm:spPr/>
      <dgm:t>
        <a:bodyPr/>
        <a:lstStyle/>
        <a:p>
          <a:r>
            <a:rPr lang="en-US"/>
            <a:t>Click </a:t>
          </a:r>
          <a:r>
            <a:rPr lang="en-US" b="1"/>
            <a:t>Create (+)</a:t>
          </a:r>
          <a:r>
            <a:rPr lang="en-US"/>
            <a:t> to add a new sequencing assignment.</a:t>
          </a:r>
        </a:p>
      </dgm:t>
    </dgm:pt>
    <dgm:pt modelId="{300E5254-A543-4DB4-9408-418DBB79B1E5}" type="parTrans" cxnId="{949F1CAC-CD72-4A6B-A5FD-1C5ED8AFA2C5}">
      <dgm:prSet/>
      <dgm:spPr/>
      <dgm:t>
        <a:bodyPr/>
        <a:lstStyle/>
        <a:p>
          <a:endParaRPr lang="en-US"/>
        </a:p>
      </dgm:t>
    </dgm:pt>
    <dgm:pt modelId="{7D45E5CA-F29D-4FE3-88C4-AB4A41A1A114}" type="sibTrans" cxnId="{949F1CAC-CD72-4A6B-A5FD-1C5ED8AFA2C5}">
      <dgm:prSet/>
      <dgm:spPr/>
      <dgm:t>
        <a:bodyPr/>
        <a:lstStyle/>
        <a:p>
          <a:endParaRPr lang="en-US"/>
        </a:p>
      </dgm:t>
    </dgm:pt>
    <dgm:pt modelId="{A426DD4E-7BA3-4086-97EC-8FBA96356166}" type="pres">
      <dgm:prSet presAssocID="{FFB3D3B5-ECB1-4E2C-9058-8E94E5775893}" presName="hierChild1" presStyleCnt="0">
        <dgm:presLayoutVars>
          <dgm:chPref val="1"/>
          <dgm:dir/>
          <dgm:animOne val="branch"/>
          <dgm:animLvl val="lvl"/>
          <dgm:resizeHandles/>
        </dgm:presLayoutVars>
      </dgm:prSet>
      <dgm:spPr/>
    </dgm:pt>
    <dgm:pt modelId="{51124046-55BE-4273-8541-741150717975}" type="pres">
      <dgm:prSet presAssocID="{AE9C7981-CC73-4EAE-AA11-A3CC300DA138}" presName="hierRoot1" presStyleCnt="0"/>
      <dgm:spPr/>
    </dgm:pt>
    <dgm:pt modelId="{0C69CED9-CFDD-4F9C-B9D6-5412B82D2BCD}" type="pres">
      <dgm:prSet presAssocID="{AE9C7981-CC73-4EAE-AA11-A3CC300DA138}" presName="composite" presStyleCnt="0"/>
      <dgm:spPr/>
    </dgm:pt>
    <dgm:pt modelId="{2435CD7F-8497-44EE-8F07-ECDE77EE9FA8}" type="pres">
      <dgm:prSet presAssocID="{AE9C7981-CC73-4EAE-AA11-A3CC300DA138}" presName="background" presStyleLbl="node0" presStyleIdx="0" presStyleCnt="2"/>
      <dgm:spPr/>
    </dgm:pt>
    <dgm:pt modelId="{875FCDC0-AA67-4333-AE8F-7029A3B28CB1}" type="pres">
      <dgm:prSet presAssocID="{AE9C7981-CC73-4EAE-AA11-A3CC300DA138}" presName="text" presStyleLbl="fgAcc0" presStyleIdx="0" presStyleCnt="2">
        <dgm:presLayoutVars>
          <dgm:chPref val="3"/>
        </dgm:presLayoutVars>
      </dgm:prSet>
      <dgm:spPr/>
    </dgm:pt>
    <dgm:pt modelId="{0AA5231A-4D23-41AA-B476-65A5BF873B96}" type="pres">
      <dgm:prSet presAssocID="{AE9C7981-CC73-4EAE-AA11-A3CC300DA138}" presName="hierChild2" presStyleCnt="0"/>
      <dgm:spPr/>
    </dgm:pt>
    <dgm:pt modelId="{2750B215-3A46-443B-89DF-C6BBCA71CEC8}" type="pres">
      <dgm:prSet presAssocID="{B52BE460-97B2-478A-A843-47303F3A32C3}" presName="hierRoot1" presStyleCnt="0"/>
      <dgm:spPr/>
    </dgm:pt>
    <dgm:pt modelId="{53500B1D-396E-44B6-980B-558D9C3243D6}" type="pres">
      <dgm:prSet presAssocID="{B52BE460-97B2-478A-A843-47303F3A32C3}" presName="composite" presStyleCnt="0"/>
      <dgm:spPr/>
    </dgm:pt>
    <dgm:pt modelId="{88844430-3BE0-457D-911C-425DD35E0B45}" type="pres">
      <dgm:prSet presAssocID="{B52BE460-97B2-478A-A843-47303F3A32C3}" presName="background" presStyleLbl="node0" presStyleIdx="1" presStyleCnt="2"/>
      <dgm:spPr/>
    </dgm:pt>
    <dgm:pt modelId="{11702012-C84D-422F-B13C-E432496B8342}" type="pres">
      <dgm:prSet presAssocID="{B52BE460-97B2-478A-A843-47303F3A32C3}" presName="text" presStyleLbl="fgAcc0" presStyleIdx="1" presStyleCnt="2">
        <dgm:presLayoutVars>
          <dgm:chPref val="3"/>
        </dgm:presLayoutVars>
      </dgm:prSet>
      <dgm:spPr/>
    </dgm:pt>
    <dgm:pt modelId="{6A5D79AC-F618-41CD-8879-5C438CAC7A3B}" type="pres">
      <dgm:prSet presAssocID="{B52BE460-97B2-478A-A843-47303F3A32C3}" presName="hierChild2" presStyleCnt="0"/>
      <dgm:spPr/>
    </dgm:pt>
  </dgm:ptLst>
  <dgm:cxnLst>
    <dgm:cxn modelId="{3EAD0D25-BFFF-4A46-925B-3ECA18FD9C8D}" srcId="{FFB3D3B5-ECB1-4E2C-9058-8E94E5775893}" destId="{AE9C7981-CC73-4EAE-AA11-A3CC300DA138}" srcOrd="0" destOrd="0" parTransId="{AEB1468D-0965-44FE-A1AE-C15EA826F2F2}" sibTransId="{6C7A09A4-BBF9-460A-8E17-3ABABE125F7B}"/>
    <dgm:cxn modelId="{275F753C-D848-47CD-B7D0-B2C0C638C775}" type="presOf" srcId="{AE9C7981-CC73-4EAE-AA11-A3CC300DA138}" destId="{875FCDC0-AA67-4333-AE8F-7029A3B28CB1}" srcOrd="0" destOrd="0" presId="urn:microsoft.com/office/officeart/2005/8/layout/hierarchy1"/>
    <dgm:cxn modelId="{4375134A-E00C-48F3-B517-F83160299CB3}" type="presOf" srcId="{FFB3D3B5-ECB1-4E2C-9058-8E94E5775893}" destId="{A426DD4E-7BA3-4086-97EC-8FBA96356166}" srcOrd="0" destOrd="0" presId="urn:microsoft.com/office/officeart/2005/8/layout/hierarchy1"/>
    <dgm:cxn modelId="{CB89C98C-7960-49C1-BEBA-E3223E721524}" type="presOf" srcId="{B52BE460-97B2-478A-A843-47303F3A32C3}" destId="{11702012-C84D-422F-B13C-E432496B8342}" srcOrd="0" destOrd="0" presId="urn:microsoft.com/office/officeart/2005/8/layout/hierarchy1"/>
    <dgm:cxn modelId="{949F1CAC-CD72-4A6B-A5FD-1C5ED8AFA2C5}" srcId="{FFB3D3B5-ECB1-4E2C-9058-8E94E5775893}" destId="{B52BE460-97B2-478A-A843-47303F3A32C3}" srcOrd="1" destOrd="0" parTransId="{300E5254-A543-4DB4-9408-418DBB79B1E5}" sibTransId="{7D45E5CA-F29D-4FE3-88C4-AB4A41A1A114}"/>
    <dgm:cxn modelId="{5E0B75D8-B85F-4F5E-96A2-0ACCC469851D}" type="presParOf" srcId="{A426DD4E-7BA3-4086-97EC-8FBA96356166}" destId="{51124046-55BE-4273-8541-741150717975}" srcOrd="0" destOrd="0" presId="urn:microsoft.com/office/officeart/2005/8/layout/hierarchy1"/>
    <dgm:cxn modelId="{5F800FAB-122D-4B50-9BD1-912A32D2F289}" type="presParOf" srcId="{51124046-55BE-4273-8541-741150717975}" destId="{0C69CED9-CFDD-4F9C-B9D6-5412B82D2BCD}" srcOrd="0" destOrd="0" presId="urn:microsoft.com/office/officeart/2005/8/layout/hierarchy1"/>
    <dgm:cxn modelId="{D436F6E8-673F-4B38-8AD7-32D51D1956AB}" type="presParOf" srcId="{0C69CED9-CFDD-4F9C-B9D6-5412B82D2BCD}" destId="{2435CD7F-8497-44EE-8F07-ECDE77EE9FA8}" srcOrd="0" destOrd="0" presId="urn:microsoft.com/office/officeart/2005/8/layout/hierarchy1"/>
    <dgm:cxn modelId="{3CE3C6BC-FB8B-4043-B7D1-105116A112B9}" type="presParOf" srcId="{0C69CED9-CFDD-4F9C-B9D6-5412B82D2BCD}" destId="{875FCDC0-AA67-4333-AE8F-7029A3B28CB1}" srcOrd="1" destOrd="0" presId="urn:microsoft.com/office/officeart/2005/8/layout/hierarchy1"/>
    <dgm:cxn modelId="{4C135924-B088-426C-BEDA-5157CC0CFA34}" type="presParOf" srcId="{51124046-55BE-4273-8541-741150717975}" destId="{0AA5231A-4D23-41AA-B476-65A5BF873B96}" srcOrd="1" destOrd="0" presId="urn:microsoft.com/office/officeart/2005/8/layout/hierarchy1"/>
    <dgm:cxn modelId="{55270555-8F05-44FC-B134-A02F4370DEF0}" type="presParOf" srcId="{A426DD4E-7BA3-4086-97EC-8FBA96356166}" destId="{2750B215-3A46-443B-89DF-C6BBCA71CEC8}" srcOrd="1" destOrd="0" presId="urn:microsoft.com/office/officeart/2005/8/layout/hierarchy1"/>
    <dgm:cxn modelId="{F791AEB9-D6F2-45DD-B017-B0542E0444AB}" type="presParOf" srcId="{2750B215-3A46-443B-89DF-C6BBCA71CEC8}" destId="{53500B1D-396E-44B6-980B-558D9C3243D6}" srcOrd="0" destOrd="0" presId="urn:microsoft.com/office/officeart/2005/8/layout/hierarchy1"/>
    <dgm:cxn modelId="{04550BC0-5C4D-4D6B-AA99-24C3AC04DE09}" type="presParOf" srcId="{53500B1D-396E-44B6-980B-558D9C3243D6}" destId="{88844430-3BE0-457D-911C-425DD35E0B45}" srcOrd="0" destOrd="0" presId="urn:microsoft.com/office/officeart/2005/8/layout/hierarchy1"/>
    <dgm:cxn modelId="{F3852C85-877C-44ED-854F-AA1AC584A1AE}" type="presParOf" srcId="{53500B1D-396E-44B6-980B-558D9C3243D6}" destId="{11702012-C84D-422F-B13C-E432496B8342}" srcOrd="1" destOrd="0" presId="urn:microsoft.com/office/officeart/2005/8/layout/hierarchy1"/>
    <dgm:cxn modelId="{6E9868DC-F8AA-405E-B064-CE0D86566048}" type="presParOf" srcId="{2750B215-3A46-443B-89DF-C6BBCA71CEC8}" destId="{6A5D79AC-F618-41CD-8879-5C438CAC7A3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A97163B-DC95-4290-93EF-0D16AE142C0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F03D2C6-BD9A-4132-BFB8-FDB7F6D2E83E}">
      <dgm:prSet/>
      <dgm:spPr/>
      <dgm:t>
        <a:bodyPr/>
        <a:lstStyle/>
        <a:p>
          <a:r>
            <a:rPr lang="en-US"/>
            <a:t>Change the </a:t>
          </a:r>
          <a:r>
            <a:rPr lang="en-US" b="1"/>
            <a:t>Sequencing Event</a:t>
          </a:r>
          <a:r>
            <a:rPr lang="en-US"/>
            <a:t> to </a:t>
          </a:r>
          <a:r>
            <a:rPr lang="en-US" b="1"/>
            <a:t>Period Close</a:t>
          </a:r>
          <a:r>
            <a:rPr lang="en-US"/>
            <a:t> to sequence journals when the period is closed.</a:t>
          </a:r>
        </a:p>
      </dgm:t>
    </dgm:pt>
    <dgm:pt modelId="{9985D5CF-503B-41E6-A375-9CBBC2AF0877}" type="parTrans" cxnId="{4C0E8E38-7E5A-4E67-8292-D676115F6524}">
      <dgm:prSet/>
      <dgm:spPr/>
      <dgm:t>
        <a:bodyPr/>
        <a:lstStyle/>
        <a:p>
          <a:endParaRPr lang="en-US"/>
        </a:p>
      </dgm:t>
    </dgm:pt>
    <dgm:pt modelId="{BC7CCAEE-58E8-4270-A057-17AD31894BD3}" type="sibTrans" cxnId="{4C0E8E38-7E5A-4E67-8292-D676115F6524}">
      <dgm:prSet/>
      <dgm:spPr/>
      <dgm:t>
        <a:bodyPr/>
        <a:lstStyle/>
        <a:p>
          <a:endParaRPr lang="en-US"/>
        </a:p>
      </dgm:t>
    </dgm:pt>
    <dgm:pt modelId="{0E691902-A437-4493-8C87-6C2C6D5E6DCD}">
      <dgm:prSet/>
      <dgm:spPr/>
      <dgm:t>
        <a:bodyPr/>
        <a:lstStyle/>
        <a:p>
          <a:r>
            <a:rPr lang="en-US"/>
            <a:t>The </a:t>
          </a:r>
          <a:r>
            <a:rPr lang="en-US" b="1"/>
            <a:t>Fiscal Balancing Segment Values</a:t>
          </a:r>
          <a:r>
            <a:rPr lang="en-US"/>
            <a:t> region lists the balancing segments, 10 (Nile Smart Systems) and 20 (Nile Smart Factory), flagged as </a:t>
          </a:r>
          <a:r>
            <a:rPr lang="en-US" b="1"/>
            <a:t>Fiscal</a:t>
          </a:r>
          <a:r>
            <a:rPr lang="en-US"/>
            <a:t>.</a:t>
          </a:r>
        </a:p>
      </dgm:t>
    </dgm:pt>
    <dgm:pt modelId="{0B78AE9B-16F7-4111-A33A-0DCF3CDB0748}" type="parTrans" cxnId="{C6B03140-BC02-47E9-9B94-2271FB8A0E62}">
      <dgm:prSet/>
      <dgm:spPr/>
      <dgm:t>
        <a:bodyPr/>
        <a:lstStyle/>
        <a:p>
          <a:endParaRPr lang="en-US"/>
        </a:p>
      </dgm:t>
    </dgm:pt>
    <dgm:pt modelId="{82430E10-CE82-467E-BA3D-F39EBE5EBC6A}" type="sibTrans" cxnId="{C6B03140-BC02-47E9-9B94-2271FB8A0E62}">
      <dgm:prSet/>
      <dgm:spPr/>
      <dgm:t>
        <a:bodyPr/>
        <a:lstStyle/>
        <a:p>
          <a:endParaRPr lang="en-US"/>
        </a:p>
      </dgm:t>
    </dgm:pt>
    <dgm:pt modelId="{ED052262-79EC-4D34-A12F-16C590AABFE9}">
      <dgm:prSet/>
      <dgm:spPr/>
      <dgm:t>
        <a:bodyPr/>
        <a:lstStyle/>
        <a:p>
          <a:r>
            <a:rPr lang="en-US"/>
            <a:t>The same sequence and control attributes (Journal Source = All, Journal Category = NSS_Category) are associated.</a:t>
          </a:r>
        </a:p>
      </dgm:t>
    </dgm:pt>
    <dgm:pt modelId="{C8EEC7E3-AB08-4543-81B4-81C53666E85D}" type="parTrans" cxnId="{6A51BAF7-126F-475D-961A-5406C26641A3}">
      <dgm:prSet/>
      <dgm:spPr/>
      <dgm:t>
        <a:bodyPr/>
        <a:lstStyle/>
        <a:p>
          <a:endParaRPr lang="en-US"/>
        </a:p>
      </dgm:t>
    </dgm:pt>
    <dgm:pt modelId="{DA3722E5-8D56-4FC9-8BFC-3DBB8029DA5B}" type="sibTrans" cxnId="{6A51BAF7-126F-475D-961A-5406C26641A3}">
      <dgm:prSet/>
      <dgm:spPr/>
      <dgm:t>
        <a:bodyPr/>
        <a:lstStyle/>
        <a:p>
          <a:endParaRPr lang="en-US"/>
        </a:p>
      </dgm:t>
    </dgm:pt>
    <dgm:pt modelId="{6A8F63C4-138D-4C7C-AFFD-051CD7DBC9A9}">
      <dgm:prSet/>
      <dgm:spPr/>
      <dgm:t>
        <a:bodyPr/>
        <a:lstStyle/>
        <a:p>
          <a:r>
            <a:rPr lang="en-US"/>
            <a:t>Click </a:t>
          </a:r>
          <a:r>
            <a:rPr lang="en-US" b="1"/>
            <a:t>Save and Close</a:t>
          </a:r>
          <a:r>
            <a:rPr lang="en-US"/>
            <a:t> to complete the assignment.</a:t>
          </a:r>
        </a:p>
      </dgm:t>
    </dgm:pt>
    <dgm:pt modelId="{6ED1124B-7255-47F4-B310-26B8AED74214}" type="parTrans" cxnId="{915D327C-5171-45A5-94D7-2B3487630A32}">
      <dgm:prSet/>
      <dgm:spPr/>
      <dgm:t>
        <a:bodyPr/>
        <a:lstStyle/>
        <a:p>
          <a:endParaRPr lang="en-US"/>
        </a:p>
      </dgm:t>
    </dgm:pt>
    <dgm:pt modelId="{53C66F01-ABA0-441B-AB7B-76AA6EA9E07C}" type="sibTrans" cxnId="{915D327C-5171-45A5-94D7-2B3487630A32}">
      <dgm:prSet/>
      <dgm:spPr/>
      <dgm:t>
        <a:bodyPr/>
        <a:lstStyle/>
        <a:p>
          <a:endParaRPr lang="en-US"/>
        </a:p>
      </dgm:t>
    </dgm:pt>
    <dgm:pt modelId="{1EBD1D14-8BEC-4A20-B7BA-DB00397EB415}" type="pres">
      <dgm:prSet presAssocID="{8A97163B-DC95-4290-93EF-0D16AE142C06}" presName="linear" presStyleCnt="0">
        <dgm:presLayoutVars>
          <dgm:animLvl val="lvl"/>
          <dgm:resizeHandles val="exact"/>
        </dgm:presLayoutVars>
      </dgm:prSet>
      <dgm:spPr/>
    </dgm:pt>
    <dgm:pt modelId="{1248C898-AB94-43D4-A50C-D13EDD3FF6D6}" type="pres">
      <dgm:prSet presAssocID="{DF03D2C6-BD9A-4132-BFB8-FDB7F6D2E83E}" presName="parentText" presStyleLbl="node1" presStyleIdx="0" presStyleCnt="4">
        <dgm:presLayoutVars>
          <dgm:chMax val="0"/>
          <dgm:bulletEnabled val="1"/>
        </dgm:presLayoutVars>
      </dgm:prSet>
      <dgm:spPr/>
    </dgm:pt>
    <dgm:pt modelId="{7B3F6A9B-8FD4-4B14-B8CE-1BBE1340ED52}" type="pres">
      <dgm:prSet presAssocID="{BC7CCAEE-58E8-4270-A057-17AD31894BD3}" presName="spacer" presStyleCnt="0"/>
      <dgm:spPr/>
    </dgm:pt>
    <dgm:pt modelId="{0FDCA883-58D3-4DF8-A8DE-4FF0C74BEB39}" type="pres">
      <dgm:prSet presAssocID="{0E691902-A437-4493-8C87-6C2C6D5E6DCD}" presName="parentText" presStyleLbl="node1" presStyleIdx="1" presStyleCnt="4">
        <dgm:presLayoutVars>
          <dgm:chMax val="0"/>
          <dgm:bulletEnabled val="1"/>
        </dgm:presLayoutVars>
      </dgm:prSet>
      <dgm:spPr/>
    </dgm:pt>
    <dgm:pt modelId="{8659A87D-BE88-424D-A136-FD1F9AA8A6C0}" type="pres">
      <dgm:prSet presAssocID="{82430E10-CE82-467E-BA3D-F39EBE5EBC6A}" presName="spacer" presStyleCnt="0"/>
      <dgm:spPr/>
    </dgm:pt>
    <dgm:pt modelId="{F6A0AB98-3E24-4F8D-B71E-2AA197E403FC}" type="pres">
      <dgm:prSet presAssocID="{ED052262-79EC-4D34-A12F-16C590AABFE9}" presName="parentText" presStyleLbl="node1" presStyleIdx="2" presStyleCnt="4">
        <dgm:presLayoutVars>
          <dgm:chMax val="0"/>
          <dgm:bulletEnabled val="1"/>
        </dgm:presLayoutVars>
      </dgm:prSet>
      <dgm:spPr/>
    </dgm:pt>
    <dgm:pt modelId="{1377B477-D579-4CF6-B0C8-079ED66CFD8E}" type="pres">
      <dgm:prSet presAssocID="{DA3722E5-8D56-4FC9-8BFC-3DBB8029DA5B}" presName="spacer" presStyleCnt="0"/>
      <dgm:spPr/>
    </dgm:pt>
    <dgm:pt modelId="{E280B4F9-779E-4167-9801-C107630AB2C1}" type="pres">
      <dgm:prSet presAssocID="{6A8F63C4-138D-4C7C-AFFD-051CD7DBC9A9}" presName="parentText" presStyleLbl="node1" presStyleIdx="3" presStyleCnt="4">
        <dgm:presLayoutVars>
          <dgm:chMax val="0"/>
          <dgm:bulletEnabled val="1"/>
        </dgm:presLayoutVars>
      </dgm:prSet>
      <dgm:spPr/>
    </dgm:pt>
  </dgm:ptLst>
  <dgm:cxnLst>
    <dgm:cxn modelId="{A122A42A-AFBD-40B7-BA40-B8FBAA541C30}" type="presOf" srcId="{ED052262-79EC-4D34-A12F-16C590AABFE9}" destId="{F6A0AB98-3E24-4F8D-B71E-2AA197E403FC}" srcOrd="0" destOrd="0" presId="urn:microsoft.com/office/officeart/2005/8/layout/vList2"/>
    <dgm:cxn modelId="{4C0E8E38-7E5A-4E67-8292-D676115F6524}" srcId="{8A97163B-DC95-4290-93EF-0D16AE142C06}" destId="{DF03D2C6-BD9A-4132-BFB8-FDB7F6D2E83E}" srcOrd="0" destOrd="0" parTransId="{9985D5CF-503B-41E6-A375-9CBBC2AF0877}" sibTransId="{BC7CCAEE-58E8-4270-A057-17AD31894BD3}"/>
    <dgm:cxn modelId="{C6B03140-BC02-47E9-9B94-2271FB8A0E62}" srcId="{8A97163B-DC95-4290-93EF-0D16AE142C06}" destId="{0E691902-A437-4493-8C87-6C2C6D5E6DCD}" srcOrd="1" destOrd="0" parTransId="{0B78AE9B-16F7-4111-A33A-0DCF3CDB0748}" sibTransId="{82430E10-CE82-467E-BA3D-F39EBE5EBC6A}"/>
    <dgm:cxn modelId="{B4BFB05D-9563-4298-8E83-046998E9009D}" type="presOf" srcId="{6A8F63C4-138D-4C7C-AFFD-051CD7DBC9A9}" destId="{E280B4F9-779E-4167-9801-C107630AB2C1}" srcOrd="0" destOrd="0" presId="urn:microsoft.com/office/officeart/2005/8/layout/vList2"/>
    <dgm:cxn modelId="{2530A17A-7FCD-430D-BC9F-89184AB7EC22}" type="presOf" srcId="{8A97163B-DC95-4290-93EF-0D16AE142C06}" destId="{1EBD1D14-8BEC-4A20-B7BA-DB00397EB415}" srcOrd="0" destOrd="0" presId="urn:microsoft.com/office/officeart/2005/8/layout/vList2"/>
    <dgm:cxn modelId="{915D327C-5171-45A5-94D7-2B3487630A32}" srcId="{8A97163B-DC95-4290-93EF-0D16AE142C06}" destId="{6A8F63C4-138D-4C7C-AFFD-051CD7DBC9A9}" srcOrd="3" destOrd="0" parTransId="{6ED1124B-7255-47F4-B310-26B8AED74214}" sibTransId="{53C66F01-ABA0-441B-AB7B-76AA6EA9E07C}"/>
    <dgm:cxn modelId="{9B54AC89-FA39-4E64-B661-6526DE464467}" type="presOf" srcId="{0E691902-A437-4493-8C87-6C2C6D5E6DCD}" destId="{0FDCA883-58D3-4DF8-A8DE-4FF0C74BEB39}" srcOrd="0" destOrd="0" presId="urn:microsoft.com/office/officeart/2005/8/layout/vList2"/>
    <dgm:cxn modelId="{1D065DD6-DA0D-4839-9E26-2AEF3BC68E1E}" type="presOf" srcId="{DF03D2C6-BD9A-4132-BFB8-FDB7F6D2E83E}" destId="{1248C898-AB94-43D4-A50C-D13EDD3FF6D6}" srcOrd="0" destOrd="0" presId="urn:microsoft.com/office/officeart/2005/8/layout/vList2"/>
    <dgm:cxn modelId="{6A51BAF7-126F-475D-961A-5406C26641A3}" srcId="{8A97163B-DC95-4290-93EF-0D16AE142C06}" destId="{ED052262-79EC-4D34-A12F-16C590AABFE9}" srcOrd="2" destOrd="0" parTransId="{C8EEC7E3-AB08-4543-81B4-81C53666E85D}" sibTransId="{DA3722E5-8D56-4FC9-8BFC-3DBB8029DA5B}"/>
    <dgm:cxn modelId="{27263807-33B9-453D-B001-038EB27FF848}" type="presParOf" srcId="{1EBD1D14-8BEC-4A20-B7BA-DB00397EB415}" destId="{1248C898-AB94-43D4-A50C-D13EDD3FF6D6}" srcOrd="0" destOrd="0" presId="urn:microsoft.com/office/officeart/2005/8/layout/vList2"/>
    <dgm:cxn modelId="{E1648908-CD1C-441B-83B8-A31CA0715DF3}" type="presParOf" srcId="{1EBD1D14-8BEC-4A20-B7BA-DB00397EB415}" destId="{7B3F6A9B-8FD4-4B14-B8CE-1BBE1340ED52}" srcOrd="1" destOrd="0" presId="urn:microsoft.com/office/officeart/2005/8/layout/vList2"/>
    <dgm:cxn modelId="{D535F020-110C-4C9D-A507-5E6DB2410A33}" type="presParOf" srcId="{1EBD1D14-8BEC-4A20-B7BA-DB00397EB415}" destId="{0FDCA883-58D3-4DF8-A8DE-4FF0C74BEB39}" srcOrd="2" destOrd="0" presId="urn:microsoft.com/office/officeart/2005/8/layout/vList2"/>
    <dgm:cxn modelId="{739BE0AF-1CAA-47D9-8DCA-A5A9CA64C9E9}" type="presParOf" srcId="{1EBD1D14-8BEC-4A20-B7BA-DB00397EB415}" destId="{8659A87D-BE88-424D-A136-FD1F9AA8A6C0}" srcOrd="3" destOrd="0" presId="urn:microsoft.com/office/officeart/2005/8/layout/vList2"/>
    <dgm:cxn modelId="{6962C0BA-6EA1-47C9-ADF3-DD3A59A77A2D}" type="presParOf" srcId="{1EBD1D14-8BEC-4A20-B7BA-DB00397EB415}" destId="{F6A0AB98-3E24-4F8D-B71E-2AA197E403FC}" srcOrd="4" destOrd="0" presId="urn:microsoft.com/office/officeart/2005/8/layout/vList2"/>
    <dgm:cxn modelId="{1FED65C7-4CBD-4D95-A835-6F1580B81DDC}" type="presParOf" srcId="{1EBD1D14-8BEC-4A20-B7BA-DB00397EB415}" destId="{1377B477-D579-4CF6-B0C8-079ED66CFD8E}" srcOrd="5" destOrd="0" presId="urn:microsoft.com/office/officeart/2005/8/layout/vList2"/>
    <dgm:cxn modelId="{DBC4C8E8-7B79-43AC-9869-C0BA05674B4A}" type="presParOf" srcId="{1EBD1D14-8BEC-4A20-B7BA-DB00397EB415}" destId="{E280B4F9-779E-4167-9801-C107630AB2C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310C2D2-17AC-4E05-B275-FA75D3E7BDDC}"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AF0260E4-CEF9-4AC9-96D7-EB62774B7A9D}">
      <dgm:prSet/>
      <dgm:spPr/>
      <dgm:t>
        <a:bodyPr/>
        <a:lstStyle/>
        <a:p>
          <a:pPr>
            <a:lnSpc>
              <a:spcPct val="100000"/>
            </a:lnSpc>
          </a:pPr>
          <a:r>
            <a:rPr lang="en-US"/>
            <a:t>From the </a:t>
          </a:r>
          <a:r>
            <a:rPr lang="en-US" b="1"/>
            <a:t>General Accounting</a:t>
          </a:r>
          <a:r>
            <a:rPr lang="en-US"/>
            <a:t> home page, use </a:t>
          </a:r>
          <a:r>
            <a:rPr lang="en-US" b="1"/>
            <a:t>Quick Actions</a:t>
          </a:r>
          <a:r>
            <a:rPr lang="en-US"/>
            <a:t> (Manage Journals, Create Journal) or the </a:t>
          </a:r>
          <a:r>
            <a:rPr lang="en-US" b="1"/>
            <a:t>Journals</a:t>
          </a:r>
          <a:r>
            <a:rPr lang="en-US"/>
            <a:t> app tile.</a:t>
          </a:r>
        </a:p>
      </dgm:t>
    </dgm:pt>
    <dgm:pt modelId="{63F0E67E-58AB-406E-98A2-831E3BC0D8C2}" type="parTrans" cxnId="{A8EE9B82-76C2-4171-8FC4-7AF3F4C1574F}">
      <dgm:prSet/>
      <dgm:spPr/>
      <dgm:t>
        <a:bodyPr/>
        <a:lstStyle/>
        <a:p>
          <a:endParaRPr lang="en-US"/>
        </a:p>
      </dgm:t>
    </dgm:pt>
    <dgm:pt modelId="{0F66494D-CEA3-48D6-AA0D-F993DB7CC539}" type="sibTrans" cxnId="{A8EE9B82-76C2-4171-8FC4-7AF3F4C1574F}">
      <dgm:prSet/>
      <dgm:spPr/>
      <dgm:t>
        <a:bodyPr/>
        <a:lstStyle/>
        <a:p>
          <a:pPr>
            <a:lnSpc>
              <a:spcPct val="100000"/>
            </a:lnSpc>
          </a:pPr>
          <a:endParaRPr lang="en-US"/>
        </a:p>
      </dgm:t>
    </dgm:pt>
    <dgm:pt modelId="{2B7F5077-0B7F-49DA-B78F-3F32FD673278}">
      <dgm:prSet/>
      <dgm:spPr/>
      <dgm:t>
        <a:bodyPr/>
        <a:lstStyle/>
        <a:p>
          <a:pPr>
            <a:lnSpc>
              <a:spcPct val="100000"/>
            </a:lnSpc>
          </a:pPr>
          <a:r>
            <a:rPr lang="en-US"/>
            <a:t>The </a:t>
          </a:r>
          <a:r>
            <a:rPr lang="en-US" b="1"/>
            <a:t>Journals</a:t>
          </a:r>
          <a:r>
            <a:rPr lang="en-US"/>
            <a:t> work area is the entry point for journal entry, import and posting tasks</a:t>
          </a:r>
        </a:p>
      </dgm:t>
    </dgm:pt>
    <dgm:pt modelId="{9931A266-9DB6-4D71-A42E-938D7AFB06F5}" type="parTrans" cxnId="{F76681EC-146F-4094-91AA-69E36C46D232}">
      <dgm:prSet/>
      <dgm:spPr/>
      <dgm:t>
        <a:bodyPr/>
        <a:lstStyle/>
        <a:p>
          <a:endParaRPr lang="en-US"/>
        </a:p>
      </dgm:t>
    </dgm:pt>
    <dgm:pt modelId="{B0349A4E-0ADF-42CD-A658-9904F52A1367}" type="sibTrans" cxnId="{F76681EC-146F-4094-91AA-69E36C46D232}">
      <dgm:prSet/>
      <dgm:spPr/>
      <dgm:t>
        <a:bodyPr/>
        <a:lstStyle/>
        <a:p>
          <a:endParaRPr lang="en-US"/>
        </a:p>
      </dgm:t>
    </dgm:pt>
    <dgm:pt modelId="{8F967FF1-9A92-4AAB-8589-57E334A3F850}" type="pres">
      <dgm:prSet presAssocID="{2310C2D2-17AC-4E05-B275-FA75D3E7BDDC}" presName="root" presStyleCnt="0">
        <dgm:presLayoutVars>
          <dgm:dir/>
          <dgm:resizeHandles val="exact"/>
        </dgm:presLayoutVars>
      </dgm:prSet>
      <dgm:spPr/>
    </dgm:pt>
    <dgm:pt modelId="{54C31EC5-C159-4FED-8E4E-A4CB03AF5E2A}" type="pres">
      <dgm:prSet presAssocID="{2310C2D2-17AC-4E05-B275-FA75D3E7BDDC}" presName="container" presStyleCnt="0">
        <dgm:presLayoutVars>
          <dgm:dir/>
          <dgm:resizeHandles val="exact"/>
        </dgm:presLayoutVars>
      </dgm:prSet>
      <dgm:spPr/>
    </dgm:pt>
    <dgm:pt modelId="{88FFB6EA-5206-40F2-A8A6-985AD06928AE}" type="pres">
      <dgm:prSet presAssocID="{AF0260E4-CEF9-4AC9-96D7-EB62774B7A9D}" presName="compNode" presStyleCnt="0"/>
      <dgm:spPr/>
    </dgm:pt>
    <dgm:pt modelId="{CBFFAEFE-AE35-4AF8-8E5D-BE6CE37F2964}" type="pres">
      <dgm:prSet presAssocID="{AF0260E4-CEF9-4AC9-96D7-EB62774B7A9D}" presName="iconBgRect" presStyleLbl="bgShp" presStyleIdx="0" presStyleCnt="2"/>
      <dgm:spPr/>
    </dgm:pt>
    <dgm:pt modelId="{1C8BA470-A20E-43BA-A1DD-DFC5E31CC278}" type="pres">
      <dgm:prSet presAssocID="{AF0260E4-CEF9-4AC9-96D7-EB62774B7A9D}"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losed Book"/>
        </a:ext>
      </dgm:extLst>
    </dgm:pt>
    <dgm:pt modelId="{EF1A9A5B-504A-41B8-828F-D9814178D8D2}" type="pres">
      <dgm:prSet presAssocID="{AF0260E4-CEF9-4AC9-96D7-EB62774B7A9D}" presName="spaceRect" presStyleCnt="0"/>
      <dgm:spPr/>
    </dgm:pt>
    <dgm:pt modelId="{D62A882C-A8A2-4C71-84A3-91049EEF57AF}" type="pres">
      <dgm:prSet presAssocID="{AF0260E4-CEF9-4AC9-96D7-EB62774B7A9D}" presName="textRect" presStyleLbl="revTx" presStyleIdx="0" presStyleCnt="2">
        <dgm:presLayoutVars>
          <dgm:chMax val="1"/>
          <dgm:chPref val="1"/>
        </dgm:presLayoutVars>
      </dgm:prSet>
      <dgm:spPr/>
    </dgm:pt>
    <dgm:pt modelId="{DF5E426C-A404-452B-ABB4-584301392287}" type="pres">
      <dgm:prSet presAssocID="{0F66494D-CEA3-48D6-AA0D-F993DB7CC539}" presName="sibTrans" presStyleLbl="sibTrans2D1" presStyleIdx="0" presStyleCnt="0"/>
      <dgm:spPr/>
    </dgm:pt>
    <dgm:pt modelId="{6FF8208F-66F2-474A-A37F-51F2CE738549}" type="pres">
      <dgm:prSet presAssocID="{2B7F5077-0B7F-49DA-B78F-3F32FD673278}" presName="compNode" presStyleCnt="0"/>
      <dgm:spPr/>
    </dgm:pt>
    <dgm:pt modelId="{0FB9F38E-78E2-4382-ACB3-E6C604FE6767}" type="pres">
      <dgm:prSet presAssocID="{2B7F5077-0B7F-49DA-B78F-3F32FD673278}" presName="iconBgRect" presStyleLbl="bgShp" presStyleIdx="1" presStyleCnt="2"/>
      <dgm:spPr/>
    </dgm:pt>
    <dgm:pt modelId="{6C7632D4-3F9B-4B8F-BA13-8A3736BE9ED0}" type="pres">
      <dgm:prSet presAssocID="{2B7F5077-0B7F-49DA-B78F-3F32FD673278}"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ument"/>
        </a:ext>
      </dgm:extLst>
    </dgm:pt>
    <dgm:pt modelId="{56932B84-7DF9-4F61-97FB-8BD55956053F}" type="pres">
      <dgm:prSet presAssocID="{2B7F5077-0B7F-49DA-B78F-3F32FD673278}" presName="spaceRect" presStyleCnt="0"/>
      <dgm:spPr/>
    </dgm:pt>
    <dgm:pt modelId="{DA81E9E0-98D8-48BB-A2D0-40F95E3140A9}" type="pres">
      <dgm:prSet presAssocID="{2B7F5077-0B7F-49DA-B78F-3F32FD673278}" presName="textRect" presStyleLbl="revTx" presStyleIdx="1" presStyleCnt="2">
        <dgm:presLayoutVars>
          <dgm:chMax val="1"/>
          <dgm:chPref val="1"/>
        </dgm:presLayoutVars>
      </dgm:prSet>
      <dgm:spPr/>
    </dgm:pt>
  </dgm:ptLst>
  <dgm:cxnLst>
    <dgm:cxn modelId="{48BFAF06-03E6-4284-88ED-B08221682C25}" type="presOf" srcId="{AF0260E4-CEF9-4AC9-96D7-EB62774B7A9D}" destId="{D62A882C-A8A2-4C71-84A3-91049EEF57AF}" srcOrd="0" destOrd="0" presId="urn:microsoft.com/office/officeart/2018/2/layout/IconCircleList"/>
    <dgm:cxn modelId="{F1BD8747-A519-4DA2-A53D-8B192C6AD484}" type="presOf" srcId="{2310C2D2-17AC-4E05-B275-FA75D3E7BDDC}" destId="{8F967FF1-9A92-4AAB-8589-57E334A3F850}" srcOrd="0" destOrd="0" presId="urn:microsoft.com/office/officeart/2018/2/layout/IconCircleList"/>
    <dgm:cxn modelId="{A8EE9B82-76C2-4171-8FC4-7AF3F4C1574F}" srcId="{2310C2D2-17AC-4E05-B275-FA75D3E7BDDC}" destId="{AF0260E4-CEF9-4AC9-96D7-EB62774B7A9D}" srcOrd="0" destOrd="0" parTransId="{63F0E67E-58AB-406E-98A2-831E3BC0D8C2}" sibTransId="{0F66494D-CEA3-48D6-AA0D-F993DB7CC539}"/>
    <dgm:cxn modelId="{A45EF19C-2484-4993-B379-1490374B125D}" type="presOf" srcId="{0F66494D-CEA3-48D6-AA0D-F993DB7CC539}" destId="{DF5E426C-A404-452B-ABB4-584301392287}" srcOrd="0" destOrd="0" presId="urn:microsoft.com/office/officeart/2018/2/layout/IconCircleList"/>
    <dgm:cxn modelId="{F0DC06E2-5751-4587-954A-59CDDD4E3613}" type="presOf" srcId="{2B7F5077-0B7F-49DA-B78F-3F32FD673278}" destId="{DA81E9E0-98D8-48BB-A2D0-40F95E3140A9}" srcOrd="0" destOrd="0" presId="urn:microsoft.com/office/officeart/2018/2/layout/IconCircleList"/>
    <dgm:cxn modelId="{F76681EC-146F-4094-91AA-69E36C46D232}" srcId="{2310C2D2-17AC-4E05-B275-FA75D3E7BDDC}" destId="{2B7F5077-0B7F-49DA-B78F-3F32FD673278}" srcOrd="1" destOrd="0" parTransId="{9931A266-9DB6-4D71-A42E-938D7AFB06F5}" sibTransId="{B0349A4E-0ADF-42CD-A658-9904F52A1367}"/>
    <dgm:cxn modelId="{151A8F24-21D9-46A6-B363-4C44CA88E698}" type="presParOf" srcId="{8F967FF1-9A92-4AAB-8589-57E334A3F850}" destId="{54C31EC5-C159-4FED-8E4E-A4CB03AF5E2A}" srcOrd="0" destOrd="0" presId="urn:microsoft.com/office/officeart/2018/2/layout/IconCircleList"/>
    <dgm:cxn modelId="{37D61AB3-A8DC-42EF-83C6-7D2F9967E85D}" type="presParOf" srcId="{54C31EC5-C159-4FED-8E4E-A4CB03AF5E2A}" destId="{88FFB6EA-5206-40F2-A8A6-985AD06928AE}" srcOrd="0" destOrd="0" presId="urn:microsoft.com/office/officeart/2018/2/layout/IconCircleList"/>
    <dgm:cxn modelId="{55D3DEFD-F8AC-439D-8A62-9C99C1B02E71}" type="presParOf" srcId="{88FFB6EA-5206-40F2-A8A6-985AD06928AE}" destId="{CBFFAEFE-AE35-4AF8-8E5D-BE6CE37F2964}" srcOrd="0" destOrd="0" presId="urn:microsoft.com/office/officeart/2018/2/layout/IconCircleList"/>
    <dgm:cxn modelId="{CA05ED26-5AB2-43FC-B7EE-DC861B92F2C6}" type="presParOf" srcId="{88FFB6EA-5206-40F2-A8A6-985AD06928AE}" destId="{1C8BA470-A20E-43BA-A1DD-DFC5E31CC278}" srcOrd="1" destOrd="0" presId="urn:microsoft.com/office/officeart/2018/2/layout/IconCircleList"/>
    <dgm:cxn modelId="{2909A789-14F3-4B75-A536-CDC1DC0F74A4}" type="presParOf" srcId="{88FFB6EA-5206-40F2-A8A6-985AD06928AE}" destId="{EF1A9A5B-504A-41B8-828F-D9814178D8D2}" srcOrd="2" destOrd="0" presId="urn:microsoft.com/office/officeart/2018/2/layout/IconCircleList"/>
    <dgm:cxn modelId="{4D481405-CDD8-4756-BA4A-DC58AA1CD190}" type="presParOf" srcId="{88FFB6EA-5206-40F2-A8A6-985AD06928AE}" destId="{D62A882C-A8A2-4C71-84A3-91049EEF57AF}" srcOrd="3" destOrd="0" presId="urn:microsoft.com/office/officeart/2018/2/layout/IconCircleList"/>
    <dgm:cxn modelId="{5C14E42D-18BA-43FA-8CFA-A5F7D7234DFF}" type="presParOf" srcId="{54C31EC5-C159-4FED-8E4E-A4CB03AF5E2A}" destId="{DF5E426C-A404-452B-ABB4-584301392287}" srcOrd="1" destOrd="0" presId="urn:microsoft.com/office/officeart/2018/2/layout/IconCircleList"/>
    <dgm:cxn modelId="{CAFA580E-E8F3-4E17-BA25-953959DDFB44}" type="presParOf" srcId="{54C31EC5-C159-4FED-8E4E-A4CB03AF5E2A}" destId="{6FF8208F-66F2-474A-A37F-51F2CE738549}" srcOrd="2" destOrd="0" presId="urn:microsoft.com/office/officeart/2018/2/layout/IconCircleList"/>
    <dgm:cxn modelId="{2BC33E32-D2D2-4CB6-AD9E-BD95FED36CF6}" type="presParOf" srcId="{6FF8208F-66F2-474A-A37F-51F2CE738549}" destId="{0FB9F38E-78E2-4382-ACB3-E6C604FE6767}" srcOrd="0" destOrd="0" presId="urn:microsoft.com/office/officeart/2018/2/layout/IconCircleList"/>
    <dgm:cxn modelId="{EB53FED7-7C92-43BC-A8DA-381475208CD8}" type="presParOf" srcId="{6FF8208F-66F2-474A-A37F-51F2CE738549}" destId="{6C7632D4-3F9B-4B8F-BA13-8A3736BE9ED0}" srcOrd="1" destOrd="0" presId="urn:microsoft.com/office/officeart/2018/2/layout/IconCircleList"/>
    <dgm:cxn modelId="{110D8A34-916C-4CF4-97FD-8960097E2976}" type="presParOf" srcId="{6FF8208F-66F2-474A-A37F-51F2CE738549}" destId="{56932B84-7DF9-4F61-97FB-8BD55956053F}" srcOrd="2" destOrd="0" presId="urn:microsoft.com/office/officeart/2018/2/layout/IconCircleList"/>
    <dgm:cxn modelId="{E3052D44-FCB9-48BE-94F1-AF655E984112}" type="presParOf" srcId="{6FF8208F-66F2-474A-A37F-51F2CE738549}" destId="{DA81E9E0-98D8-48BB-A2D0-40F95E3140A9}"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1825990-FD6E-498C-B86C-2E2C73C9DBF9}"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A3C6C92D-D473-4A54-904E-428941A764D9}">
      <dgm:prSet/>
      <dgm:spPr/>
      <dgm:t>
        <a:bodyPr/>
        <a:lstStyle/>
        <a:p>
          <a:r>
            <a:rPr lang="en-US"/>
            <a:t>After the journals are completed, click Post to submit the posting process.</a:t>
          </a:r>
        </a:p>
      </dgm:t>
    </dgm:pt>
    <dgm:pt modelId="{35B4F081-3EE3-4B1B-9D05-96BC9D70F400}" type="parTrans" cxnId="{715E8001-F4AB-43B6-A749-5B57480E9FC1}">
      <dgm:prSet/>
      <dgm:spPr/>
      <dgm:t>
        <a:bodyPr/>
        <a:lstStyle/>
        <a:p>
          <a:endParaRPr lang="en-US"/>
        </a:p>
      </dgm:t>
    </dgm:pt>
    <dgm:pt modelId="{6CB99FD4-7ABC-4169-B64C-C9E1CD03B0D6}" type="sibTrans" cxnId="{715E8001-F4AB-43B6-A749-5B57480E9FC1}">
      <dgm:prSet/>
      <dgm:spPr/>
      <dgm:t>
        <a:bodyPr/>
        <a:lstStyle/>
        <a:p>
          <a:endParaRPr lang="en-US"/>
        </a:p>
      </dgm:t>
    </dgm:pt>
    <dgm:pt modelId="{A34E631D-FFB8-4AD6-9E07-C86975E5A534}">
      <dgm:prSet/>
      <dgm:spPr/>
      <dgm:t>
        <a:bodyPr/>
        <a:lstStyle/>
        <a:p>
          <a:r>
            <a:rPr lang="en-US"/>
            <a:t>The Confirmation message returns the process ID of the submitted job.</a:t>
          </a:r>
        </a:p>
      </dgm:t>
    </dgm:pt>
    <dgm:pt modelId="{0D00AACA-FA16-477A-9B77-D018DE4FFEF4}" type="parTrans" cxnId="{61F4E726-E6BF-4D73-AB0A-FCC1EDCD3265}">
      <dgm:prSet/>
      <dgm:spPr/>
      <dgm:t>
        <a:bodyPr/>
        <a:lstStyle/>
        <a:p>
          <a:endParaRPr lang="en-US"/>
        </a:p>
      </dgm:t>
    </dgm:pt>
    <dgm:pt modelId="{1E851584-57DF-4694-8550-1939145BE887}" type="sibTrans" cxnId="{61F4E726-E6BF-4D73-AB0A-FCC1EDCD3265}">
      <dgm:prSet/>
      <dgm:spPr/>
      <dgm:t>
        <a:bodyPr/>
        <a:lstStyle/>
        <a:p>
          <a:endParaRPr lang="en-US"/>
        </a:p>
      </dgm:t>
    </dgm:pt>
    <dgm:pt modelId="{A5EC411E-F34E-4C6B-8AA6-6D4DE0E3D218}">
      <dgm:prSet/>
      <dgm:spPr/>
      <dgm:t>
        <a:bodyPr/>
        <a:lstStyle/>
        <a:p>
          <a:r>
            <a:rPr lang="en-US"/>
            <a:t>The Batch Status changes to Selected for posting and the Completion Status is Complete.</a:t>
          </a:r>
        </a:p>
      </dgm:t>
    </dgm:pt>
    <dgm:pt modelId="{222D0FC1-E55B-4F0C-ABA3-EE13C826D962}" type="parTrans" cxnId="{4E440AA3-80C2-44C7-AD8E-A36C0C160CAB}">
      <dgm:prSet/>
      <dgm:spPr/>
      <dgm:t>
        <a:bodyPr/>
        <a:lstStyle/>
        <a:p>
          <a:endParaRPr lang="en-US"/>
        </a:p>
      </dgm:t>
    </dgm:pt>
    <dgm:pt modelId="{A77029BC-5198-4EDA-A083-9EED0432D686}" type="sibTrans" cxnId="{4E440AA3-80C2-44C7-AD8E-A36C0C160CAB}">
      <dgm:prSet/>
      <dgm:spPr/>
      <dgm:t>
        <a:bodyPr/>
        <a:lstStyle/>
        <a:p>
          <a:endParaRPr lang="en-US"/>
        </a:p>
      </dgm:t>
    </dgm:pt>
    <dgm:pt modelId="{623E0FD7-FB9B-4328-8DBB-61CD6DA35835}" type="pres">
      <dgm:prSet presAssocID="{01825990-FD6E-498C-B86C-2E2C73C9DBF9}" presName="hierChild1" presStyleCnt="0">
        <dgm:presLayoutVars>
          <dgm:chPref val="1"/>
          <dgm:dir/>
          <dgm:animOne val="branch"/>
          <dgm:animLvl val="lvl"/>
          <dgm:resizeHandles/>
        </dgm:presLayoutVars>
      </dgm:prSet>
      <dgm:spPr/>
    </dgm:pt>
    <dgm:pt modelId="{4A539997-A89F-4ADE-B8C2-08C1A991FB83}" type="pres">
      <dgm:prSet presAssocID="{A3C6C92D-D473-4A54-904E-428941A764D9}" presName="hierRoot1" presStyleCnt="0"/>
      <dgm:spPr/>
    </dgm:pt>
    <dgm:pt modelId="{031E212C-D31F-4DF2-ACCE-B2CD8BE7CB07}" type="pres">
      <dgm:prSet presAssocID="{A3C6C92D-D473-4A54-904E-428941A764D9}" presName="composite" presStyleCnt="0"/>
      <dgm:spPr/>
    </dgm:pt>
    <dgm:pt modelId="{1650A758-1DEC-4575-A0B6-ADF1E7280E66}" type="pres">
      <dgm:prSet presAssocID="{A3C6C92D-D473-4A54-904E-428941A764D9}" presName="background" presStyleLbl="node0" presStyleIdx="0" presStyleCnt="3"/>
      <dgm:spPr/>
    </dgm:pt>
    <dgm:pt modelId="{DE966DD6-3F75-48D1-A8DC-8B19F8368959}" type="pres">
      <dgm:prSet presAssocID="{A3C6C92D-D473-4A54-904E-428941A764D9}" presName="text" presStyleLbl="fgAcc0" presStyleIdx="0" presStyleCnt="3">
        <dgm:presLayoutVars>
          <dgm:chPref val="3"/>
        </dgm:presLayoutVars>
      </dgm:prSet>
      <dgm:spPr/>
    </dgm:pt>
    <dgm:pt modelId="{4467D11A-6E4A-42EA-AEA4-C2B4FA391BBC}" type="pres">
      <dgm:prSet presAssocID="{A3C6C92D-D473-4A54-904E-428941A764D9}" presName="hierChild2" presStyleCnt="0"/>
      <dgm:spPr/>
    </dgm:pt>
    <dgm:pt modelId="{941B801D-7619-458B-8C09-BE26D21E2B49}" type="pres">
      <dgm:prSet presAssocID="{A34E631D-FFB8-4AD6-9E07-C86975E5A534}" presName="hierRoot1" presStyleCnt="0"/>
      <dgm:spPr/>
    </dgm:pt>
    <dgm:pt modelId="{7FE59FB9-57D7-42D4-A081-53723AD682C2}" type="pres">
      <dgm:prSet presAssocID="{A34E631D-FFB8-4AD6-9E07-C86975E5A534}" presName="composite" presStyleCnt="0"/>
      <dgm:spPr/>
    </dgm:pt>
    <dgm:pt modelId="{521C7727-F69F-46D2-9817-401EF8913014}" type="pres">
      <dgm:prSet presAssocID="{A34E631D-FFB8-4AD6-9E07-C86975E5A534}" presName="background" presStyleLbl="node0" presStyleIdx="1" presStyleCnt="3"/>
      <dgm:spPr/>
    </dgm:pt>
    <dgm:pt modelId="{7F83E599-8B9C-4F41-BDCD-A7062D7A3A0B}" type="pres">
      <dgm:prSet presAssocID="{A34E631D-FFB8-4AD6-9E07-C86975E5A534}" presName="text" presStyleLbl="fgAcc0" presStyleIdx="1" presStyleCnt="3">
        <dgm:presLayoutVars>
          <dgm:chPref val="3"/>
        </dgm:presLayoutVars>
      </dgm:prSet>
      <dgm:spPr/>
    </dgm:pt>
    <dgm:pt modelId="{9B7D0285-DEA6-4004-B32F-D4221EB886A3}" type="pres">
      <dgm:prSet presAssocID="{A34E631D-FFB8-4AD6-9E07-C86975E5A534}" presName="hierChild2" presStyleCnt="0"/>
      <dgm:spPr/>
    </dgm:pt>
    <dgm:pt modelId="{2F27E390-7E5F-4193-BE0C-74FBC3216D13}" type="pres">
      <dgm:prSet presAssocID="{A5EC411E-F34E-4C6B-8AA6-6D4DE0E3D218}" presName="hierRoot1" presStyleCnt="0"/>
      <dgm:spPr/>
    </dgm:pt>
    <dgm:pt modelId="{690C0670-5B41-409E-862C-661B1C488446}" type="pres">
      <dgm:prSet presAssocID="{A5EC411E-F34E-4C6B-8AA6-6D4DE0E3D218}" presName="composite" presStyleCnt="0"/>
      <dgm:spPr/>
    </dgm:pt>
    <dgm:pt modelId="{BDF526F1-D7D2-40F5-96EB-7A72D5BBB2D6}" type="pres">
      <dgm:prSet presAssocID="{A5EC411E-F34E-4C6B-8AA6-6D4DE0E3D218}" presName="background" presStyleLbl="node0" presStyleIdx="2" presStyleCnt="3"/>
      <dgm:spPr/>
    </dgm:pt>
    <dgm:pt modelId="{98CDADB7-F0E7-4A97-B9EA-6AE01FCBB4E3}" type="pres">
      <dgm:prSet presAssocID="{A5EC411E-F34E-4C6B-8AA6-6D4DE0E3D218}" presName="text" presStyleLbl="fgAcc0" presStyleIdx="2" presStyleCnt="3">
        <dgm:presLayoutVars>
          <dgm:chPref val="3"/>
        </dgm:presLayoutVars>
      </dgm:prSet>
      <dgm:spPr/>
    </dgm:pt>
    <dgm:pt modelId="{FF2DBE13-CFFD-4FF5-8FE6-8428B44CF0EB}" type="pres">
      <dgm:prSet presAssocID="{A5EC411E-F34E-4C6B-8AA6-6D4DE0E3D218}" presName="hierChild2" presStyleCnt="0"/>
      <dgm:spPr/>
    </dgm:pt>
  </dgm:ptLst>
  <dgm:cxnLst>
    <dgm:cxn modelId="{715E8001-F4AB-43B6-A749-5B57480E9FC1}" srcId="{01825990-FD6E-498C-B86C-2E2C73C9DBF9}" destId="{A3C6C92D-D473-4A54-904E-428941A764D9}" srcOrd="0" destOrd="0" parTransId="{35B4F081-3EE3-4B1B-9D05-96BC9D70F400}" sibTransId="{6CB99FD4-7ABC-4169-B64C-C9E1CD03B0D6}"/>
    <dgm:cxn modelId="{61F4E726-E6BF-4D73-AB0A-FCC1EDCD3265}" srcId="{01825990-FD6E-498C-B86C-2E2C73C9DBF9}" destId="{A34E631D-FFB8-4AD6-9E07-C86975E5A534}" srcOrd="1" destOrd="0" parTransId="{0D00AACA-FA16-477A-9B77-D018DE4FFEF4}" sibTransId="{1E851584-57DF-4694-8550-1939145BE887}"/>
    <dgm:cxn modelId="{5937E760-6763-4646-9744-A15795DC8E0C}" type="presOf" srcId="{A5EC411E-F34E-4C6B-8AA6-6D4DE0E3D218}" destId="{98CDADB7-F0E7-4A97-B9EA-6AE01FCBB4E3}" srcOrd="0" destOrd="0" presId="urn:microsoft.com/office/officeart/2005/8/layout/hierarchy1"/>
    <dgm:cxn modelId="{4150F862-1152-4666-94C4-BC7F2E283180}" type="presOf" srcId="{01825990-FD6E-498C-B86C-2E2C73C9DBF9}" destId="{623E0FD7-FB9B-4328-8DBB-61CD6DA35835}" srcOrd="0" destOrd="0" presId="urn:microsoft.com/office/officeart/2005/8/layout/hierarchy1"/>
    <dgm:cxn modelId="{4DABF66B-720D-46A2-9302-9DFD76E684EB}" type="presOf" srcId="{A34E631D-FFB8-4AD6-9E07-C86975E5A534}" destId="{7F83E599-8B9C-4F41-BDCD-A7062D7A3A0B}" srcOrd="0" destOrd="0" presId="urn:microsoft.com/office/officeart/2005/8/layout/hierarchy1"/>
    <dgm:cxn modelId="{308CC570-B14C-4BF0-8F59-0E435D9AB645}" type="presOf" srcId="{A3C6C92D-D473-4A54-904E-428941A764D9}" destId="{DE966DD6-3F75-48D1-A8DC-8B19F8368959}" srcOrd="0" destOrd="0" presId="urn:microsoft.com/office/officeart/2005/8/layout/hierarchy1"/>
    <dgm:cxn modelId="{4E440AA3-80C2-44C7-AD8E-A36C0C160CAB}" srcId="{01825990-FD6E-498C-B86C-2E2C73C9DBF9}" destId="{A5EC411E-F34E-4C6B-8AA6-6D4DE0E3D218}" srcOrd="2" destOrd="0" parTransId="{222D0FC1-E55B-4F0C-ABA3-EE13C826D962}" sibTransId="{A77029BC-5198-4EDA-A083-9EED0432D686}"/>
    <dgm:cxn modelId="{18906C07-902B-4AC4-B7B3-D6C8B689A938}" type="presParOf" srcId="{623E0FD7-FB9B-4328-8DBB-61CD6DA35835}" destId="{4A539997-A89F-4ADE-B8C2-08C1A991FB83}" srcOrd="0" destOrd="0" presId="urn:microsoft.com/office/officeart/2005/8/layout/hierarchy1"/>
    <dgm:cxn modelId="{FC386513-01D7-41E4-B5AD-DB86D74E07E8}" type="presParOf" srcId="{4A539997-A89F-4ADE-B8C2-08C1A991FB83}" destId="{031E212C-D31F-4DF2-ACCE-B2CD8BE7CB07}" srcOrd="0" destOrd="0" presId="urn:microsoft.com/office/officeart/2005/8/layout/hierarchy1"/>
    <dgm:cxn modelId="{45AFC0D6-53AF-4766-9A6D-46DD89736B13}" type="presParOf" srcId="{031E212C-D31F-4DF2-ACCE-B2CD8BE7CB07}" destId="{1650A758-1DEC-4575-A0B6-ADF1E7280E66}" srcOrd="0" destOrd="0" presId="urn:microsoft.com/office/officeart/2005/8/layout/hierarchy1"/>
    <dgm:cxn modelId="{77C4AADB-A66A-4390-8487-1ED0432D9804}" type="presParOf" srcId="{031E212C-D31F-4DF2-ACCE-B2CD8BE7CB07}" destId="{DE966DD6-3F75-48D1-A8DC-8B19F8368959}" srcOrd="1" destOrd="0" presId="urn:microsoft.com/office/officeart/2005/8/layout/hierarchy1"/>
    <dgm:cxn modelId="{AE870890-05D4-4755-90D8-77D4D65827C8}" type="presParOf" srcId="{4A539997-A89F-4ADE-B8C2-08C1A991FB83}" destId="{4467D11A-6E4A-42EA-AEA4-C2B4FA391BBC}" srcOrd="1" destOrd="0" presId="urn:microsoft.com/office/officeart/2005/8/layout/hierarchy1"/>
    <dgm:cxn modelId="{83100BED-11D2-442B-9434-331F77BCF317}" type="presParOf" srcId="{623E0FD7-FB9B-4328-8DBB-61CD6DA35835}" destId="{941B801D-7619-458B-8C09-BE26D21E2B49}" srcOrd="1" destOrd="0" presId="urn:microsoft.com/office/officeart/2005/8/layout/hierarchy1"/>
    <dgm:cxn modelId="{5591EC50-614E-43C0-ACA0-395347A5E89E}" type="presParOf" srcId="{941B801D-7619-458B-8C09-BE26D21E2B49}" destId="{7FE59FB9-57D7-42D4-A081-53723AD682C2}" srcOrd="0" destOrd="0" presId="urn:microsoft.com/office/officeart/2005/8/layout/hierarchy1"/>
    <dgm:cxn modelId="{0B440AA6-E511-42BD-A8AF-D57FF8DC928A}" type="presParOf" srcId="{7FE59FB9-57D7-42D4-A081-53723AD682C2}" destId="{521C7727-F69F-46D2-9817-401EF8913014}" srcOrd="0" destOrd="0" presId="urn:microsoft.com/office/officeart/2005/8/layout/hierarchy1"/>
    <dgm:cxn modelId="{59E97EC7-685A-4AC0-8BC7-3BD7F9CDCF3F}" type="presParOf" srcId="{7FE59FB9-57D7-42D4-A081-53723AD682C2}" destId="{7F83E599-8B9C-4F41-BDCD-A7062D7A3A0B}" srcOrd="1" destOrd="0" presId="urn:microsoft.com/office/officeart/2005/8/layout/hierarchy1"/>
    <dgm:cxn modelId="{28DE83EC-5391-4713-A219-67F2FE333146}" type="presParOf" srcId="{941B801D-7619-458B-8C09-BE26D21E2B49}" destId="{9B7D0285-DEA6-4004-B32F-D4221EB886A3}" srcOrd="1" destOrd="0" presId="urn:microsoft.com/office/officeart/2005/8/layout/hierarchy1"/>
    <dgm:cxn modelId="{ABBEC093-ED44-486D-9585-F7537A8FD488}" type="presParOf" srcId="{623E0FD7-FB9B-4328-8DBB-61CD6DA35835}" destId="{2F27E390-7E5F-4193-BE0C-74FBC3216D13}" srcOrd="2" destOrd="0" presId="urn:microsoft.com/office/officeart/2005/8/layout/hierarchy1"/>
    <dgm:cxn modelId="{DA701CD4-BC8C-4947-8968-78CCDD56C38A}" type="presParOf" srcId="{2F27E390-7E5F-4193-BE0C-74FBC3216D13}" destId="{690C0670-5B41-409E-862C-661B1C488446}" srcOrd="0" destOrd="0" presId="urn:microsoft.com/office/officeart/2005/8/layout/hierarchy1"/>
    <dgm:cxn modelId="{29804C92-964F-4D5B-A80A-E6A689496C76}" type="presParOf" srcId="{690C0670-5B41-409E-862C-661B1C488446}" destId="{BDF526F1-D7D2-40F5-96EB-7A72D5BBB2D6}" srcOrd="0" destOrd="0" presId="urn:microsoft.com/office/officeart/2005/8/layout/hierarchy1"/>
    <dgm:cxn modelId="{D607F9A9-BC6E-4196-9E9A-7E095301E7FA}" type="presParOf" srcId="{690C0670-5B41-409E-862C-661B1C488446}" destId="{98CDADB7-F0E7-4A97-B9EA-6AE01FCBB4E3}" srcOrd="1" destOrd="0" presId="urn:microsoft.com/office/officeart/2005/8/layout/hierarchy1"/>
    <dgm:cxn modelId="{19A60112-AA79-4CAB-A629-3512ED8C3A77}" type="presParOf" srcId="{2F27E390-7E5F-4193-BE0C-74FBC3216D13}" destId="{FF2DBE13-CFFD-4FF5-8FE6-8428B44CF0E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F262AAC-332E-4263-A158-33BEE222315C}"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18AB175D-6F2E-4AF1-B5F1-CD6FD2BC020A}">
      <dgm:prSet/>
      <dgm:spPr/>
      <dgm:t>
        <a:bodyPr/>
        <a:lstStyle/>
        <a:p>
          <a:r>
            <a:rPr lang="en-US"/>
            <a:t>In Manage Journals, search by Accounting Period (Jan-26) to retrieve the batch.</a:t>
          </a:r>
        </a:p>
      </dgm:t>
    </dgm:pt>
    <dgm:pt modelId="{2E53AFF7-0199-43AB-9078-DD442CBA02F6}" type="parTrans" cxnId="{E8EFA007-A196-453A-93AD-9A2F8B33149A}">
      <dgm:prSet/>
      <dgm:spPr/>
      <dgm:t>
        <a:bodyPr/>
        <a:lstStyle/>
        <a:p>
          <a:endParaRPr lang="en-US"/>
        </a:p>
      </dgm:t>
    </dgm:pt>
    <dgm:pt modelId="{6E48ECE8-9179-42ED-9971-3148E95C64E7}" type="sibTrans" cxnId="{E8EFA007-A196-453A-93AD-9A2F8B33149A}">
      <dgm:prSet/>
      <dgm:spPr/>
      <dgm:t>
        <a:bodyPr/>
        <a:lstStyle/>
        <a:p>
          <a:endParaRPr lang="en-US"/>
        </a:p>
      </dgm:t>
    </dgm:pt>
    <dgm:pt modelId="{82CB5FEC-7740-43E3-810A-8740708F8B1C}">
      <dgm:prSet/>
      <dgm:spPr/>
      <dgm:t>
        <a:bodyPr/>
        <a:lstStyle/>
        <a:p>
          <a:r>
            <a:rPr lang="en-US"/>
            <a:t>All three journals under NSS_Batch 1 show Batch Status = Posted.</a:t>
          </a:r>
        </a:p>
      </dgm:t>
    </dgm:pt>
    <dgm:pt modelId="{13EA56FF-9F89-46CF-B8BF-83657AE2F2AB}" type="parTrans" cxnId="{C04A1CDA-54FA-4190-B9A1-2AFFD7968D2C}">
      <dgm:prSet/>
      <dgm:spPr/>
      <dgm:t>
        <a:bodyPr/>
        <a:lstStyle/>
        <a:p>
          <a:endParaRPr lang="en-US"/>
        </a:p>
      </dgm:t>
    </dgm:pt>
    <dgm:pt modelId="{09F6CBCE-2066-472C-B029-940061493D07}" type="sibTrans" cxnId="{C04A1CDA-54FA-4190-B9A1-2AFFD7968D2C}">
      <dgm:prSet/>
      <dgm:spPr/>
      <dgm:t>
        <a:bodyPr/>
        <a:lstStyle/>
        <a:p>
          <a:endParaRPr lang="en-US"/>
        </a:p>
      </dgm:t>
    </dgm:pt>
    <dgm:pt modelId="{F6AA0207-03CA-477B-A4CA-239C60CB2AF9}">
      <dgm:prSet/>
      <dgm:spPr/>
      <dgm:t>
        <a:bodyPr/>
        <a:lstStyle/>
        <a:p>
          <a:r>
            <a:rPr lang="en-US"/>
            <a:t>Journal Entered Debit equals Journal Entered Credit for each journal (10,000, 20,000 and 10,000 EGP).</a:t>
          </a:r>
        </a:p>
      </dgm:t>
    </dgm:pt>
    <dgm:pt modelId="{26A4EFDD-309D-47A7-8990-97B57694DF2C}" type="parTrans" cxnId="{5D2F6A27-DF18-46B3-9157-56551ECF70B8}">
      <dgm:prSet/>
      <dgm:spPr/>
      <dgm:t>
        <a:bodyPr/>
        <a:lstStyle/>
        <a:p>
          <a:endParaRPr lang="en-US"/>
        </a:p>
      </dgm:t>
    </dgm:pt>
    <dgm:pt modelId="{0970260E-639D-47DD-AB54-FA2DA3FB8F01}" type="sibTrans" cxnId="{5D2F6A27-DF18-46B3-9157-56551ECF70B8}">
      <dgm:prSet/>
      <dgm:spPr/>
      <dgm:t>
        <a:bodyPr/>
        <a:lstStyle/>
        <a:p>
          <a:endParaRPr lang="en-US"/>
        </a:p>
      </dgm:t>
    </dgm:pt>
    <dgm:pt modelId="{92EADC30-2E4A-4EE4-B8FB-6C271626C8DA}" type="pres">
      <dgm:prSet presAssocID="{CF262AAC-332E-4263-A158-33BEE222315C}" presName="hierChild1" presStyleCnt="0">
        <dgm:presLayoutVars>
          <dgm:chPref val="1"/>
          <dgm:dir/>
          <dgm:animOne val="branch"/>
          <dgm:animLvl val="lvl"/>
          <dgm:resizeHandles/>
        </dgm:presLayoutVars>
      </dgm:prSet>
      <dgm:spPr/>
    </dgm:pt>
    <dgm:pt modelId="{B661D48E-2C9D-4C1C-8AB2-2E5821278644}" type="pres">
      <dgm:prSet presAssocID="{18AB175D-6F2E-4AF1-B5F1-CD6FD2BC020A}" presName="hierRoot1" presStyleCnt="0"/>
      <dgm:spPr/>
    </dgm:pt>
    <dgm:pt modelId="{256A385A-6147-43B8-90B1-2A0EA4D14FCA}" type="pres">
      <dgm:prSet presAssocID="{18AB175D-6F2E-4AF1-B5F1-CD6FD2BC020A}" presName="composite" presStyleCnt="0"/>
      <dgm:spPr/>
    </dgm:pt>
    <dgm:pt modelId="{B146137D-8C6B-4641-9B4F-A52C7EFAA333}" type="pres">
      <dgm:prSet presAssocID="{18AB175D-6F2E-4AF1-B5F1-CD6FD2BC020A}" presName="background" presStyleLbl="node0" presStyleIdx="0" presStyleCnt="3"/>
      <dgm:spPr/>
    </dgm:pt>
    <dgm:pt modelId="{AA8C276F-6EC5-4069-801F-0C07FD7B0954}" type="pres">
      <dgm:prSet presAssocID="{18AB175D-6F2E-4AF1-B5F1-CD6FD2BC020A}" presName="text" presStyleLbl="fgAcc0" presStyleIdx="0" presStyleCnt="3">
        <dgm:presLayoutVars>
          <dgm:chPref val="3"/>
        </dgm:presLayoutVars>
      </dgm:prSet>
      <dgm:spPr/>
    </dgm:pt>
    <dgm:pt modelId="{01DFD66E-3BBD-4E13-9890-531983EC5FDE}" type="pres">
      <dgm:prSet presAssocID="{18AB175D-6F2E-4AF1-B5F1-CD6FD2BC020A}" presName="hierChild2" presStyleCnt="0"/>
      <dgm:spPr/>
    </dgm:pt>
    <dgm:pt modelId="{EB9277BF-496E-478D-890D-88BD3968881B}" type="pres">
      <dgm:prSet presAssocID="{82CB5FEC-7740-43E3-810A-8740708F8B1C}" presName="hierRoot1" presStyleCnt="0"/>
      <dgm:spPr/>
    </dgm:pt>
    <dgm:pt modelId="{77C72D10-BC7A-4BAD-90B9-F4860D907F8D}" type="pres">
      <dgm:prSet presAssocID="{82CB5FEC-7740-43E3-810A-8740708F8B1C}" presName="composite" presStyleCnt="0"/>
      <dgm:spPr/>
    </dgm:pt>
    <dgm:pt modelId="{94971B0B-15EF-4341-BE40-4532644483B9}" type="pres">
      <dgm:prSet presAssocID="{82CB5FEC-7740-43E3-810A-8740708F8B1C}" presName="background" presStyleLbl="node0" presStyleIdx="1" presStyleCnt="3"/>
      <dgm:spPr/>
    </dgm:pt>
    <dgm:pt modelId="{FF05B9A5-A4A2-446C-BC5E-7F9D3BBA92B6}" type="pres">
      <dgm:prSet presAssocID="{82CB5FEC-7740-43E3-810A-8740708F8B1C}" presName="text" presStyleLbl="fgAcc0" presStyleIdx="1" presStyleCnt="3">
        <dgm:presLayoutVars>
          <dgm:chPref val="3"/>
        </dgm:presLayoutVars>
      </dgm:prSet>
      <dgm:spPr/>
    </dgm:pt>
    <dgm:pt modelId="{FE13F566-9779-4AEF-9715-1C1BAC8F8340}" type="pres">
      <dgm:prSet presAssocID="{82CB5FEC-7740-43E3-810A-8740708F8B1C}" presName="hierChild2" presStyleCnt="0"/>
      <dgm:spPr/>
    </dgm:pt>
    <dgm:pt modelId="{5532BE6C-5574-43F1-AC2A-EA64409244A4}" type="pres">
      <dgm:prSet presAssocID="{F6AA0207-03CA-477B-A4CA-239C60CB2AF9}" presName="hierRoot1" presStyleCnt="0"/>
      <dgm:spPr/>
    </dgm:pt>
    <dgm:pt modelId="{8ECA4ED4-6728-4688-9F0A-9959EC0F7CF8}" type="pres">
      <dgm:prSet presAssocID="{F6AA0207-03CA-477B-A4CA-239C60CB2AF9}" presName="composite" presStyleCnt="0"/>
      <dgm:spPr/>
    </dgm:pt>
    <dgm:pt modelId="{37E1650F-FA09-4652-9A91-6D9D8AD97E4D}" type="pres">
      <dgm:prSet presAssocID="{F6AA0207-03CA-477B-A4CA-239C60CB2AF9}" presName="background" presStyleLbl="node0" presStyleIdx="2" presStyleCnt="3"/>
      <dgm:spPr/>
    </dgm:pt>
    <dgm:pt modelId="{6198A36C-B670-4CE7-829C-20DA19304690}" type="pres">
      <dgm:prSet presAssocID="{F6AA0207-03CA-477B-A4CA-239C60CB2AF9}" presName="text" presStyleLbl="fgAcc0" presStyleIdx="2" presStyleCnt="3">
        <dgm:presLayoutVars>
          <dgm:chPref val="3"/>
        </dgm:presLayoutVars>
      </dgm:prSet>
      <dgm:spPr/>
    </dgm:pt>
    <dgm:pt modelId="{7D16766D-F5C9-4182-BC80-B0CF454085AC}" type="pres">
      <dgm:prSet presAssocID="{F6AA0207-03CA-477B-A4CA-239C60CB2AF9}" presName="hierChild2" presStyleCnt="0"/>
      <dgm:spPr/>
    </dgm:pt>
  </dgm:ptLst>
  <dgm:cxnLst>
    <dgm:cxn modelId="{E8EFA007-A196-453A-93AD-9A2F8B33149A}" srcId="{CF262AAC-332E-4263-A158-33BEE222315C}" destId="{18AB175D-6F2E-4AF1-B5F1-CD6FD2BC020A}" srcOrd="0" destOrd="0" parTransId="{2E53AFF7-0199-43AB-9078-DD442CBA02F6}" sibTransId="{6E48ECE8-9179-42ED-9971-3148E95C64E7}"/>
    <dgm:cxn modelId="{5D2F6A27-DF18-46B3-9157-56551ECF70B8}" srcId="{CF262AAC-332E-4263-A158-33BEE222315C}" destId="{F6AA0207-03CA-477B-A4CA-239C60CB2AF9}" srcOrd="2" destOrd="0" parTransId="{26A4EFDD-309D-47A7-8990-97B57694DF2C}" sibTransId="{0970260E-639D-47DD-AB54-FA2DA3FB8F01}"/>
    <dgm:cxn modelId="{18B91084-992D-4D2F-8054-5D07E687ABEA}" type="presOf" srcId="{18AB175D-6F2E-4AF1-B5F1-CD6FD2BC020A}" destId="{AA8C276F-6EC5-4069-801F-0C07FD7B0954}" srcOrd="0" destOrd="0" presId="urn:microsoft.com/office/officeart/2005/8/layout/hierarchy1"/>
    <dgm:cxn modelId="{321295C2-9AD6-4BDD-BA51-8D99AB997ABD}" type="presOf" srcId="{82CB5FEC-7740-43E3-810A-8740708F8B1C}" destId="{FF05B9A5-A4A2-446C-BC5E-7F9D3BBA92B6}" srcOrd="0" destOrd="0" presId="urn:microsoft.com/office/officeart/2005/8/layout/hierarchy1"/>
    <dgm:cxn modelId="{AD5AB5CF-BA2D-442D-AF65-D11184FA6F9C}" type="presOf" srcId="{F6AA0207-03CA-477B-A4CA-239C60CB2AF9}" destId="{6198A36C-B670-4CE7-829C-20DA19304690}" srcOrd="0" destOrd="0" presId="urn:microsoft.com/office/officeart/2005/8/layout/hierarchy1"/>
    <dgm:cxn modelId="{C04A1CDA-54FA-4190-B9A1-2AFFD7968D2C}" srcId="{CF262AAC-332E-4263-A158-33BEE222315C}" destId="{82CB5FEC-7740-43E3-810A-8740708F8B1C}" srcOrd="1" destOrd="0" parTransId="{13EA56FF-9F89-46CF-B8BF-83657AE2F2AB}" sibTransId="{09F6CBCE-2066-472C-B029-940061493D07}"/>
    <dgm:cxn modelId="{045CE2F8-E8EA-4990-87FD-136C1ED78B7E}" type="presOf" srcId="{CF262AAC-332E-4263-A158-33BEE222315C}" destId="{92EADC30-2E4A-4EE4-B8FB-6C271626C8DA}" srcOrd="0" destOrd="0" presId="urn:microsoft.com/office/officeart/2005/8/layout/hierarchy1"/>
    <dgm:cxn modelId="{65B95A97-B0F3-40C0-99AA-4F156E9F6411}" type="presParOf" srcId="{92EADC30-2E4A-4EE4-B8FB-6C271626C8DA}" destId="{B661D48E-2C9D-4C1C-8AB2-2E5821278644}" srcOrd="0" destOrd="0" presId="urn:microsoft.com/office/officeart/2005/8/layout/hierarchy1"/>
    <dgm:cxn modelId="{334DACEC-27EF-47B3-9DCA-6F8AC17735DE}" type="presParOf" srcId="{B661D48E-2C9D-4C1C-8AB2-2E5821278644}" destId="{256A385A-6147-43B8-90B1-2A0EA4D14FCA}" srcOrd="0" destOrd="0" presId="urn:microsoft.com/office/officeart/2005/8/layout/hierarchy1"/>
    <dgm:cxn modelId="{CC1C937C-07A7-4BE2-9FCC-B51FD23DEED3}" type="presParOf" srcId="{256A385A-6147-43B8-90B1-2A0EA4D14FCA}" destId="{B146137D-8C6B-4641-9B4F-A52C7EFAA333}" srcOrd="0" destOrd="0" presId="urn:microsoft.com/office/officeart/2005/8/layout/hierarchy1"/>
    <dgm:cxn modelId="{F1EE8692-DC63-45DA-A7D2-BDA8D80C71D2}" type="presParOf" srcId="{256A385A-6147-43B8-90B1-2A0EA4D14FCA}" destId="{AA8C276F-6EC5-4069-801F-0C07FD7B0954}" srcOrd="1" destOrd="0" presId="urn:microsoft.com/office/officeart/2005/8/layout/hierarchy1"/>
    <dgm:cxn modelId="{8B3B34EA-9FF4-4994-B440-A0999C080129}" type="presParOf" srcId="{B661D48E-2C9D-4C1C-8AB2-2E5821278644}" destId="{01DFD66E-3BBD-4E13-9890-531983EC5FDE}" srcOrd="1" destOrd="0" presId="urn:microsoft.com/office/officeart/2005/8/layout/hierarchy1"/>
    <dgm:cxn modelId="{7A40808D-43E1-490A-9824-8A50BFA376D6}" type="presParOf" srcId="{92EADC30-2E4A-4EE4-B8FB-6C271626C8DA}" destId="{EB9277BF-496E-478D-890D-88BD3968881B}" srcOrd="1" destOrd="0" presId="urn:microsoft.com/office/officeart/2005/8/layout/hierarchy1"/>
    <dgm:cxn modelId="{AEA8AB10-4446-415D-A7EA-9E25E2359CF3}" type="presParOf" srcId="{EB9277BF-496E-478D-890D-88BD3968881B}" destId="{77C72D10-BC7A-4BAD-90B9-F4860D907F8D}" srcOrd="0" destOrd="0" presId="urn:microsoft.com/office/officeart/2005/8/layout/hierarchy1"/>
    <dgm:cxn modelId="{7B4FD9ED-5E8E-4CE5-9E4F-3DAD5CD86D17}" type="presParOf" srcId="{77C72D10-BC7A-4BAD-90B9-F4860D907F8D}" destId="{94971B0B-15EF-4341-BE40-4532644483B9}" srcOrd="0" destOrd="0" presId="urn:microsoft.com/office/officeart/2005/8/layout/hierarchy1"/>
    <dgm:cxn modelId="{8EF267E1-632E-40BB-BC3D-09059DAA17C6}" type="presParOf" srcId="{77C72D10-BC7A-4BAD-90B9-F4860D907F8D}" destId="{FF05B9A5-A4A2-446C-BC5E-7F9D3BBA92B6}" srcOrd="1" destOrd="0" presId="urn:microsoft.com/office/officeart/2005/8/layout/hierarchy1"/>
    <dgm:cxn modelId="{12229B61-E800-4CB1-B7F4-B3940EA47F6A}" type="presParOf" srcId="{EB9277BF-496E-478D-890D-88BD3968881B}" destId="{FE13F566-9779-4AEF-9715-1C1BAC8F8340}" srcOrd="1" destOrd="0" presId="urn:microsoft.com/office/officeart/2005/8/layout/hierarchy1"/>
    <dgm:cxn modelId="{E1EFC0EE-004C-4A53-A093-F97F683C0AE3}" type="presParOf" srcId="{92EADC30-2E4A-4EE4-B8FB-6C271626C8DA}" destId="{5532BE6C-5574-43F1-AC2A-EA64409244A4}" srcOrd="2" destOrd="0" presId="urn:microsoft.com/office/officeart/2005/8/layout/hierarchy1"/>
    <dgm:cxn modelId="{04E59413-7307-441F-9B0A-D4C956219662}" type="presParOf" srcId="{5532BE6C-5574-43F1-AC2A-EA64409244A4}" destId="{8ECA4ED4-6728-4688-9F0A-9959EC0F7CF8}" srcOrd="0" destOrd="0" presId="urn:microsoft.com/office/officeart/2005/8/layout/hierarchy1"/>
    <dgm:cxn modelId="{9672CBD3-E3BA-425D-BB2C-4D274388C1BC}" type="presParOf" srcId="{8ECA4ED4-6728-4688-9F0A-9959EC0F7CF8}" destId="{37E1650F-FA09-4652-9A91-6D9D8AD97E4D}" srcOrd="0" destOrd="0" presId="urn:microsoft.com/office/officeart/2005/8/layout/hierarchy1"/>
    <dgm:cxn modelId="{F09BFE63-1D80-4327-94CC-8C3F5E1024C8}" type="presParOf" srcId="{8ECA4ED4-6728-4688-9F0A-9959EC0F7CF8}" destId="{6198A36C-B670-4CE7-829C-20DA19304690}" srcOrd="1" destOrd="0" presId="urn:microsoft.com/office/officeart/2005/8/layout/hierarchy1"/>
    <dgm:cxn modelId="{99FB6ED1-281B-4A47-8E27-345C6DD79BE1}" type="presParOf" srcId="{5532BE6C-5574-43F1-AC2A-EA64409244A4}" destId="{7D16766D-F5C9-4182-BC80-B0CF454085AC}"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B0F7A14-3899-4B8D-8959-FEA9498AF7B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E0D5C70-A10E-48E0-B719-58AD318BC8BA}">
      <dgm:prSet/>
      <dgm:spPr/>
      <dgm:t>
        <a:bodyPr/>
        <a:lstStyle/>
        <a:p>
          <a:pPr>
            <a:lnSpc>
              <a:spcPct val="100000"/>
            </a:lnSpc>
          </a:pPr>
          <a:r>
            <a:rPr lang="en-US"/>
            <a:t>Create the batch header (NSS Batch 2, Accounting Period Feb-26) and the journal (Journal 1, Accounting Date 2/28/2026, Category Accrual).</a:t>
          </a:r>
        </a:p>
      </dgm:t>
    </dgm:pt>
    <dgm:pt modelId="{DD22C5A7-0978-4773-B594-FB3F7150E1C2}" type="parTrans" cxnId="{0F55F31F-43E3-4D1F-9C94-3F6E750CCAC3}">
      <dgm:prSet/>
      <dgm:spPr/>
      <dgm:t>
        <a:bodyPr/>
        <a:lstStyle/>
        <a:p>
          <a:endParaRPr lang="en-US"/>
        </a:p>
      </dgm:t>
    </dgm:pt>
    <dgm:pt modelId="{94D54211-396E-4BF9-B576-88671C88E7F9}" type="sibTrans" cxnId="{0F55F31F-43E3-4D1F-9C94-3F6E750CCAC3}">
      <dgm:prSet/>
      <dgm:spPr/>
      <dgm:t>
        <a:bodyPr/>
        <a:lstStyle/>
        <a:p>
          <a:endParaRPr lang="en-US"/>
        </a:p>
      </dgm:t>
    </dgm:pt>
    <dgm:pt modelId="{CE509D5F-7531-45AE-B43D-4BDBB77BCD3C}">
      <dgm:prSet/>
      <dgm:spPr/>
      <dgm:t>
        <a:bodyPr/>
        <a:lstStyle/>
        <a:p>
          <a:pPr>
            <a:lnSpc>
              <a:spcPct val="100000"/>
            </a:lnSpc>
          </a:pPr>
          <a:r>
            <a:rPr lang="en-US"/>
            <a:t>Enter the Journal Lines: line 1 debit 80,000.00 and line 2 credit 80,000.00 in EGP.</a:t>
          </a:r>
        </a:p>
      </dgm:t>
    </dgm:pt>
    <dgm:pt modelId="{72AE7009-4FA7-4373-BD23-98AEF7A5437F}" type="parTrans" cxnId="{41F91F19-EFE1-4A64-B5C8-A6DB4CF710ED}">
      <dgm:prSet/>
      <dgm:spPr/>
      <dgm:t>
        <a:bodyPr/>
        <a:lstStyle/>
        <a:p>
          <a:endParaRPr lang="en-US"/>
        </a:p>
      </dgm:t>
    </dgm:pt>
    <dgm:pt modelId="{41DB696A-467F-4D18-850E-8ED5450BFF37}" type="sibTrans" cxnId="{41F91F19-EFE1-4A64-B5C8-A6DB4CF710ED}">
      <dgm:prSet/>
      <dgm:spPr/>
      <dgm:t>
        <a:bodyPr/>
        <a:lstStyle/>
        <a:p>
          <a:endParaRPr lang="en-US"/>
        </a:p>
      </dgm:t>
    </dgm:pt>
    <dgm:pt modelId="{09DB7321-5B17-4514-938A-68ED007BB5EC}">
      <dgm:prSet/>
      <dgm:spPr/>
      <dgm:t>
        <a:bodyPr/>
        <a:lstStyle/>
        <a:p>
          <a:pPr>
            <a:lnSpc>
              <a:spcPct val="100000"/>
            </a:lnSpc>
          </a:pPr>
          <a:r>
            <a:rPr lang="en-US"/>
            <a:t>The Total row confirms that debits equal credits before the journal is completed.</a:t>
          </a:r>
        </a:p>
      </dgm:t>
    </dgm:pt>
    <dgm:pt modelId="{EC39CB37-4439-44BB-8731-3D8B3A01CA65}" type="parTrans" cxnId="{A1C36F1D-C9DB-46D1-8B5F-5AB835959C23}">
      <dgm:prSet/>
      <dgm:spPr/>
      <dgm:t>
        <a:bodyPr/>
        <a:lstStyle/>
        <a:p>
          <a:endParaRPr lang="en-US"/>
        </a:p>
      </dgm:t>
    </dgm:pt>
    <dgm:pt modelId="{287ABD2F-0439-4884-8400-E1B32D544794}" type="sibTrans" cxnId="{A1C36F1D-C9DB-46D1-8B5F-5AB835959C23}">
      <dgm:prSet/>
      <dgm:spPr/>
      <dgm:t>
        <a:bodyPr/>
        <a:lstStyle/>
        <a:p>
          <a:endParaRPr lang="en-US"/>
        </a:p>
      </dgm:t>
    </dgm:pt>
    <dgm:pt modelId="{C6E99CC2-E611-489C-A09C-2119459043C5}" type="pres">
      <dgm:prSet presAssocID="{AB0F7A14-3899-4B8D-8959-FEA9498AF7BB}" presName="root" presStyleCnt="0">
        <dgm:presLayoutVars>
          <dgm:dir/>
          <dgm:resizeHandles val="exact"/>
        </dgm:presLayoutVars>
      </dgm:prSet>
      <dgm:spPr/>
    </dgm:pt>
    <dgm:pt modelId="{AC5CB19C-E2D8-41A4-B153-CA5FA4AF8C2E}" type="pres">
      <dgm:prSet presAssocID="{AE0D5C70-A10E-48E0-B719-58AD318BC8BA}" presName="compNode" presStyleCnt="0"/>
      <dgm:spPr/>
    </dgm:pt>
    <dgm:pt modelId="{5D4B1EC4-A5A5-4C20-A5C6-09D63D448B4D}" type="pres">
      <dgm:prSet presAssocID="{AE0D5C70-A10E-48E0-B719-58AD318BC8BA}" presName="bgRect" presStyleLbl="bgShp" presStyleIdx="0" presStyleCnt="3"/>
      <dgm:spPr/>
    </dgm:pt>
    <dgm:pt modelId="{27F815BD-B6B4-4CF7-AC3A-5ADFDE92FD4E}" type="pres">
      <dgm:prSet presAssocID="{AE0D5C70-A10E-48E0-B719-58AD318BC8BA}"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ocument"/>
        </a:ext>
      </dgm:extLst>
    </dgm:pt>
    <dgm:pt modelId="{2D9F8B9A-B2B3-4C21-9100-B58062962342}" type="pres">
      <dgm:prSet presAssocID="{AE0D5C70-A10E-48E0-B719-58AD318BC8BA}" presName="spaceRect" presStyleCnt="0"/>
      <dgm:spPr/>
    </dgm:pt>
    <dgm:pt modelId="{5D9ED285-38C1-4EDE-B2E8-4BBA3BB551D9}" type="pres">
      <dgm:prSet presAssocID="{AE0D5C70-A10E-48E0-B719-58AD318BC8BA}" presName="parTx" presStyleLbl="revTx" presStyleIdx="0" presStyleCnt="3">
        <dgm:presLayoutVars>
          <dgm:chMax val="0"/>
          <dgm:chPref val="0"/>
        </dgm:presLayoutVars>
      </dgm:prSet>
      <dgm:spPr/>
    </dgm:pt>
    <dgm:pt modelId="{22BCF1B0-8B26-48AF-9DB2-8A1FCA223E7D}" type="pres">
      <dgm:prSet presAssocID="{94D54211-396E-4BF9-B576-88671C88E7F9}" presName="sibTrans" presStyleCnt="0"/>
      <dgm:spPr/>
    </dgm:pt>
    <dgm:pt modelId="{2D097D02-4BAB-4F13-B838-A4164D13AB1B}" type="pres">
      <dgm:prSet presAssocID="{CE509D5F-7531-45AE-B43D-4BDBB77BCD3C}" presName="compNode" presStyleCnt="0"/>
      <dgm:spPr/>
    </dgm:pt>
    <dgm:pt modelId="{697D3ADC-5275-44CC-8140-0F2E7377065D}" type="pres">
      <dgm:prSet presAssocID="{CE509D5F-7531-45AE-B43D-4BDBB77BCD3C}" presName="bgRect" presStyleLbl="bgShp" presStyleIdx="1" presStyleCnt="3"/>
      <dgm:spPr/>
    </dgm:pt>
    <dgm:pt modelId="{C7B8A506-F26E-403A-9C2B-DBFB099C6F28}" type="pres">
      <dgm:prSet presAssocID="{CE509D5F-7531-45AE-B43D-4BDBB77BCD3C}"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allet"/>
        </a:ext>
      </dgm:extLst>
    </dgm:pt>
    <dgm:pt modelId="{797F223F-26BA-45C1-8BB2-FC3E824D8CD4}" type="pres">
      <dgm:prSet presAssocID="{CE509D5F-7531-45AE-B43D-4BDBB77BCD3C}" presName="spaceRect" presStyleCnt="0"/>
      <dgm:spPr/>
    </dgm:pt>
    <dgm:pt modelId="{13055BA6-143F-43D6-9438-E93DD32C02DF}" type="pres">
      <dgm:prSet presAssocID="{CE509D5F-7531-45AE-B43D-4BDBB77BCD3C}" presName="parTx" presStyleLbl="revTx" presStyleIdx="1" presStyleCnt="3">
        <dgm:presLayoutVars>
          <dgm:chMax val="0"/>
          <dgm:chPref val="0"/>
        </dgm:presLayoutVars>
      </dgm:prSet>
      <dgm:spPr/>
    </dgm:pt>
    <dgm:pt modelId="{20EE69E9-A1D1-4C0A-BD03-50C370CF720D}" type="pres">
      <dgm:prSet presAssocID="{41DB696A-467F-4D18-850E-8ED5450BFF37}" presName="sibTrans" presStyleCnt="0"/>
      <dgm:spPr/>
    </dgm:pt>
    <dgm:pt modelId="{75E14728-4F03-4A1F-B5F7-1986308262ED}" type="pres">
      <dgm:prSet presAssocID="{09DB7321-5B17-4514-938A-68ED007BB5EC}" presName="compNode" presStyleCnt="0"/>
      <dgm:spPr/>
    </dgm:pt>
    <dgm:pt modelId="{5E5E60F3-4878-47A1-B1D2-BA75BD28A05C}" type="pres">
      <dgm:prSet presAssocID="{09DB7321-5B17-4514-938A-68ED007BB5EC}" presName="bgRect" presStyleLbl="bgShp" presStyleIdx="2" presStyleCnt="3"/>
      <dgm:spPr/>
    </dgm:pt>
    <dgm:pt modelId="{FDCBE7BF-EB09-484A-98C5-E045B6E0DAE4}" type="pres">
      <dgm:prSet presAssocID="{09DB7321-5B17-4514-938A-68ED007BB5EC}"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Calculator"/>
        </a:ext>
      </dgm:extLst>
    </dgm:pt>
    <dgm:pt modelId="{94CC34F4-43F5-4AD7-B0CC-11CFBBC03B15}" type="pres">
      <dgm:prSet presAssocID="{09DB7321-5B17-4514-938A-68ED007BB5EC}" presName="spaceRect" presStyleCnt="0"/>
      <dgm:spPr/>
    </dgm:pt>
    <dgm:pt modelId="{18E86310-A212-4D6F-BEE7-05AB9A879148}" type="pres">
      <dgm:prSet presAssocID="{09DB7321-5B17-4514-938A-68ED007BB5EC}" presName="parTx" presStyleLbl="revTx" presStyleIdx="2" presStyleCnt="3">
        <dgm:presLayoutVars>
          <dgm:chMax val="0"/>
          <dgm:chPref val="0"/>
        </dgm:presLayoutVars>
      </dgm:prSet>
      <dgm:spPr/>
    </dgm:pt>
  </dgm:ptLst>
  <dgm:cxnLst>
    <dgm:cxn modelId="{9991F90F-CA54-4B41-833F-0648F98C5719}" type="presOf" srcId="{09DB7321-5B17-4514-938A-68ED007BB5EC}" destId="{18E86310-A212-4D6F-BEE7-05AB9A879148}" srcOrd="0" destOrd="0" presId="urn:microsoft.com/office/officeart/2018/2/layout/IconVerticalSolidList"/>
    <dgm:cxn modelId="{41F91F19-EFE1-4A64-B5C8-A6DB4CF710ED}" srcId="{AB0F7A14-3899-4B8D-8959-FEA9498AF7BB}" destId="{CE509D5F-7531-45AE-B43D-4BDBB77BCD3C}" srcOrd="1" destOrd="0" parTransId="{72AE7009-4FA7-4373-BD23-98AEF7A5437F}" sibTransId="{41DB696A-467F-4D18-850E-8ED5450BFF37}"/>
    <dgm:cxn modelId="{A1C36F1D-C9DB-46D1-8B5F-5AB835959C23}" srcId="{AB0F7A14-3899-4B8D-8959-FEA9498AF7BB}" destId="{09DB7321-5B17-4514-938A-68ED007BB5EC}" srcOrd="2" destOrd="0" parTransId="{EC39CB37-4439-44BB-8731-3D8B3A01CA65}" sibTransId="{287ABD2F-0439-4884-8400-E1B32D544794}"/>
    <dgm:cxn modelId="{0F55F31F-43E3-4D1F-9C94-3F6E750CCAC3}" srcId="{AB0F7A14-3899-4B8D-8959-FEA9498AF7BB}" destId="{AE0D5C70-A10E-48E0-B719-58AD318BC8BA}" srcOrd="0" destOrd="0" parTransId="{DD22C5A7-0978-4773-B594-FB3F7150E1C2}" sibTransId="{94D54211-396E-4BF9-B576-88671C88E7F9}"/>
    <dgm:cxn modelId="{E2F6D835-FB33-4599-9B8F-55ED1D6D08E2}" type="presOf" srcId="{CE509D5F-7531-45AE-B43D-4BDBB77BCD3C}" destId="{13055BA6-143F-43D6-9438-E93DD32C02DF}" srcOrd="0" destOrd="0" presId="urn:microsoft.com/office/officeart/2018/2/layout/IconVerticalSolidList"/>
    <dgm:cxn modelId="{86DF8A6C-39CA-4FB1-A7D7-3E72F1512FBD}" type="presOf" srcId="{AE0D5C70-A10E-48E0-B719-58AD318BC8BA}" destId="{5D9ED285-38C1-4EDE-B2E8-4BBA3BB551D9}" srcOrd="0" destOrd="0" presId="urn:microsoft.com/office/officeart/2018/2/layout/IconVerticalSolidList"/>
    <dgm:cxn modelId="{AD23C4BC-94C6-4549-87FA-D032302316B0}" type="presOf" srcId="{AB0F7A14-3899-4B8D-8959-FEA9498AF7BB}" destId="{C6E99CC2-E611-489C-A09C-2119459043C5}" srcOrd="0" destOrd="0" presId="urn:microsoft.com/office/officeart/2018/2/layout/IconVerticalSolidList"/>
    <dgm:cxn modelId="{4C4374B3-E050-4C0D-BBB3-E9BADBAFA22A}" type="presParOf" srcId="{C6E99CC2-E611-489C-A09C-2119459043C5}" destId="{AC5CB19C-E2D8-41A4-B153-CA5FA4AF8C2E}" srcOrd="0" destOrd="0" presId="urn:microsoft.com/office/officeart/2018/2/layout/IconVerticalSolidList"/>
    <dgm:cxn modelId="{3FB7AD3E-D31E-45BB-955F-78DC5A758F6C}" type="presParOf" srcId="{AC5CB19C-E2D8-41A4-B153-CA5FA4AF8C2E}" destId="{5D4B1EC4-A5A5-4C20-A5C6-09D63D448B4D}" srcOrd="0" destOrd="0" presId="urn:microsoft.com/office/officeart/2018/2/layout/IconVerticalSolidList"/>
    <dgm:cxn modelId="{DC3888B2-9DDB-4490-B341-AA93C401DF35}" type="presParOf" srcId="{AC5CB19C-E2D8-41A4-B153-CA5FA4AF8C2E}" destId="{27F815BD-B6B4-4CF7-AC3A-5ADFDE92FD4E}" srcOrd="1" destOrd="0" presId="urn:microsoft.com/office/officeart/2018/2/layout/IconVerticalSolidList"/>
    <dgm:cxn modelId="{5FA133A9-DCCF-4129-97ED-A40255BEF7AB}" type="presParOf" srcId="{AC5CB19C-E2D8-41A4-B153-CA5FA4AF8C2E}" destId="{2D9F8B9A-B2B3-4C21-9100-B58062962342}" srcOrd="2" destOrd="0" presId="urn:microsoft.com/office/officeart/2018/2/layout/IconVerticalSolidList"/>
    <dgm:cxn modelId="{EAF1CDC0-316C-4BE0-834B-4FFFB01F556F}" type="presParOf" srcId="{AC5CB19C-E2D8-41A4-B153-CA5FA4AF8C2E}" destId="{5D9ED285-38C1-4EDE-B2E8-4BBA3BB551D9}" srcOrd="3" destOrd="0" presId="urn:microsoft.com/office/officeart/2018/2/layout/IconVerticalSolidList"/>
    <dgm:cxn modelId="{966E218F-AB7B-422A-9222-860529536AD8}" type="presParOf" srcId="{C6E99CC2-E611-489C-A09C-2119459043C5}" destId="{22BCF1B0-8B26-48AF-9DB2-8A1FCA223E7D}" srcOrd="1" destOrd="0" presId="urn:microsoft.com/office/officeart/2018/2/layout/IconVerticalSolidList"/>
    <dgm:cxn modelId="{28EE7B31-3A45-43E2-AA77-B5B57E15537E}" type="presParOf" srcId="{C6E99CC2-E611-489C-A09C-2119459043C5}" destId="{2D097D02-4BAB-4F13-B838-A4164D13AB1B}" srcOrd="2" destOrd="0" presId="urn:microsoft.com/office/officeart/2018/2/layout/IconVerticalSolidList"/>
    <dgm:cxn modelId="{38FE884B-84F0-4350-BA51-E0FF9F12839E}" type="presParOf" srcId="{2D097D02-4BAB-4F13-B838-A4164D13AB1B}" destId="{697D3ADC-5275-44CC-8140-0F2E7377065D}" srcOrd="0" destOrd="0" presId="urn:microsoft.com/office/officeart/2018/2/layout/IconVerticalSolidList"/>
    <dgm:cxn modelId="{89EA28E9-C39D-4363-93CB-D77BA2225765}" type="presParOf" srcId="{2D097D02-4BAB-4F13-B838-A4164D13AB1B}" destId="{C7B8A506-F26E-403A-9C2B-DBFB099C6F28}" srcOrd="1" destOrd="0" presId="urn:microsoft.com/office/officeart/2018/2/layout/IconVerticalSolidList"/>
    <dgm:cxn modelId="{EC7FD0D2-3B86-4A07-99DE-14C6F59BB8A5}" type="presParOf" srcId="{2D097D02-4BAB-4F13-B838-A4164D13AB1B}" destId="{797F223F-26BA-45C1-8BB2-FC3E824D8CD4}" srcOrd="2" destOrd="0" presId="urn:microsoft.com/office/officeart/2018/2/layout/IconVerticalSolidList"/>
    <dgm:cxn modelId="{5CC3F0C1-4B9F-41C7-9850-220FF206BBD0}" type="presParOf" srcId="{2D097D02-4BAB-4F13-B838-A4164D13AB1B}" destId="{13055BA6-143F-43D6-9438-E93DD32C02DF}" srcOrd="3" destOrd="0" presId="urn:microsoft.com/office/officeart/2018/2/layout/IconVerticalSolidList"/>
    <dgm:cxn modelId="{CD82FEA0-F690-472F-81E7-A10204850B1F}" type="presParOf" srcId="{C6E99CC2-E611-489C-A09C-2119459043C5}" destId="{20EE69E9-A1D1-4C0A-BD03-50C370CF720D}" srcOrd="3" destOrd="0" presId="urn:microsoft.com/office/officeart/2018/2/layout/IconVerticalSolidList"/>
    <dgm:cxn modelId="{789B8A82-74DF-4AC2-B33D-1BC4CFFA080B}" type="presParOf" srcId="{C6E99CC2-E611-489C-A09C-2119459043C5}" destId="{75E14728-4F03-4A1F-B5F7-1986308262ED}" srcOrd="4" destOrd="0" presId="urn:microsoft.com/office/officeart/2018/2/layout/IconVerticalSolidList"/>
    <dgm:cxn modelId="{0C66E67A-13C3-4DE4-9114-F3E596B76CA6}" type="presParOf" srcId="{75E14728-4F03-4A1F-B5F7-1986308262ED}" destId="{5E5E60F3-4878-47A1-B1D2-BA75BD28A05C}" srcOrd="0" destOrd="0" presId="urn:microsoft.com/office/officeart/2018/2/layout/IconVerticalSolidList"/>
    <dgm:cxn modelId="{642F12CE-6155-4B02-94AF-CC98919691F7}" type="presParOf" srcId="{75E14728-4F03-4A1F-B5F7-1986308262ED}" destId="{FDCBE7BF-EB09-484A-98C5-E045B6E0DAE4}" srcOrd="1" destOrd="0" presId="urn:microsoft.com/office/officeart/2018/2/layout/IconVerticalSolidList"/>
    <dgm:cxn modelId="{BA82AAFA-C488-4607-98B2-2224F0C1F610}" type="presParOf" srcId="{75E14728-4F03-4A1F-B5F7-1986308262ED}" destId="{94CC34F4-43F5-4AD7-B0CC-11CFBBC03B15}" srcOrd="2" destOrd="0" presId="urn:microsoft.com/office/officeart/2018/2/layout/IconVerticalSolidList"/>
    <dgm:cxn modelId="{77217CD7-279A-4257-9804-E949EBD4D938}" type="presParOf" srcId="{75E14728-4F03-4A1F-B5F7-1986308262ED}" destId="{18E86310-A212-4D6F-BEE7-05AB9A87914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97B25A0-3695-4AB0-8407-1020F6E69946}"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1F799C4E-8FEB-44FD-9947-88CA7C9B8E12}">
      <dgm:prSet/>
      <dgm:spPr/>
      <dgm:t>
        <a:bodyPr/>
        <a:lstStyle/>
        <a:p>
          <a:r>
            <a:rPr lang="en-US"/>
            <a:t>Return to the </a:t>
          </a:r>
          <a:r>
            <a:rPr lang="en-US" b="1"/>
            <a:t>Journals</a:t>
          </a:r>
          <a:r>
            <a:rPr lang="en-US"/>
            <a:t> page and open the </a:t>
          </a:r>
          <a:r>
            <a:rPr lang="en-US" b="1"/>
            <a:t>Tasks</a:t>
          </a:r>
          <a:r>
            <a:rPr lang="en-US"/>
            <a:t> panel.</a:t>
          </a:r>
        </a:p>
      </dgm:t>
    </dgm:pt>
    <dgm:pt modelId="{69D4A56A-5D51-43AD-9F13-81AD947F9F05}" type="parTrans" cxnId="{FA46DB6C-F0E3-4F00-AC7F-463BC7341F9C}">
      <dgm:prSet/>
      <dgm:spPr/>
      <dgm:t>
        <a:bodyPr/>
        <a:lstStyle/>
        <a:p>
          <a:endParaRPr lang="en-US"/>
        </a:p>
      </dgm:t>
    </dgm:pt>
    <dgm:pt modelId="{4D3401E1-2337-4D3A-9DAB-1ABA19BF5F4A}" type="sibTrans" cxnId="{FA46DB6C-F0E3-4F00-AC7F-463BC7341F9C}">
      <dgm:prSet/>
      <dgm:spPr/>
      <dgm:t>
        <a:bodyPr/>
        <a:lstStyle/>
        <a:p>
          <a:endParaRPr lang="en-US"/>
        </a:p>
      </dgm:t>
    </dgm:pt>
    <dgm:pt modelId="{8E51EA65-1CC5-4EF9-9C15-07722FF98D2F}">
      <dgm:prSet/>
      <dgm:spPr/>
      <dgm:t>
        <a:bodyPr/>
        <a:lstStyle/>
        <a:p>
          <a:r>
            <a:rPr lang="en-US"/>
            <a:t>Select </a:t>
          </a:r>
          <a:r>
            <a:rPr lang="en-US" b="1"/>
            <a:t>Manage Journals</a:t>
          </a:r>
          <a:r>
            <a:rPr lang="en-US"/>
            <a:t> to search for posted journals.</a:t>
          </a:r>
        </a:p>
      </dgm:t>
    </dgm:pt>
    <dgm:pt modelId="{27A8BEB6-E035-452C-AADF-851ED091F27D}" type="parTrans" cxnId="{E2830DAE-7524-4E5A-A19E-E1A766B1C432}">
      <dgm:prSet/>
      <dgm:spPr/>
      <dgm:t>
        <a:bodyPr/>
        <a:lstStyle/>
        <a:p>
          <a:endParaRPr lang="en-US"/>
        </a:p>
      </dgm:t>
    </dgm:pt>
    <dgm:pt modelId="{03C29BDA-4E99-48A2-82C5-B8DBA670FF74}" type="sibTrans" cxnId="{E2830DAE-7524-4E5A-A19E-E1A766B1C432}">
      <dgm:prSet/>
      <dgm:spPr/>
      <dgm:t>
        <a:bodyPr/>
        <a:lstStyle/>
        <a:p>
          <a:endParaRPr lang="en-US"/>
        </a:p>
      </dgm:t>
    </dgm:pt>
    <dgm:pt modelId="{4F5A436A-4E90-44DA-8F5C-F7956B1CDC49}" type="pres">
      <dgm:prSet presAssocID="{F97B25A0-3695-4AB0-8407-1020F6E69946}" presName="root" presStyleCnt="0">
        <dgm:presLayoutVars>
          <dgm:dir/>
          <dgm:resizeHandles val="exact"/>
        </dgm:presLayoutVars>
      </dgm:prSet>
      <dgm:spPr/>
    </dgm:pt>
    <dgm:pt modelId="{F080DFBF-A43F-4653-97B3-9D79C7E2CC72}" type="pres">
      <dgm:prSet presAssocID="{F97B25A0-3695-4AB0-8407-1020F6E69946}" presName="container" presStyleCnt="0">
        <dgm:presLayoutVars>
          <dgm:dir/>
          <dgm:resizeHandles val="exact"/>
        </dgm:presLayoutVars>
      </dgm:prSet>
      <dgm:spPr/>
    </dgm:pt>
    <dgm:pt modelId="{C50EB116-BC6A-4991-B4F7-39B207DEF499}" type="pres">
      <dgm:prSet presAssocID="{1F799C4E-8FEB-44FD-9947-88CA7C9B8E12}" presName="compNode" presStyleCnt="0"/>
      <dgm:spPr/>
    </dgm:pt>
    <dgm:pt modelId="{BE878A9C-CBF3-46E9-A018-EE58BCCB26C6}" type="pres">
      <dgm:prSet presAssocID="{1F799C4E-8FEB-44FD-9947-88CA7C9B8E12}" presName="iconBgRect" presStyleLbl="bgShp" presStyleIdx="0" presStyleCnt="2"/>
      <dgm:spPr/>
    </dgm:pt>
    <dgm:pt modelId="{32DBC7E1-D0A2-4F51-9202-CD46F39814A0}" type="pres">
      <dgm:prSet presAssocID="{1F799C4E-8FEB-44FD-9947-88CA7C9B8E12}"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ooks"/>
        </a:ext>
      </dgm:extLst>
    </dgm:pt>
    <dgm:pt modelId="{AAFE3F48-012E-478E-81CF-B9D5A40E4363}" type="pres">
      <dgm:prSet presAssocID="{1F799C4E-8FEB-44FD-9947-88CA7C9B8E12}" presName="spaceRect" presStyleCnt="0"/>
      <dgm:spPr/>
    </dgm:pt>
    <dgm:pt modelId="{28531CC8-0C52-4486-83AC-D9E84473C796}" type="pres">
      <dgm:prSet presAssocID="{1F799C4E-8FEB-44FD-9947-88CA7C9B8E12}" presName="textRect" presStyleLbl="revTx" presStyleIdx="0" presStyleCnt="2">
        <dgm:presLayoutVars>
          <dgm:chMax val="1"/>
          <dgm:chPref val="1"/>
        </dgm:presLayoutVars>
      </dgm:prSet>
      <dgm:spPr/>
    </dgm:pt>
    <dgm:pt modelId="{7D14FC90-A86C-470F-8F9C-73F176EDD6A1}" type="pres">
      <dgm:prSet presAssocID="{4D3401E1-2337-4D3A-9DAB-1ABA19BF5F4A}" presName="sibTrans" presStyleLbl="sibTrans2D1" presStyleIdx="0" presStyleCnt="0"/>
      <dgm:spPr/>
    </dgm:pt>
    <dgm:pt modelId="{720966C7-DBF4-4AF3-9D07-9415E3BCC1CE}" type="pres">
      <dgm:prSet presAssocID="{8E51EA65-1CC5-4EF9-9C15-07722FF98D2F}" presName="compNode" presStyleCnt="0"/>
      <dgm:spPr/>
    </dgm:pt>
    <dgm:pt modelId="{4C651223-2D50-4202-BC90-46A54783214A}" type="pres">
      <dgm:prSet presAssocID="{8E51EA65-1CC5-4EF9-9C15-07722FF98D2F}" presName="iconBgRect" presStyleLbl="bgShp" presStyleIdx="1" presStyleCnt="2"/>
      <dgm:spPr/>
    </dgm:pt>
    <dgm:pt modelId="{CD7E8B3B-74E6-4C37-A753-C98F81FD0FF0}" type="pres">
      <dgm:prSet presAssocID="{8E51EA65-1CC5-4EF9-9C15-07722FF98D2F}"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A1D56B4E-3AEC-43BE-A943-55C542769FF4}" type="pres">
      <dgm:prSet presAssocID="{8E51EA65-1CC5-4EF9-9C15-07722FF98D2F}" presName="spaceRect" presStyleCnt="0"/>
      <dgm:spPr/>
    </dgm:pt>
    <dgm:pt modelId="{27C5B04C-9E59-44F7-B59F-21896B755616}" type="pres">
      <dgm:prSet presAssocID="{8E51EA65-1CC5-4EF9-9C15-07722FF98D2F}" presName="textRect" presStyleLbl="revTx" presStyleIdx="1" presStyleCnt="2">
        <dgm:presLayoutVars>
          <dgm:chMax val="1"/>
          <dgm:chPref val="1"/>
        </dgm:presLayoutVars>
      </dgm:prSet>
      <dgm:spPr/>
    </dgm:pt>
  </dgm:ptLst>
  <dgm:cxnLst>
    <dgm:cxn modelId="{F6E84A21-32E6-4EEA-BA74-6FB7634CFD87}" type="presOf" srcId="{8E51EA65-1CC5-4EF9-9C15-07722FF98D2F}" destId="{27C5B04C-9E59-44F7-B59F-21896B755616}" srcOrd="0" destOrd="0" presId="urn:microsoft.com/office/officeart/2018/2/layout/IconCircleList"/>
    <dgm:cxn modelId="{FA46DB6C-F0E3-4F00-AC7F-463BC7341F9C}" srcId="{F97B25A0-3695-4AB0-8407-1020F6E69946}" destId="{1F799C4E-8FEB-44FD-9947-88CA7C9B8E12}" srcOrd="0" destOrd="0" parTransId="{69D4A56A-5D51-43AD-9F13-81AD947F9F05}" sibTransId="{4D3401E1-2337-4D3A-9DAB-1ABA19BF5F4A}"/>
    <dgm:cxn modelId="{3C51F978-3278-45B4-A1E3-42526D1DC69E}" type="presOf" srcId="{4D3401E1-2337-4D3A-9DAB-1ABA19BF5F4A}" destId="{7D14FC90-A86C-470F-8F9C-73F176EDD6A1}" srcOrd="0" destOrd="0" presId="urn:microsoft.com/office/officeart/2018/2/layout/IconCircleList"/>
    <dgm:cxn modelId="{E2830DAE-7524-4E5A-A19E-E1A766B1C432}" srcId="{F97B25A0-3695-4AB0-8407-1020F6E69946}" destId="{8E51EA65-1CC5-4EF9-9C15-07722FF98D2F}" srcOrd="1" destOrd="0" parTransId="{27A8BEB6-E035-452C-AADF-851ED091F27D}" sibTransId="{03C29BDA-4E99-48A2-82C5-B8DBA670FF74}"/>
    <dgm:cxn modelId="{042F0FD9-7ACE-4035-A0B7-179B324872FC}" type="presOf" srcId="{F97B25A0-3695-4AB0-8407-1020F6E69946}" destId="{4F5A436A-4E90-44DA-8F5C-F7956B1CDC49}" srcOrd="0" destOrd="0" presId="urn:microsoft.com/office/officeart/2018/2/layout/IconCircleList"/>
    <dgm:cxn modelId="{3B68C1EE-A6A3-411F-919F-5E4766AC3EB7}" type="presOf" srcId="{1F799C4E-8FEB-44FD-9947-88CA7C9B8E12}" destId="{28531CC8-0C52-4486-83AC-D9E84473C796}" srcOrd="0" destOrd="0" presId="urn:microsoft.com/office/officeart/2018/2/layout/IconCircleList"/>
    <dgm:cxn modelId="{F220D3CD-CEB9-412E-898E-23DFF4E2995F}" type="presParOf" srcId="{4F5A436A-4E90-44DA-8F5C-F7956B1CDC49}" destId="{F080DFBF-A43F-4653-97B3-9D79C7E2CC72}" srcOrd="0" destOrd="0" presId="urn:microsoft.com/office/officeart/2018/2/layout/IconCircleList"/>
    <dgm:cxn modelId="{57DE605D-A244-4455-9864-20B364C84A5B}" type="presParOf" srcId="{F080DFBF-A43F-4653-97B3-9D79C7E2CC72}" destId="{C50EB116-BC6A-4991-B4F7-39B207DEF499}" srcOrd="0" destOrd="0" presId="urn:microsoft.com/office/officeart/2018/2/layout/IconCircleList"/>
    <dgm:cxn modelId="{9E686C9C-FA5D-4F50-B78B-6ABB53DBF8F4}" type="presParOf" srcId="{C50EB116-BC6A-4991-B4F7-39B207DEF499}" destId="{BE878A9C-CBF3-46E9-A018-EE58BCCB26C6}" srcOrd="0" destOrd="0" presId="urn:microsoft.com/office/officeart/2018/2/layout/IconCircleList"/>
    <dgm:cxn modelId="{C48BD3F9-0D15-4B6F-A30F-556F242F1C80}" type="presParOf" srcId="{C50EB116-BC6A-4991-B4F7-39B207DEF499}" destId="{32DBC7E1-D0A2-4F51-9202-CD46F39814A0}" srcOrd="1" destOrd="0" presId="urn:microsoft.com/office/officeart/2018/2/layout/IconCircleList"/>
    <dgm:cxn modelId="{C092A4AD-B5B1-4FA5-81A0-3419DFA6F4BD}" type="presParOf" srcId="{C50EB116-BC6A-4991-B4F7-39B207DEF499}" destId="{AAFE3F48-012E-478E-81CF-B9D5A40E4363}" srcOrd="2" destOrd="0" presId="urn:microsoft.com/office/officeart/2018/2/layout/IconCircleList"/>
    <dgm:cxn modelId="{3AE585D6-7D15-403E-8D82-6B0724DD0CCA}" type="presParOf" srcId="{C50EB116-BC6A-4991-B4F7-39B207DEF499}" destId="{28531CC8-0C52-4486-83AC-D9E84473C796}" srcOrd="3" destOrd="0" presId="urn:microsoft.com/office/officeart/2018/2/layout/IconCircleList"/>
    <dgm:cxn modelId="{18126768-9608-4FD0-A932-7AD47796E9BD}" type="presParOf" srcId="{F080DFBF-A43F-4653-97B3-9D79C7E2CC72}" destId="{7D14FC90-A86C-470F-8F9C-73F176EDD6A1}" srcOrd="1" destOrd="0" presId="urn:microsoft.com/office/officeart/2018/2/layout/IconCircleList"/>
    <dgm:cxn modelId="{7E7FF2AF-65EF-4EF2-8E80-E98830C17D76}" type="presParOf" srcId="{F080DFBF-A43F-4653-97B3-9D79C7E2CC72}" destId="{720966C7-DBF4-4AF3-9D07-9415E3BCC1CE}" srcOrd="2" destOrd="0" presId="urn:microsoft.com/office/officeart/2018/2/layout/IconCircleList"/>
    <dgm:cxn modelId="{AAF762E5-2F2D-4104-899C-3BA26349BB01}" type="presParOf" srcId="{720966C7-DBF4-4AF3-9D07-9415E3BCC1CE}" destId="{4C651223-2D50-4202-BC90-46A54783214A}" srcOrd="0" destOrd="0" presId="urn:microsoft.com/office/officeart/2018/2/layout/IconCircleList"/>
    <dgm:cxn modelId="{E446BFD9-4895-410C-9C7E-FE6E6E915042}" type="presParOf" srcId="{720966C7-DBF4-4AF3-9D07-9415E3BCC1CE}" destId="{CD7E8B3B-74E6-4C37-A753-C98F81FD0FF0}" srcOrd="1" destOrd="0" presId="urn:microsoft.com/office/officeart/2018/2/layout/IconCircleList"/>
    <dgm:cxn modelId="{551DB2CD-D9B2-4109-91A5-EDCA71EB5F0A}" type="presParOf" srcId="{720966C7-DBF4-4AF3-9D07-9415E3BCC1CE}" destId="{A1D56B4E-3AEC-43BE-A943-55C542769FF4}" srcOrd="2" destOrd="0" presId="urn:microsoft.com/office/officeart/2018/2/layout/IconCircleList"/>
    <dgm:cxn modelId="{64315282-2AF8-4AA6-8F09-AD878B1E301D}" type="presParOf" srcId="{720966C7-DBF4-4AF3-9D07-9415E3BCC1CE}" destId="{27C5B04C-9E59-44F7-B59F-21896B755616}"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671D7BC-55D1-4198-9028-58479848F5CF}"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F31DC49F-D0AB-4ECF-9081-66B855C79281}">
      <dgm:prSet/>
      <dgm:spPr/>
      <dgm:t>
        <a:bodyPr/>
        <a:lstStyle/>
        <a:p>
          <a:r>
            <a:rPr lang="en-US"/>
            <a:t>Set </a:t>
          </a:r>
          <a:r>
            <a:rPr lang="en-US" b="1"/>
            <a:t>Accounting Period</a:t>
          </a:r>
          <a:r>
            <a:rPr lang="en-US"/>
            <a:t> to Feb-26 and click </a:t>
          </a:r>
          <a:r>
            <a:rPr lang="en-US" b="1"/>
            <a:t>Search</a:t>
          </a:r>
          <a:r>
            <a:rPr lang="en-US"/>
            <a:t>.</a:t>
          </a:r>
        </a:p>
      </dgm:t>
    </dgm:pt>
    <dgm:pt modelId="{76EB3A2F-1F21-4A22-B133-042C12B7289F}" type="parTrans" cxnId="{AF213C5E-AB75-4D03-BDEE-A6EEC2E5B679}">
      <dgm:prSet/>
      <dgm:spPr/>
      <dgm:t>
        <a:bodyPr/>
        <a:lstStyle/>
        <a:p>
          <a:endParaRPr lang="en-US"/>
        </a:p>
      </dgm:t>
    </dgm:pt>
    <dgm:pt modelId="{891C9A55-BB4F-4B82-B927-F1A3AB583DAB}" type="sibTrans" cxnId="{AF213C5E-AB75-4D03-BDEE-A6EEC2E5B679}">
      <dgm:prSet/>
      <dgm:spPr/>
      <dgm:t>
        <a:bodyPr/>
        <a:lstStyle/>
        <a:p>
          <a:endParaRPr lang="en-US"/>
        </a:p>
      </dgm:t>
    </dgm:pt>
    <dgm:pt modelId="{9A7BDE58-C0A0-4B52-9DD8-F1B4AE498210}">
      <dgm:prSet/>
      <dgm:spPr/>
      <dgm:t>
        <a:bodyPr/>
        <a:lstStyle/>
        <a:p>
          <a:r>
            <a:rPr lang="en-US"/>
            <a:t>Journal 1 in NSS Batch 2 is returned with </a:t>
          </a:r>
          <a:r>
            <a:rPr lang="en-US" b="1"/>
            <a:t>Batch Status</a:t>
          </a:r>
          <a:r>
            <a:rPr lang="en-US"/>
            <a:t> = </a:t>
          </a:r>
          <a:r>
            <a:rPr lang="en-US" b="1"/>
            <a:t>Posted</a:t>
          </a:r>
          <a:r>
            <a:rPr lang="en-US"/>
            <a:t> and amounts of 80,000.00 EGP.</a:t>
          </a:r>
        </a:p>
      </dgm:t>
    </dgm:pt>
    <dgm:pt modelId="{7D9C4E37-FDAB-4CEE-B82D-FF7EAFFFD08F}" type="parTrans" cxnId="{E5E39671-F8E6-4EA8-8917-754A4E9BD539}">
      <dgm:prSet/>
      <dgm:spPr/>
      <dgm:t>
        <a:bodyPr/>
        <a:lstStyle/>
        <a:p>
          <a:endParaRPr lang="en-US"/>
        </a:p>
      </dgm:t>
    </dgm:pt>
    <dgm:pt modelId="{B906E1F1-1D17-4C84-A0AB-32A32DD68DBD}" type="sibTrans" cxnId="{E5E39671-F8E6-4EA8-8917-754A4E9BD539}">
      <dgm:prSet/>
      <dgm:spPr/>
      <dgm:t>
        <a:bodyPr/>
        <a:lstStyle/>
        <a:p>
          <a:endParaRPr lang="en-US"/>
        </a:p>
      </dgm:t>
    </dgm:pt>
    <dgm:pt modelId="{810C09D1-8C3F-4586-BD7F-D27E4877B7D1}">
      <dgm:prSet/>
      <dgm:spPr/>
      <dgm:t>
        <a:bodyPr/>
        <a:lstStyle/>
        <a:p>
          <a:r>
            <a:rPr lang="en-US"/>
            <a:t>Only posted batches are eligible for reversal.</a:t>
          </a:r>
        </a:p>
      </dgm:t>
    </dgm:pt>
    <dgm:pt modelId="{4DA9F0BB-7B66-4B5F-B476-A4A903B964F0}" type="parTrans" cxnId="{FC571157-767B-4CC6-B990-81F27C4B6352}">
      <dgm:prSet/>
      <dgm:spPr/>
      <dgm:t>
        <a:bodyPr/>
        <a:lstStyle/>
        <a:p>
          <a:endParaRPr lang="en-US"/>
        </a:p>
      </dgm:t>
    </dgm:pt>
    <dgm:pt modelId="{1C88E818-B21D-4A26-8DD1-D380B3D6CDEC}" type="sibTrans" cxnId="{FC571157-767B-4CC6-B990-81F27C4B6352}">
      <dgm:prSet/>
      <dgm:spPr/>
      <dgm:t>
        <a:bodyPr/>
        <a:lstStyle/>
        <a:p>
          <a:endParaRPr lang="en-US"/>
        </a:p>
      </dgm:t>
    </dgm:pt>
    <dgm:pt modelId="{29C461F4-D7BB-493D-ADDA-D74981500763}" type="pres">
      <dgm:prSet presAssocID="{3671D7BC-55D1-4198-9028-58479848F5CF}" presName="hierChild1" presStyleCnt="0">
        <dgm:presLayoutVars>
          <dgm:chPref val="1"/>
          <dgm:dir/>
          <dgm:animOne val="branch"/>
          <dgm:animLvl val="lvl"/>
          <dgm:resizeHandles/>
        </dgm:presLayoutVars>
      </dgm:prSet>
      <dgm:spPr/>
    </dgm:pt>
    <dgm:pt modelId="{856D9B86-6EA8-4FB5-80C7-4EF33DAFD175}" type="pres">
      <dgm:prSet presAssocID="{F31DC49F-D0AB-4ECF-9081-66B855C79281}" presName="hierRoot1" presStyleCnt="0"/>
      <dgm:spPr/>
    </dgm:pt>
    <dgm:pt modelId="{9EB7985B-DC5D-4644-B032-2600A62FA591}" type="pres">
      <dgm:prSet presAssocID="{F31DC49F-D0AB-4ECF-9081-66B855C79281}" presName="composite" presStyleCnt="0"/>
      <dgm:spPr/>
    </dgm:pt>
    <dgm:pt modelId="{1857409F-6BC0-481F-A92C-74BF6CE223A9}" type="pres">
      <dgm:prSet presAssocID="{F31DC49F-D0AB-4ECF-9081-66B855C79281}" presName="background" presStyleLbl="node0" presStyleIdx="0" presStyleCnt="3"/>
      <dgm:spPr/>
    </dgm:pt>
    <dgm:pt modelId="{6A84AB59-BFE9-4884-8982-77DD77C7F88A}" type="pres">
      <dgm:prSet presAssocID="{F31DC49F-D0AB-4ECF-9081-66B855C79281}" presName="text" presStyleLbl="fgAcc0" presStyleIdx="0" presStyleCnt="3">
        <dgm:presLayoutVars>
          <dgm:chPref val="3"/>
        </dgm:presLayoutVars>
      </dgm:prSet>
      <dgm:spPr/>
    </dgm:pt>
    <dgm:pt modelId="{D6D8661D-A034-4FE1-8E91-C131D6EB685C}" type="pres">
      <dgm:prSet presAssocID="{F31DC49F-D0AB-4ECF-9081-66B855C79281}" presName="hierChild2" presStyleCnt="0"/>
      <dgm:spPr/>
    </dgm:pt>
    <dgm:pt modelId="{34DE6689-8044-48AF-96D3-587B8490D357}" type="pres">
      <dgm:prSet presAssocID="{9A7BDE58-C0A0-4B52-9DD8-F1B4AE498210}" presName="hierRoot1" presStyleCnt="0"/>
      <dgm:spPr/>
    </dgm:pt>
    <dgm:pt modelId="{D108C360-8479-4563-982E-4A2A6CD312A6}" type="pres">
      <dgm:prSet presAssocID="{9A7BDE58-C0A0-4B52-9DD8-F1B4AE498210}" presName="composite" presStyleCnt="0"/>
      <dgm:spPr/>
    </dgm:pt>
    <dgm:pt modelId="{D1EA397E-72AB-403D-9012-BC60EE151C4F}" type="pres">
      <dgm:prSet presAssocID="{9A7BDE58-C0A0-4B52-9DD8-F1B4AE498210}" presName="background" presStyleLbl="node0" presStyleIdx="1" presStyleCnt="3"/>
      <dgm:spPr/>
    </dgm:pt>
    <dgm:pt modelId="{8CDA9961-CDC0-4CB8-ADAC-7F439F4EE097}" type="pres">
      <dgm:prSet presAssocID="{9A7BDE58-C0A0-4B52-9DD8-F1B4AE498210}" presName="text" presStyleLbl="fgAcc0" presStyleIdx="1" presStyleCnt="3">
        <dgm:presLayoutVars>
          <dgm:chPref val="3"/>
        </dgm:presLayoutVars>
      </dgm:prSet>
      <dgm:spPr/>
    </dgm:pt>
    <dgm:pt modelId="{EA6AB9E8-505F-442E-A95C-F368297FA6A4}" type="pres">
      <dgm:prSet presAssocID="{9A7BDE58-C0A0-4B52-9DD8-F1B4AE498210}" presName="hierChild2" presStyleCnt="0"/>
      <dgm:spPr/>
    </dgm:pt>
    <dgm:pt modelId="{A5708F2E-7EB9-4D72-B674-67A8B0B7076B}" type="pres">
      <dgm:prSet presAssocID="{810C09D1-8C3F-4586-BD7F-D27E4877B7D1}" presName="hierRoot1" presStyleCnt="0"/>
      <dgm:spPr/>
    </dgm:pt>
    <dgm:pt modelId="{CC8908B1-05C7-40C0-983F-B17FFD15715D}" type="pres">
      <dgm:prSet presAssocID="{810C09D1-8C3F-4586-BD7F-D27E4877B7D1}" presName="composite" presStyleCnt="0"/>
      <dgm:spPr/>
    </dgm:pt>
    <dgm:pt modelId="{CDD06100-7F02-46E1-8663-E9C4B88DF92B}" type="pres">
      <dgm:prSet presAssocID="{810C09D1-8C3F-4586-BD7F-D27E4877B7D1}" presName="background" presStyleLbl="node0" presStyleIdx="2" presStyleCnt="3"/>
      <dgm:spPr/>
    </dgm:pt>
    <dgm:pt modelId="{E94FABD5-9C4E-4E67-80BB-9EFF96AE1218}" type="pres">
      <dgm:prSet presAssocID="{810C09D1-8C3F-4586-BD7F-D27E4877B7D1}" presName="text" presStyleLbl="fgAcc0" presStyleIdx="2" presStyleCnt="3">
        <dgm:presLayoutVars>
          <dgm:chPref val="3"/>
        </dgm:presLayoutVars>
      </dgm:prSet>
      <dgm:spPr/>
    </dgm:pt>
    <dgm:pt modelId="{5DEDDEEA-DC43-479F-826D-8E8179AFC06B}" type="pres">
      <dgm:prSet presAssocID="{810C09D1-8C3F-4586-BD7F-D27E4877B7D1}" presName="hierChild2" presStyleCnt="0"/>
      <dgm:spPr/>
    </dgm:pt>
  </dgm:ptLst>
  <dgm:cxnLst>
    <dgm:cxn modelId="{82BE4B16-D035-460D-9688-3D865B034D31}" type="presOf" srcId="{F31DC49F-D0AB-4ECF-9081-66B855C79281}" destId="{6A84AB59-BFE9-4884-8982-77DD77C7F88A}" srcOrd="0" destOrd="0" presId="urn:microsoft.com/office/officeart/2005/8/layout/hierarchy1"/>
    <dgm:cxn modelId="{AF213C5E-AB75-4D03-BDEE-A6EEC2E5B679}" srcId="{3671D7BC-55D1-4198-9028-58479848F5CF}" destId="{F31DC49F-D0AB-4ECF-9081-66B855C79281}" srcOrd="0" destOrd="0" parTransId="{76EB3A2F-1F21-4A22-B133-042C12B7289F}" sibTransId="{891C9A55-BB4F-4B82-B927-F1A3AB583DAB}"/>
    <dgm:cxn modelId="{E5E39671-F8E6-4EA8-8917-754A4E9BD539}" srcId="{3671D7BC-55D1-4198-9028-58479848F5CF}" destId="{9A7BDE58-C0A0-4B52-9DD8-F1B4AE498210}" srcOrd="1" destOrd="0" parTransId="{7D9C4E37-FDAB-4CEE-B82D-FF7EAFFFD08F}" sibTransId="{B906E1F1-1D17-4C84-A0AB-32A32DD68DBD}"/>
    <dgm:cxn modelId="{ECCAC073-2205-4AD6-A2E1-4EDE453080D5}" type="presOf" srcId="{810C09D1-8C3F-4586-BD7F-D27E4877B7D1}" destId="{E94FABD5-9C4E-4E67-80BB-9EFF96AE1218}" srcOrd="0" destOrd="0" presId="urn:microsoft.com/office/officeart/2005/8/layout/hierarchy1"/>
    <dgm:cxn modelId="{FC571157-767B-4CC6-B990-81F27C4B6352}" srcId="{3671D7BC-55D1-4198-9028-58479848F5CF}" destId="{810C09D1-8C3F-4586-BD7F-D27E4877B7D1}" srcOrd="2" destOrd="0" parTransId="{4DA9F0BB-7B66-4B5F-B476-A4A903B964F0}" sibTransId="{1C88E818-B21D-4A26-8DD1-D380B3D6CDEC}"/>
    <dgm:cxn modelId="{1430AF57-2210-4AA5-95EA-BD9F4784E54B}" type="presOf" srcId="{9A7BDE58-C0A0-4B52-9DD8-F1B4AE498210}" destId="{8CDA9961-CDC0-4CB8-ADAC-7F439F4EE097}" srcOrd="0" destOrd="0" presId="urn:microsoft.com/office/officeart/2005/8/layout/hierarchy1"/>
    <dgm:cxn modelId="{CE24E99A-94C5-422D-A7FB-D076EC1CECA2}" type="presOf" srcId="{3671D7BC-55D1-4198-9028-58479848F5CF}" destId="{29C461F4-D7BB-493D-ADDA-D74981500763}" srcOrd="0" destOrd="0" presId="urn:microsoft.com/office/officeart/2005/8/layout/hierarchy1"/>
    <dgm:cxn modelId="{31748711-0CBE-4D50-BEA8-24189E12BF31}" type="presParOf" srcId="{29C461F4-D7BB-493D-ADDA-D74981500763}" destId="{856D9B86-6EA8-4FB5-80C7-4EF33DAFD175}" srcOrd="0" destOrd="0" presId="urn:microsoft.com/office/officeart/2005/8/layout/hierarchy1"/>
    <dgm:cxn modelId="{CA5FF50A-BD95-4275-B789-384AD873E13A}" type="presParOf" srcId="{856D9B86-6EA8-4FB5-80C7-4EF33DAFD175}" destId="{9EB7985B-DC5D-4644-B032-2600A62FA591}" srcOrd="0" destOrd="0" presId="urn:microsoft.com/office/officeart/2005/8/layout/hierarchy1"/>
    <dgm:cxn modelId="{43C96B72-3319-4AD2-A482-E2180373F35B}" type="presParOf" srcId="{9EB7985B-DC5D-4644-B032-2600A62FA591}" destId="{1857409F-6BC0-481F-A92C-74BF6CE223A9}" srcOrd="0" destOrd="0" presId="urn:microsoft.com/office/officeart/2005/8/layout/hierarchy1"/>
    <dgm:cxn modelId="{0827B3E5-C9B4-4C33-BF98-A86E16BF104E}" type="presParOf" srcId="{9EB7985B-DC5D-4644-B032-2600A62FA591}" destId="{6A84AB59-BFE9-4884-8982-77DD77C7F88A}" srcOrd="1" destOrd="0" presId="urn:microsoft.com/office/officeart/2005/8/layout/hierarchy1"/>
    <dgm:cxn modelId="{CDCAAF2D-C3F9-4367-9950-80229BD25E9E}" type="presParOf" srcId="{856D9B86-6EA8-4FB5-80C7-4EF33DAFD175}" destId="{D6D8661D-A034-4FE1-8E91-C131D6EB685C}" srcOrd="1" destOrd="0" presId="urn:microsoft.com/office/officeart/2005/8/layout/hierarchy1"/>
    <dgm:cxn modelId="{21387E30-BC75-4B94-B519-26551366C4BC}" type="presParOf" srcId="{29C461F4-D7BB-493D-ADDA-D74981500763}" destId="{34DE6689-8044-48AF-96D3-587B8490D357}" srcOrd="1" destOrd="0" presId="urn:microsoft.com/office/officeart/2005/8/layout/hierarchy1"/>
    <dgm:cxn modelId="{31C7D42C-40DC-4BB7-A9D6-A33153EED40F}" type="presParOf" srcId="{34DE6689-8044-48AF-96D3-587B8490D357}" destId="{D108C360-8479-4563-982E-4A2A6CD312A6}" srcOrd="0" destOrd="0" presId="urn:microsoft.com/office/officeart/2005/8/layout/hierarchy1"/>
    <dgm:cxn modelId="{92D16EC4-D3BA-43DC-AF42-0F6E9A80CDCD}" type="presParOf" srcId="{D108C360-8479-4563-982E-4A2A6CD312A6}" destId="{D1EA397E-72AB-403D-9012-BC60EE151C4F}" srcOrd="0" destOrd="0" presId="urn:microsoft.com/office/officeart/2005/8/layout/hierarchy1"/>
    <dgm:cxn modelId="{D0BAAFCC-323B-481B-AFC6-58128B5FFB7B}" type="presParOf" srcId="{D108C360-8479-4563-982E-4A2A6CD312A6}" destId="{8CDA9961-CDC0-4CB8-ADAC-7F439F4EE097}" srcOrd="1" destOrd="0" presId="urn:microsoft.com/office/officeart/2005/8/layout/hierarchy1"/>
    <dgm:cxn modelId="{6F843652-2963-453B-9F80-274723DFB0B5}" type="presParOf" srcId="{34DE6689-8044-48AF-96D3-587B8490D357}" destId="{EA6AB9E8-505F-442E-A95C-F368297FA6A4}" srcOrd="1" destOrd="0" presId="urn:microsoft.com/office/officeart/2005/8/layout/hierarchy1"/>
    <dgm:cxn modelId="{81274ACF-7CE6-4626-ACDA-AEA85072A5AF}" type="presParOf" srcId="{29C461F4-D7BB-493D-ADDA-D74981500763}" destId="{A5708F2E-7EB9-4D72-B674-67A8B0B7076B}" srcOrd="2" destOrd="0" presId="urn:microsoft.com/office/officeart/2005/8/layout/hierarchy1"/>
    <dgm:cxn modelId="{68A89DF2-95F6-4015-92A6-231A0FF175EF}" type="presParOf" srcId="{A5708F2E-7EB9-4D72-B674-67A8B0B7076B}" destId="{CC8908B1-05C7-40C0-983F-B17FFD15715D}" srcOrd="0" destOrd="0" presId="urn:microsoft.com/office/officeart/2005/8/layout/hierarchy1"/>
    <dgm:cxn modelId="{692D2BB0-2B95-499C-99C5-1CBD42692B92}" type="presParOf" srcId="{CC8908B1-05C7-40C0-983F-B17FFD15715D}" destId="{CDD06100-7F02-46E1-8663-E9C4B88DF92B}" srcOrd="0" destOrd="0" presId="urn:microsoft.com/office/officeart/2005/8/layout/hierarchy1"/>
    <dgm:cxn modelId="{72188743-E707-4800-9955-C3C7BE46E578}" type="presParOf" srcId="{CC8908B1-05C7-40C0-983F-B17FFD15715D}" destId="{E94FABD5-9C4E-4E67-80BB-9EFF96AE1218}" srcOrd="1" destOrd="0" presId="urn:microsoft.com/office/officeart/2005/8/layout/hierarchy1"/>
    <dgm:cxn modelId="{DB5DCD7C-BA00-416B-A5CC-17AF1A4DA7E7}" type="presParOf" srcId="{A5708F2E-7EB9-4D72-B674-67A8B0B7076B}" destId="{5DEDDEEA-DC43-479F-826D-8E8179AFC06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45611FF5-4782-4DB0-94BA-9D4631BF9C50}" type="doc">
      <dgm:prSet loTypeId="urn:microsoft.com/office/officeart/2018/5/layout/IconLeaf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F86E1E5-6A1A-431F-B502-607B9CAB0C25}">
      <dgm:prSet/>
      <dgm:spPr/>
      <dgm:t>
        <a:bodyPr/>
        <a:lstStyle/>
        <a:p>
          <a:pPr>
            <a:defRPr cap="all"/>
          </a:pPr>
          <a:r>
            <a:rPr lang="en-US"/>
            <a:t>Select the posted journal row in the results table.</a:t>
          </a:r>
        </a:p>
      </dgm:t>
    </dgm:pt>
    <dgm:pt modelId="{EF3B22EF-003C-4F18-BA8A-0D2027DB66F9}" type="parTrans" cxnId="{68D40F93-6F27-43CF-BDBD-7B3A1B189D50}">
      <dgm:prSet/>
      <dgm:spPr/>
      <dgm:t>
        <a:bodyPr/>
        <a:lstStyle/>
        <a:p>
          <a:endParaRPr lang="en-US"/>
        </a:p>
      </dgm:t>
    </dgm:pt>
    <dgm:pt modelId="{31A36FD3-3BFE-4F80-A1FE-DAE81E90E102}" type="sibTrans" cxnId="{68D40F93-6F27-43CF-BDBD-7B3A1B189D50}">
      <dgm:prSet/>
      <dgm:spPr/>
      <dgm:t>
        <a:bodyPr/>
        <a:lstStyle/>
        <a:p>
          <a:endParaRPr lang="en-US"/>
        </a:p>
      </dgm:t>
    </dgm:pt>
    <dgm:pt modelId="{0C95E620-40EE-4970-B44F-AA1D23EA25DB}">
      <dgm:prSet/>
      <dgm:spPr/>
      <dgm:t>
        <a:bodyPr/>
        <a:lstStyle/>
        <a:p>
          <a:pPr>
            <a:defRPr cap="all"/>
          </a:pPr>
          <a:r>
            <a:rPr lang="en-US"/>
            <a:t>The Reverse Batch button becomes available; click it to start the reversal.</a:t>
          </a:r>
        </a:p>
      </dgm:t>
    </dgm:pt>
    <dgm:pt modelId="{EF887901-B222-47EF-96E1-F2FC124B70CA}" type="parTrans" cxnId="{BFD98171-CE03-4DDC-AE7C-E842E59EA0AF}">
      <dgm:prSet/>
      <dgm:spPr/>
      <dgm:t>
        <a:bodyPr/>
        <a:lstStyle/>
        <a:p>
          <a:endParaRPr lang="en-US"/>
        </a:p>
      </dgm:t>
    </dgm:pt>
    <dgm:pt modelId="{8A01F24F-FE53-4D9E-AECA-FCC152C17363}" type="sibTrans" cxnId="{BFD98171-CE03-4DDC-AE7C-E842E59EA0AF}">
      <dgm:prSet/>
      <dgm:spPr/>
      <dgm:t>
        <a:bodyPr/>
        <a:lstStyle/>
        <a:p>
          <a:endParaRPr lang="en-US"/>
        </a:p>
      </dgm:t>
    </dgm:pt>
    <dgm:pt modelId="{6E66A06E-DD39-41A7-A13F-76001B3CCEB3}" type="pres">
      <dgm:prSet presAssocID="{45611FF5-4782-4DB0-94BA-9D4631BF9C50}" presName="root" presStyleCnt="0">
        <dgm:presLayoutVars>
          <dgm:dir/>
          <dgm:resizeHandles val="exact"/>
        </dgm:presLayoutVars>
      </dgm:prSet>
      <dgm:spPr/>
    </dgm:pt>
    <dgm:pt modelId="{AE024E92-4AA9-46EF-B5D5-C5B223F9BF97}" type="pres">
      <dgm:prSet presAssocID="{CF86E1E5-6A1A-431F-B502-607B9CAB0C25}" presName="compNode" presStyleCnt="0"/>
      <dgm:spPr/>
    </dgm:pt>
    <dgm:pt modelId="{C93FCFD7-96E0-44EA-BBF2-BEEFBE3A7328}" type="pres">
      <dgm:prSet presAssocID="{CF86E1E5-6A1A-431F-B502-607B9CAB0C25}" presName="iconBgRect" presStyleLbl="bgShp" presStyleIdx="0" presStyleCnt="2"/>
      <dgm:spPr>
        <a:prstGeom prst="round2DiagRect">
          <a:avLst>
            <a:gd name="adj1" fmla="val 29727"/>
            <a:gd name="adj2" fmla="val 0"/>
          </a:avLst>
        </a:prstGeom>
      </dgm:spPr>
    </dgm:pt>
    <dgm:pt modelId="{E838F98F-FE93-4D92-8393-1D7D11FF31C4}" type="pres">
      <dgm:prSet presAssocID="{CF86E1E5-6A1A-431F-B502-607B9CAB0C25}"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Table"/>
        </a:ext>
      </dgm:extLst>
    </dgm:pt>
    <dgm:pt modelId="{46F44151-741B-4390-9B40-6DAA8D64F012}" type="pres">
      <dgm:prSet presAssocID="{CF86E1E5-6A1A-431F-B502-607B9CAB0C25}" presName="spaceRect" presStyleCnt="0"/>
      <dgm:spPr/>
    </dgm:pt>
    <dgm:pt modelId="{CBBBCD91-B1FC-453E-BFB9-20B4BFCC7397}" type="pres">
      <dgm:prSet presAssocID="{CF86E1E5-6A1A-431F-B502-607B9CAB0C25}" presName="textRect" presStyleLbl="revTx" presStyleIdx="0" presStyleCnt="2">
        <dgm:presLayoutVars>
          <dgm:chMax val="1"/>
          <dgm:chPref val="1"/>
        </dgm:presLayoutVars>
      </dgm:prSet>
      <dgm:spPr/>
    </dgm:pt>
    <dgm:pt modelId="{136D7F42-244F-4A4E-8FA4-452D73F4DDE1}" type="pres">
      <dgm:prSet presAssocID="{31A36FD3-3BFE-4F80-A1FE-DAE81E90E102}" presName="sibTrans" presStyleCnt="0"/>
      <dgm:spPr/>
    </dgm:pt>
    <dgm:pt modelId="{CDB54648-7D13-42BA-917D-AE071294D669}" type="pres">
      <dgm:prSet presAssocID="{0C95E620-40EE-4970-B44F-AA1D23EA25DB}" presName="compNode" presStyleCnt="0"/>
      <dgm:spPr/>
    </dgm:pt>
    <dgm:pt modelId="{7A3893C9-4F3F-461E-878F-502E988617F9}" type="pres">
      <dgm:prSet presAssocID="{0C95E620-40EE-4970-B44F-AA1D23EA25DB}" presName="iconBgRect" presStyleLbl="bgShp" presStyleIdx="1" presStyleCnt="2"/>
      <dgm:spPr>
        <a:prstGeom prst="round2DiagRect">
          <a:avLst>
            <a:gd name="adj1" fmla="val 29727"/>
            <a:gd name="adj2" fmla="val 0"/>
          </a:avLst>
        </a:prstGeom>
      </dgm:spPr>
    </dgm:pt>
    <dgm:pt modelId="{00687872-A9FE-41A2-B024-180C656CF2EB}" type="pres">
      <dgm:prSet presAssocID="{0C95E620-40EE-4970-B44F-AA1D23EA25DB}"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ck"/>
        </a:ext>
      </dgm:extLst>
    </dgm:pt>
    <dgm:pt modelId="{2F3E3FD6-DE42-4C90-AF66-3C126866AF9B}" type="pres">
      <dgm:prSet presAssocID="{0C95E620-40EE-4970-B44F-AA1D23EA25DB}" presName="spaceRect" presStyleCnt="0"/>
      <dgm:spPr/>
    </dgm:pt>
    <dgm:pt modelId="{6AA25313-8946-475C-84E7-59E967679E44}" type="pres">
      <dgm:prSet presAssocID="{0C95E620-40EE-4970-B44F-AA1D23EA25DB}" presName="textRect" presStyleLbl="revTx" presStyleIdx="1" presStyleCnt="2">
        <dgm:presLayoutVars>
          <dgm:chMax val="1"/>
          <dgm:chPref val="1"/>
        </dgm:presLayoutVars>
      </dgm:prSet>
      <dgm:spPr/>
    </dgm:pt>
  </dgm:ptLst>
  <dgm:cxnLst>
    <dgm:cxn modelId="{7719445D-5B22-4DE8-A0C6-857E99E44A05}" type="presOf" srcId="{0C95E620-40EE-4970-B44F-AA1D23EA25DB}" destId="{6AA25313-8946-475C-84E7-59E967679E44}" srcOrd="0" destOrd="0" presId="urn:microsoft.com/office/officeart/2018/5/layout/IconLeafLabelList"/>
    <dgm:cxn modelId="{94EB8A4B-8935-4459-BE6D-113FC6326BE8}" type="presOf" srcId="{45611FF5-4782-4DB0-94BA-9D4631BF9C50}" destId="{6E66A06E-DD39-41A7-A13F-76001B3CCEB3}" srcOrd="0" destOrd="0" presId="urn:microsoft.com/office/officeart/2018/5/layout/IconLeafLabelList"/>
    <dgm:cxn modelId="{BFD98171-CE03-4DDC-AE7C-E842E59EA0AF}" srcId="{45611FF5-4782-4DB0-94BA-9D4631BF9C50}" destId="{0C95E620-40EE-4970-B44F-AA1D23EA25DB}" srcOrd="1" destOrd="0" parTransId="{EF887901-B222-47EF-96E1-F2FC124B70CA}" sibTransId="{8A01F24F-FE53-4D9E-AECA-FCC152C17363}"/>
    <dgm:cxn modelId="{68D40F93-6F27-43CF-BDBD-7B3A1B189D50}" srcId="{45611FF5-4782-4DB0-94BA-9D4631BF9C50}" destId="{CF86E1E5-6A1A-431F-B502-607B9CAB0C25}" srcOrd="0" destOrd="0" parTransId="{EF3B22EF-003C-4F18-BA8A-0D2027DB66F9}" sibTransId="{31A36FD3-3BFE-4F80-A1FE-DAE81E90E102}"/>
    <dgm:cxn modelId="{7C40D9B7-8BE7-48D6-97D3-7BD4F8F78089}" type="presOf" srcId="{CF86E1E5-6A1A-431F-B502-607B9CAB0C25}" destId="{CBBBCD91-B1FC-453E-BFB9-20B4BFCC7397}" srcOrd="0" destOrd="0" presId="urn:microsoft.com/office/officeart/2018/5/layout/IconLeafLabelList"/>
    <dgm:cxn modelId="{F50FDE09-1E00-4BAB-ADEB-5BC169B9541B}" type="presParOf" srcId="{6E66A06E-DD39-41A7-A13F-76001B3CCEB3}" destId="{AE024E92-4AA9-46EF-B5D5-C5B223F9BF97}" srcOrd="0" destOrd="0" presId="urn:microsoft.com/office/officeart/2018/5/layout/IconLeafLabelList"/>
    <dgm:cxn modelId="{27F1B19F-8E85-4547-A10F-2D966D1BD0CA}" type="presParOf" srcId="{AE024E92-4AA9-46EF-B5D5-C5B223F9BF97}" destId="{C93FCFD7-96E0-44EA-BBF2-BEEFBE3A7328}" srcOrd="0" destOrd="0" presId="urn:microsoft.com/office/officeart/2018/5/layout/IconLeafLabelList"/>
    <dgm:cxn modelId="{E1FBC3B8-146C-4CB9-BC5B-7041B8321E05}" type="presParOf" srcId="{AE024E92-4AA9-46EF-B5D5-C5B223F9BF97}" destId="{E838F98F-FE93-4D92-8393-1D7D11FF31C4}" srcOrd="1" destOrd="0" presId="urn:microsoft.com/office/officeart/2018/5/layout/IconLeafLabelList"/>
    <dgm:cxn modelId="{2B5F2BCC-396A-4E04-B726-A70797EDA821}" type="presParOf" srcId="{AE024E92-4AA9-46EF-B5D5-C5B223F9BF97}" destId="{46F44151-741B-4390-9B40-6DAA8D64F012}" srcOrd="2" destOrd="0" presId="urn:microsoft.com/office/officeart/2018/5/layout/IconLeafLabelList"/>
    <dgm:cxn modelId="{BF8A905C-E76D-456A-8FEB-614D92940DD3}" type="presParOf" srcId="{AE024E92-4AA9-46EF-B5D5-C5B223F9BF97}" destId="{CBBBCD91-B1FC-453E-BFB9-20B4BFCC7397}" srcOrd="3" destOrd="0" presId="urn:microsoft.com/office/officeart/2018/5/layout/IconLeafLabelList"/>
    <dgm:cxn modelId="{D7ADCA24-FC57-4044-9A00-5805210AF504}" type="presParOf" srcId="{6E66A06E-DD39-41A7-A13F-76001B3CCEB3}" destId="{136D7F42-244F-4A4E-8FA4-452D73F4DDE1}" srcOrd="1" destOrd="0" presId="urn:microsoft.com/office/officeart/2018/5/layout/IconLeafLabelList"/>
    <dgm:cxn modelId="{548652DA-FD07-4C7D-8FCC-08A3DEEB7336}" type="presParOf" srcId="{6E66A06E-DD39-41A7-A13F-76001B3CCEB3}" destId="{CDB54648-7D13-42BA-917D-AE071294D669}" srcOrd="2" destOrd="0" presId="urn:microsoft.com/office/officeart/2018/5/layout/IconLeafLabelList"/>
    <dgm:cxn modelId="{8D040D00-CBF1-4964-88FD-3E1F906C8A89}" type="presParOf" srcId="{CDB54648-7D13-42BA-917D-AE071294D669}" destId="{7A3893C9-4F3F-461E-878F-502E988617F9}" srcOrd="0" destOrd="0" presId="urn:microsoft.com/office/officeart/2018/5/layout/IconLeafLabelList"/>
    <dgm:cxn modelId="{56A29321-E2D4-4A6F-BEF9-9040894A6018}" type="presParOf" srcId="{CDB54648-7D13-42BA-917D-AE071294D669}" destId="{00687872-A9FE-41A2-B024-180C656CF2EB}" srcOrd="1" destOrd="0" presId="urn:microsoft.com/office/officeart/2018/5/layout/IconLeafLabelList"/>
    <dgm:cxn modelId="{1BDC92D6-E5E0-408E-9614-41B7D581A9D7}" type="presParOf" srcId="{CDB54648-7D13-42BA-917D-AE071294D669}" destId="{2F3E3FD6-DE42-4C90-AF66-3C126866AF9B}" srcOrd="2" destOrd="0" presId="urn:microsoft.com/office/officeart/2018/5/layout/IconLeafLabelList"/>
    <dgm:cxn modelId="{3BD54DBC-2003-4624-BBF2-4CE6BCBEC0E7}" type="presParOf" srcId="{CDB54648-7D13-42BA-917D-AE071294D669}" destId="{6AA25313-8946-475C-84E7-59E967679E44}"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83FDDA3E-F2F0-42EB-9C1F-EE987A8E7C8A}"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6F1A4DC2-D172-48EE-A7F5-55E86FB6456F}">
      <dgm:prSet/>
      <dgm:spPr/>
      <dgm:t>
        <a:bodyPr/>
        <a:lstStyle/>
        <a:p>
          <a:r>
            <a:rPr lang="en-US"/>
            <a:t>The Reverse Journal Batch window captures optional batch-level reversal information.</a:t>
          </a:r>
        </a:p>
      </dgm:t>
    </dgm:pt>
    <dgm:pt modelId="{6216FD4E-303B-41E3-9986-0E5791BA890D}" type="parTrans" cxnId="{05EE7EDF-3DF1-4F14-803E-2EC285A9F3B4}">
      <dgm:prSet/>
      <dgm:spPr/>
      <dgm:t>
        <a:bodyPr/>
        <a:lstStyle/>
        <a:p>
          <a:endParaRPr lang="en-US"/>
        </a:p>
      </dgm:t>
    </dgm:pt>
    <dgm:pt modelId="{8170463D-E1CA-44AB-82ED-5739401F2141}" type="sibTrans" cxnId="{05EE7EDF-3DF1-4F14-803E-2EC285A9F3B4}">
      <dgm:prSet/>
      <dgm:spPr/>
      <dgm:t>
        <a:bodyPr/>
        <a:lstStyle/>
        <a:p>
          <a:endParaRPr lang="en-US"/>
        </a:p>
      </dgm:t>
    </dgm:pt>
    <dgm:pt modelId="{1774440E-61E4-4321-9F21-CCF817EE9C92}">
      <dgm:prSet/>
      <dgm:spPr/>
      <dgm:t>
        <a:bodyPr/>
        <a:lstStyle/>
        <a:p>
          <a:r>
            <a:rPr lang="en-US"/>
            <a:t>Batch-level values override anything defined at the journal level.</a:t>
          </a:r>
        </a:p>
      </dgm:t>
    </dgm:pt>
    <dgm:pt modelId="{5A04BD2B-2C42-48D1-8596-C5FF91744778}" type="parTrans" cxnId="{E23B6C9F-5905-42B7-BC77-C0DB695CB759}">
      <dgm:prSet/>
      <dgm:spPr/>
      <dgm:t>
        <a:bodyPr/>
        <a:lstStyle/>
        <a:p>
          <a:endParaRPr lang="en-US"/>
        </a:p>
      </dgm:t>
    </dgm:pt>
    <dgm:pt modelId="{E813C3FD-DD26-4E50-B8DC-E77B5F0D6C05}" type="sibTrans" cxnId="{E23B6C9F-5905-42B7-BC77-C0DB695CB759}">
      <dgm:prSet/>
      <dgm:spPr/>
      <dgm:t>
        <a:bodyPr/>
        <a:lstStyle/>
        <a:p>
          <a:endParaRPr lang="en-US"/>
        </a:p>
      </dgm:t>
    </dgm:pt>
    <dgm:pt modelId="{E328840D-D90D-4C4F-88A1-8D0D18AF3781}">
      <dgm:prSet/>
      <dgm:spPr/>
      <dgm:t>
        <a:bodyPr/>
        <a:lstStyle/>
        <a:p>
          <a:r>
            <a:rPr lang="en-US"/>
            <a:t>Two fields must be completed: Reversal Period and Reversal Method.</a:t>
          </a:r>
        </a:p>
      </dgm:t>
    </dgm:pt>
    <dgm:pt modelId="{86B5C3B7-75F9-4F0D-8892-937D311295C6}" type="parTrans" cxnId="{91B843BB-E15E-46D3-88B3-7DA24403F921}">
      <dgm:prSet/>
      <dgm:spPr/>
      <dgm:t>
        <a:bodyPr/>
        <a:lstStyle/>
        <a:p>
          <a:endParaRPr lang="en-US"/>
        </a:p>
      </dgm:t>
    </dgm:pt>
    <dgm:pt modelId="{A9556DAB-B5A0-46C0-9DA7-EC8D712F2325}" type="sibTrans" cxnId="{91B843BB-E15E-46D3-88B3-7DA24403F921}">
      <dgm:prSet/>
      <dgm:spPr/>
      <dgm:t>
        <a:bodyPr/>
        <a:lstStyle/>
        <a:p>
          <a:endParaRPr lang="en-US"/>
        </a:p>
      </dgm:t>
    </dgm:pt>
    <dgm:pt modelId="{D904A2D3-41B1-40DA-A8D7-CADF0A4779E5}" type="pres">
      <dgm:prSet presAssocID="{83FDDA3E-F2F0-42EB-9C1F-EE987A8E7C8A}" presName="hierChild1" presStyleCnt="0">
        <dgm:presLayoutVars>
          <dgm:chPref val="1"/>
          <dgm:dir/>
          <dgm:animOne val="branch"/>
          <dgm:animLvl val="lvl"/>
          <dgm:resizeHandles/>
        </dgm:presLayoutVars>
      </dgm:prSet>
      <dgm:spPr/>
    </dgm:pt>
    <dgm:pt modelId="{6CCE20B6-B3AF-41F6-AE74-387E729C103A}" type="pres">
      <dgm:prSet presAssocID="{6F1A4DC2-D172-48EE-A7F5-55E86FB6456F}" presName="hierRoot1" presStyleCnt="0"/>
      <dgm:spPr/>
    </dgm:pt>
    <dgm:pt modelId="{FB2AE121-D940-4048-AAC2-ABF86B35F613}" type="pres">
      <dgm:prSet presAssocID="{6F1A4DC2-D172-48EE-A7F5-55E86FB6456F}" presName="composite" presStyleCnt="0"/>
      <dgm:spPr/>
    </dgm:pt>
    <dgm:pt modelId="{B2B85202-7709-468E-9B70-6E212271B481}" type="pres">
      <dgm:prSet presAssocID="{6F1A4DC2-D172-48EE-A7F5-55E86FB6456F}" presName="background" presStyleLbl="node0" presStyleIdx="0" presStyleCnt="3"/>
      <dgm:spPr/>
    </dgm:pt>
    <dgm:pt modelId="{43FE5B5A-F0FC-4E16-B47E-DD421781B316}" type="pres">
      <dgm:prSet presAssocID="{6F1A4DC2-D172-48EE-A7F5-55E86FB6456F}" presName="text" presStyleLbl="fgAcc0" presStyleIdx="0" presStyleCnt="3">
        <dgm:presLayoutVars>
          <dgm:chPref val="3"/>
        </dgm:presLayoutVars>
      </dgm:prSet>
      <dgm:spPr/>
    </dgm:pt>
    <dgm:pt modelId="{D0BED90E-AF68-452F-8A89-9817EE982181}" type="pres">
      <dgm:prSet presAssocID="{6F1A4DC2-D172-48EE-A7F5-55E86FB6456F}" presName="hierChild2" presStyleCnt="0"/>
      <dgm:spPr/>
    </dgm:pt>
    <dgm:pt modelId="{83C4BEB8-40D2-4E49-A7EA-79AF53FEBB16}" type="pres">
      <dgm:prSet presAssocID="{1774440E-61E4-4321-9F21-CCF817EE9C92}" presName="hierRoot1" presStyleCnt="0"/>
      <dgm:spPr/>
    </dgm:pt>
    <dgm:pt modelId="{A3CB1C53-F35D-4FD3-A3CE-D26395BA4DA1}" type="pres">
      <dgm:prSet presAssocID="{1774440E-61E4-4321-9F21-CCF817EE9C92}" presName="composite" presStyleCnt="0"/>
      <dgm:spPr/>
    </dgm:pt>
    <dgm:pt modelId="{07C049B9-6CE3-4C2D-B4CA-020875C6054D}" type="pres">
      <dgm:prSet presAssocID="{1774440E-61E4-4321-9F21-CCF817EE9C92}" presName="background" presStyleLbl="node0" presStyleIdx="1" presStyleCnt="3"/>
      <dgm:spPr/>
    </dgm:pt>
    <dgm:pt modelId="{E61BF710-03D0-4331-ACAF-260006AA6666}" type="pres">
      <dgm:prSet presAssocID="{1774440E-61E4-4321-9F21-CCF817EE9C92}" presName="text" presStyleLbl="fgAcc0" presStyleIdx="1" presStyleCnt="3">
        <dgm:presLayoutVars>
          <dgm:chPref val="3"/>
        </dgm:presLayoutVars>
      </dgm:prSet>
      <dgm:spPr/>
    </dgm:pt>
    <dgm:pt modelId="{C4FA068C-63E4-4B69-87FB-2A6A8A5AB68C}" type="pres">
      <dgm:prSet presAssocID="{1774440E-61E4-4321-9F21-CCF817EE9C92}" presName="hierChild2" presStyleCnt="0"/>
      <dgm:spPr/>
    </dgm:pt>
    <dgm:pt modelId="{D0C57778-2E2F-4213-8E7B-DD31C63DAD23}" type="pres">
      <dgm:prSet presAssocID="{E328840D-D90D-4C4F-88A1-8D0D18AF3781}" presName="hierRoot1" presStyleCnt="0"/>
      <dgm:spPr/>
    </dgm:pt>
    <dgm:pt modelId="{E30DAA8B-84D2-4385-B9F8-1E2135D65C23}" type="pres">
      <dgm:prSet presAssocID="{E328840D-D90D-4C4F-88A1-8D0D18AF3781}" presName="composite" presStyleCnt="0"/>
      <dgm:spPr/>
    </dgm:pt>
    <dgm:pt modelId="{9814C4FC-8C60-43BD-9C75-0A3197852776}" type="pres">
      <dgm:prSet presAssocID="{E328840D-D90D-4C4F-88A1-8D0D18AF3781}" presName="background" presStyleLbl="node0" presStyleIdx="2" presStyleCnt="3"/>
      <dgm:spPr/>
    </dgm:pt>
    <dgm:pt modelId="{AE43E09A-7B6D-4C4F-8C4B-F8964DE718B8}" type="pres">
      <dgm:prSet presAssocID="{E328840D-D90D-4C4F-88A1-8D0D18AF3781}" presName="text" presStyleLbl="fgAcc0" presStyleIdx="2" presStyleCnt="3">
        <dgm:presLayoutVars>
          <dgm:chPref val="3"/>
        </dgm:presLayoutVars>
      </dgm:prSet>
      <dgm:spPr/>
    </dgm:pt>
    <dgm:pt modelId="{3F7F90D8-E403-4224-8778-EA00067D3F25}" type="pres">
      <dgm:prSet presAssocID="{E328840D-D90D-4C4F-88A1-8D0D18AF3781}" presName="hierChild2" presStyleCnt="0"/>
      <dgm:spPr/>
    </dgm:pt>
  </dgm:ptLst>
  <dgm:cxnLst>
    <dgm:cxn modelId="{6C612541-4BFA-4200-8E24-847449AF34CA}" type="presOf" srcId="{1774440E-61E4-4321-9F21-CCF817EE9C92}" destId="{E61BF710-03D0-4331-ACAF-260006AA6666}" srcOrd="0" destOrd="0" presId="urn:microsoft.com/office/officeart/2005/8/layout/hierarchy1"/>
    <dgm:cxn modelId="{D4FBDB91-E98C-4D50-B324-9F0058B9FA61}" type="presOf" srcId="{83FDDA3E-F2F0-42EB-9C1F-EE987A8E7C8A}" destId="{D904A2D3-41B1-40DA-A8D7-CADF0A4779E5}" srcOrd="0" destOrd="0" presId="urn:microsoft.com/office/officeart/2005/8/layout/hierarchy1"/>
    <dgm:cxn modelId="{E23B6C9F-5905-42B7-BC77-C0DB695CB759}" srcId="{83FDDA3E-F2F0-42EB-9C1F-EE987A8E7C8A}" destId="{1774440E-61E4-4321-9F21-CCF817EE9C92}" srcOrd="1" destOrd="0" parTransId="{5A04BD2B-2C42-48D1-8596-C5FF91744778}" sibTransId="{E813C3FD-DD26-4E50-B8DC-E77B5F0D6C05}"/>
    <dgm:cxn modelId="{90EF89A7-5B63-4AA4-8C31-DB4A30912DFD}" type="presOf" srcId="{E328840D-D90D-4C4F-88A1-8D0D18AF3781}" destId="{AE43E09A-7B6D-4C4F-8C4B-F8964DE718B8}" srcOrd="0" destOrd="0" presId="urn:microsoft.com/office/officeart/2005/8/layout/hierarchy1"/>
    <dgm:cxn modelId="{AFDB60B5-A0EB-48C1-A017-BAD3CDF170C6}" type="presOf" srcId="{6F1A4DC2-D172-48EE-A7F5-55E86FB6456F}" destId="{43FE5B5A-F0FC-4E16-B47E-DD421781B316}" srcOrd="0" destOrd="0" presId="urn:microsoft.com/office/officeart/2005/8/layout/hierarchy1"/>
    <dgm:cxn modelId="{91B843BB-E15E-46D3-88B3-7DA24403F921}" srcId="{83FDDA3E-F2F0-42EB-9C1F-EE987A8E7C8A}" destId="{E328840D-D90D-4C4F-88A1-8D0D18AF3781}" srcOrd="2" destOrd="0" parTransId="{86B5C3B7-75F9-4F0D-8892-937D311295C6}" sibTransId="{A9556DAB-B5A0-46C0-9DA7-EC8D712F2325}"/>
    <dgm:cxn modelId="{05EE7EDF-3DF1-4F14-803E-2EC285A9F3B4}" srcId="{83FDDA3E-F2F0-42EB-9C1F-EE987A8E7C8A}" destId="{6F1A4DC2-D172-48EE-A7F5-55E86FB6456F}" srcOrd="0" destOrd="0" parTransId="{6216FD4E-303B-41E3-9986-0E5791BA890D}" sibTransId="{8170463D-E1CA-44AB-82ED-5739401F2141}"/>
    <dgm:cxn modelId="{13899231-DA8F-4E02-972B-16DE2FBB1237}" type="presParOf" srcId="{D904A2D3-41B1-40DA-A8D7-CADF0A4779E5}" destId="{6CCE20B6-B3AF-41F6-AE74-387E729C103A}" srcOrd="0" destOrd="0" presId="urn:microsoft.com/office/officeart/2005/8/layout/hierarchy1"/>
    <dgm:cxn modelId="{4A0D3C6A-A070-4738-9B87-6962274F10BD}" type="presParOf" srcId="{6CCE20B6-B3AF-41F6-AE74-387E729C103A}" destId="{FB2AE121-D940-4048-AAC2-ABF86B35F613}" srcOrd="0" destOrd="0" presId="urn:microsoft.com/office/officeart/2005/8/layout/hierarchy1"/>
    <dgm:cxn modelId="{8194DA20-6492-4B37-A711-17D669E38533}" type="presParOf" srcId="{FB2AE121-D940-4048-AAC2-ABF86B35F613}" destId="{B2B85202-7709-468E-9B70-6E212271B481}" srcOrd="0" destOrd="0" presId="urn:microsoft.com/office/officeart/2005/8/layout/hierarchy1"/>
    <dgm:cxn modelId="{E19CF812-7F2E-4B38-827F-FD38675B48CE}" type="presParOf" srcId="{FB2AE121-D940-4048-AAC2-ABF86B35F613}" destId="{43FE5B5A-F0FC-4E16-B47E-DD421781B316}" srcOrd="1" destOrd="0" presId="urn:microsoft.com/office/officeart/2005/8/layout/hierarchy1"/>
    <dgm:cxn modelId="{1DD0E53C-39BB-41A3-9698-00F3474187DA}" type="presParOf" srcId="{6CCE20B6-B3AF-41F6-AE74-387E729C103A}" destId="{D0BED90E-AF68-452F-8A89-9817EE982181}" srcOrd="1" destOrd="0" presId="urn:microsoft.com/office/officeart/2005/8/layout/hierarchy1"/>
    <dgm:cxn modelId="{D6FE7B7A-6D0B-41B0-A946-0110B36CEAA9}" type="presParOf" srcId="{D904A2D3-41B1-40DA-A8D7-CADF0A4779E5}" destId="{83C4BEB8-40D2-4E49-A7EA-79AF53FEBB16}" srcOrd="1" destOrd="0" presId="urn:microsoft.com/office/officeart/2005/8/layout/hierarchy1"/>
    <dgm:cxn modelId="{522E32B5-B023-4210-9C3C-7D32AE6EE06E}" type="presParOf" srcId="{83C4BEB8-40D2-4E49-A7EA-79AF53FEBB16}" destId="{A3CB1C53-F35D-4FD3-A3CE-D26395BA4DA1}" srcOrd="0" destOrd="0" presId="urn:microsoft.com/office/officeart/2005/8/layout/hierarchy1"/>
    <dgm:cxn modelId="{4371D3BD-449D-464B-A755-1D6C9F5AEC8C}" type="presParOf" srcId="{A3CB1C53-F35D-4FD3-A3CE-D26395BA4DA1}" destId="{07C049B9-6CE3-4C2D-B4CA-020875C6054D}" srcOrd="0" destOrd="0" presId="urn:microsoft.com/office/officeart/2005/8/layout/hierarchy1"/>
    <dgm:cxn modelId="{0CED6BB8-03E4-410E-8833-111A1AC59D54}" type="presParOf" srcId="{A3CB1C53-F35D-4FD3-A3CE-D26395BA4DA1}" destId="{E61BF710-03D0-4331-ACAF-260006AA6666}" srcOrd="1" destOrd="0" presId="urn:microsoft.com/office/officeart/2005/8/layout/hierarchy1"/>
    <dgm:cxn modelId="{DD5FFC39-F1BD-4EA8-B58E-FCE1CCC4C8C6}" type="presParOf" srcId="{83C4BEB8-40D2-4E49-A7EA-79AF53FEBB16}" destId="{C4FA068C-63E4-4B69-87FB-2A6A8A5AB68C}" srcOrd="1" destOrd="0" presId="urn:microsoft.com/office/officeart/2005/8/layout/hierarchy1"/>
    <dgm:cxn modelId="{79229476-E6B4-4B16-8C45-E065C26C4741}" type="presParOf" srcId="{D904A2D3-41B1-40DA-A8D7-CADF0A4779E5}" destId="{D0C57778-2E2F-4213-8E7B-DD31C63DAD23}" srcOrd="2" destOrd="0" presId="urn:microsoft.com/office/officeart/2005/8/layout/hierarchy1"/>
    <dgm:cxn modelId="{2DD8F5EC-D7BA-4523-931C-A637AB96CB31}" type="presParOf" srcId="{D0C57778-2E2F-4213-8E7B-DD31C63DAD23}" destId="{E30DAA8B-84D2-4385-B9F8-1E2135D65C23}" srcOrd="0" destOrd="0" presId="urn:microsoft.com/office/officeart/2005/8/layout/hierarchy1"/>
    <dgm:cxn modelId="{10AC2E29-BA15-42EA-B1BA-8419C282ED70}" type="presParOf" srcId="{E30DAA8B-84D2-4385-B9F8-1E2135D65C23}" destId="{9814C4FC-8C60-43BD-9C75-0A3197852776}" srcOrd="0" destOrd="0" presId="urn:microsoft.com/office/officeart/2005/8/layout/hierarchy1"/>
    <dgm:cxn modelId="{B2E89F27-43A5-48E9-90D4-A8DF8DFFAED9}" type="presParOf" srcId="{E30DAA8B-84D2-4385-B9F8-1E2135D65C23}" destId="{AE43E09A-7B6D-4C4F-8C4B-F8964DE718B8}" srcOrd="1" destOrd="0" presId="urn:microsoft.com/office/officeart/2005/8/layout/hierarchy1"/>
    <dgm:cxn modelId="{2183FAD8-6616-422A-9C5B-D650929C1AAB}" type="presParOf" srcId="{D0C57778-2E2F-4213-8E7B-DD31C63DAD23}" destId="{3F7F90D8-E403-4224-8778-EA00067D3F25}"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0D48658A-4E1E-4926-B5B3-0521A0B0836D}"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F5989CF7-4C14-4947-8C8D-9908B251B72A}">
      <dgm:prSet/>
      <dgm:spPr/>
      <dgm:t>
        <a:bodyPr/>
        <a:lstStyle/>
        <a:p>
          <a:r>
            <a:rPr lang="en-US"/>
            <a:t>The Confirmation message states that the process was submitted.</a:t>
          </a:r>
        </a:p>
      </dgm:t>
    </dgm:pt>
    <dgm:pt modelId="{DD455CEA-35BD-4419-A3BB-18F9C4B75E0D}" type="parTrans" cxnId="{1AE5773B-8FB6-467D-831F-C210909181C9}">
      <dgm:prSet/>
      <dgm:spPr/>
      <dgm:t>
        <a:bodyPr/>
        <a:lstStyle/>
        <a:p>
          <a:endParaRPr lang="en-US"/>
        </a:p>
      </dgm:t>
    </dgm:pt>
    <dgm:pt modelId="{92A97678-9E2C-4C06-AC24-7444FD6E9A6B}" type="sibTrans" cxnId="{1AE5773B-8FB6-467D-831F-C210909181C9}">
      <dgm:prSet/>
      <dgm:spPr/>
      <dgm:t>
        <a:bodyPr/>
        <a:lstStyle/>
        <a:p>
          <a:endParaRPr lang="en-US"/>
        </a:p>
      </dgm:t>
    </dgm:pt>
    <dgm:pt modelId="{0D83F427-0681-4FDE-944D-7F334498319E}">
      <dgm:prSet/>
      <dgm:spPr/>
      <dgm:t>
        <a:bodyPr/>
        <a:lstStyle/>
        <a:p>
          <a:r>
            <a:rPr lang="en-US"/>
            <a:t>The reversal runs as a scheduled process and generates the reversal journal in the selected period</a:t>
          </a:r>
        </a:p>
      </dgm:t>
    </dgm:pt>
    <dgm:pt modelId="{087FB64B-311A-4C95-8DC7-777D023E79C2}" type="parTrans" cxnId="{96C17C4E-697A-48B1-A792-8F63A6AE2C78}">
      <dgm:prSet/>
      <dgm:spPr/>
      <dgm:t>
        <a:bodyPr/>
        <a:lstStyle/>
        <a:p>
          <a:endParaRPr lang="en-US"/>
        </a:p>
      </dgm:t>
    </dgm:pt>
    <dgm:pt modelId="{F55422DB-B4ED-4EAD-8023-2BA58402FE64}" type="sibTrans" cxnId="{96C17C4E-697A-48B1-A792-8F63A6AE2C78}">
      <dgm:prSet/>
      <dgm:spPr/>
      <dgm:t>
        <a:bodyPr/>
        <a:lstStyle/>
        <a:p>
          <a:endParaRPr lang="en-US"/>
        </a:p>
      </dgm:t>
    </dgm:pt>
    <dgm:pt modelId="{7CCBE78A-4D08-4EB1-87BD-2C93B0E46AF0}" type="pres">
      <dgm:prSet presAssocID="{0D48658A-4E1E-4926-B5B3-0521A0B0836D}" presName="hierChild1" presStyleCnt="0">
        <dgm:presLayoutVars>
          <dgm:chPref val="1"/>
          <dgm:dir/>
          <dgm:animOne val="branch"/>
          <dgm:animLvl val="lvl"/>
          <dgm:resizeHandles/>
        </dgm:presLayoutVars>
      </dgm:prSet>
      <dgm:spPr/>
    </dgm:pt>
    <dgm:pt modelId="{F66BA21D-3B1F-4565-AE46-176DEA751D5C}" type="pres">
      <dgm:prSet presAssocID="{F5989CF7-4C14-4947-8C8D-9908B251B72A}" presName="hierRoot1" presStyleCnt="0"/>
      <dgm:spPr/>
    </dgm:pt>
    <dgm:pt modelId="{8ACBAF52-C42E-4E74-9F43-428059290C8D}" type="pres">
      <dgm:prSet presAssocID="{F5989CF7-4C14-4947-8C8D-9908B251B72A}" presName="composite" presStyleCnt="0"/>
      <dgm:spPr/>
    </dgm:pt>
    <dgm:pt modelId="{364797A9-E473-4905-911F-614B33CBD80B}" type="pres">
      <dgm:prSet presAssocID="{F5989CF7-4C14-4947-8C8D-9908B251B72A}" presName="background" presStyleLbl="node0" presStyleIdx="0" presStyleCnt="2"/>
      <dgm:spPr/>
    </dgm:pt>
    <dgm:pt modelId="{B90C4D13-A838-44F4-AE85-E6771A661875}" type="pres">
      <dgm:prSet presAssocID="{F5989CF7-4C14-4947-8C8D-9908B251B72A}" presName="text" presStyleLbl="fgAcc0" presStyleIdx="0" presStyleCnt="2">
        <dgm:presLayoutVars>
          <dgm:chPref val="3"/>
        </dgm:presLayoutVars>
      </dgm:prSet>
      <dgm:spPr/>
    </dgm:pt>
    <dgm:pt modelId="{550D1DE2-F9F8-4EA9-8505-DE0906459ED5}" type="pres">
      <dgm:prSet presAssocID="{F5989CF7-4C14-4947-8C8D-9908B251B72A}" presName="hierChild2" presStyleCnt="0"/>
      <dgm:spPr/>
    </dgm:pt>
    <dgm:pt modelId="{A8497B12-A5E9-43CB-BC59-59F001E224ED}" type="pres">
      <dgm:prSet presAssocID="{0D83F427-0681-4FDE-944D-7F334498319E}" presName="hierRoot1" presStyleCnt="0"/>
      <dgm:spPr/>
    </dgm:pt>
    <dgm:pt modelId="{DA2CD81F-D401-4548-8829-D0FC7AEDFEA4}" type="pres">
      <dgm:prSet presAssocID="{0D83F427-0681-4FDE-944D-7F334498319E}" presName="composite" presStyleCnt="0"/>
      <dgm:spPr/>
    </dgm:pt>
    <dgm:pt modelId="{BBD545D7-5040-4299-811F-6075C9AB32F7}" type="pres">
      <dgm:prSet presAssocID="{0D83F427-0681-4FDE-944D-7F334498319E}" presName="background" presStyleLbl="node0" presStyleIdx="1" presStyleCnt="2"/>
      <dgm:spPr/>
    </dgm:pt>
    <dgm:pt modelId="{18439C90-20BB-4A3B-93E1-7B7368B9D3E1}" type="pres">
      <dgm:prSet presAssocID="{0D83F427-0681-4FDE-944D-7F334498319E}" presName="text" presStyleLbl="fgAcc0" presStyleIdx="1" presStyleCnt="2">
        <dgm:presLayoutVars>
          <dgm:chPref val="3"/>
        </dgm:presLayoutVars>
      </dgm:prSet>
      <dgm:spPr/>
    </dgm:pt>
    <dgm:pt modelId="{2F517500-4A3F-436A-8C95-E2CCFFFC315C}" type="pres">
      <dgm:prSet presAssocID="{0D83F427-0681-4FDE-944D-7F334498319E}" presName="hierChild2" presStyleCnt="0"/>
      <dgm:spPr/>
    </dgm:pt>
  </dgm:ptLst>
  <dgm:cxnLst>
    <dgm:cxn modelId="{080A0B2E-26E0-427A-BF8E-70A81B535C4D}" type="presOf" srcId="{F5989CF7-4C14-4947-8C8D-9908B251B72A}" destId="{B90C4D13-A838-44F4-AE85-E6771A661875}" srcOrd="0" destOrd="0" presId="urn:microsoft.com/office/officeart/2005/8/layout/hierarchy1"/>
    <dgm:cxn modelId="{1AE5773B-8FB6-467D-831F-C210909181C9}" srcId="{0D48658A-4E1E-4926-B5B3-0521A0B0836D}" destId="{F5989CF7-4C14-4947-8C8D-9908B251B72A}" srcOrd="0" destOrd="0" parTransId="{DD455CEA-35BD-4419-A3BB-18F9C4B75E0D}" sibTransId="{92A97678-9E2C-4C06-AC24-7444FD6E9A6B}"/>
    <dgm:cxn modelId="{10CC9D3E-3E26-4A87-AE34-6F5C8569B8BB}" type="presOf" srcId="{0D83F427-0681-4FDE-944D-7F334498319E}" destId="{18439C90-20BB-4A3B-93E1-7B7368B9D3E1}" srcOrd="0" destOrd="0" presId="urn:microsoft.com/office/officeart/2005/8/layout/hierarchy1"/>
    <dgm:cxn modelId="{96C17C4E-697A-48B1-A792-8F63A6AE2C78}" srcId="{0D48658A-4E1E-4926-B5B3-0521A0B0836D}" destId="{0D83F427-0681-4FDE-944D-7F334498319E}" srcOrd="1" destOrd="0" parTransId="{087FB64B-311A-4C95-8DC7-777D023E79C2}" sibTransId="{F55422DB-B4ED-4EAD-8023-2BA58402FE64}"/>
    <dgm:cxn modelId="{348D3175-A498-4BE1-9C61-2B2C58DA273C}" type="presOf" srcId="{0D48658A-4E1E-4926-B5B3-0521A0B0836D}" destId="{7CCBE78A-4D08-4EB1-87BD-2C93B0E46AF0}" srcOrd="0" destOrd="0" presId="urn:microsoft.com/office/officeart/2005/8/layout/hierarchy1"/>
    <dgm:cxn modelId="{9C92C261-072D-4165-9C89-56DEF754B155}" type="presParOf" srcId="{7CCBE78A-4D08-4EB1-87BD-2C93B0E46AF0}" destId="{F66BA21D-3B1F-4565-AE46-176DEA751D5C}" srcOrd="0" destOrd="0" presId="urn:microsoft.com/office/officeart/2005/8/layout/hierarchy1"/>
    <dgm:cxn modelId="{707A6C95-E52A-48E1-86E9-9193F7CC5492}" type="presParOf" srcId="{F66BA21D-3B1F-4565-AE46-176DEA751D5C}" destId="{8ACBAF52-C42E-4E74-9F43-428059290C8D}" srcOrd="0" destOrd="0" presId="urn:microsoft.com/office/officeart/2005/8/layout/hierarchy1"/>
    <dgm:cxn modelId="{F823EE08-1CFB-4FE1-8A84-B71985BC73AB}" type="presParOf" srcId="{8ACBAF52-C42E-4E74-9F43-428059290C8D}" destId="{364797A9-E473-4905-911F-614B33CBD80B}" srcOrd="0" destOrd="0" presId="urn:microsoft.com/office/officeart/2005/8/layout/hierarchy1"/>
    <dgm:cxn modelId="{FF86C2EB-D566-4858-A26B-B70821F80434}" type="presParOf" srcId="{8ACBAF52-C42E-4E74-9F43-428059290C8D}" destId="{B90C4D13-A838-44F4-AE85-E6771A661875}" srcOrd="1" destOrd="0" presId="urn:microsoft.com/office/officeart/2005/8/layout/hierarchy1"/>
    <dgm:cxn modelId="{BC4243F1-E10F-493C-8C58-2430811E3104}" type="presParOf" srcId="{F66BA21D-3B1F-4565-AE46-176DEA751D5C}" destId="{550D1DE2-F9F8-4EA9-8505-DE0906459ED5}" srcOrd="1" destOrd="0" presId="urn:microsoft.com/office/officeart/2005/8/layout/hierarchy1"/>
    <dgm:cxn modelId="{C101048A-6022-4FAB-8ADA-A435645B5F3B}" type="presParOf" srcId="{7CCBE78A-4D08-4EB1-87BD-2C93B0E46AF0}" destId="{A8497B12-A5E9-43CB-BC59-59F001E224ED}" srcOrd="1" destOrd="0" presId="urn:microsoft.com/office/officeart/2005/8/layout/hierarchy1"/>
    <dgm:cxn modelId="{DD8803D2-D2C9-44AA-BFA6-76DD8CE0AACD}" type="presParOf" srcId="{A8497B12-A5E9-43CB-BC59-59F001E224ED}" destId="{DA2CD81F-D401-4548-8829-D0FC7AEDFEA4}" srcOrd="0" destOrd="0" presId="urn:microsoft.com/office/officeart/2005/8/layout/hierarchy1"/>
    <dgm:cxn modelId="{02709740-9849-4522-B0EB-DDC1295582F2}" type="presParOf" srcId="{DA2CD81F-D401-4548-8829-D0FC7AEDFEA4}" destId="{BBD545D7-5040-4299-811F-6075C9AB32F7}" srcOrd="0" destOrd="0" presId="urn:microsoft.com/office/officeart/2005/8/layout/hierarchy1"/>
    <dgm:cxn modelId="{9B02876F-C340-4D75-B50C-29CF8F71D7B9}" type="presParOf" srcId="{DA2CD81F-D401-4548-8829-D0FC7AEDFEA4}" destId="{18439C90-20BB-4A3B-93E1-7B7368B9D3E1}" srcOrd="1" destOrd="0" presId="urn:microsoft.com/office/officeart/2005/8/layout/hierarchy1"/>
    <dgm:cxn modelId="{DA75B482-1D7F-462D-819E-7172C8C76C5B}" type="presParOf" srcId="{A8497B12-A5E9-43CB-BC59-59F001E224ED}" destId="{2F517500-4A3F-436A-8C95-E2CCFFFC315C}"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ADEAB1AD-7F24-43B5-87B7-47D7A90FEA55}"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3895CDF2-656A-461F-9F88-3A5473A00243}">
      <dgm:prSet/>
      <dgm:spPr/>
      <dgm:t>
        <a:bodyPr/>
        <a:lstStyle/>
        <a:p>
          <a:r>
            <a:rPr lang="en-US"/>
            <a:t>Search Accounting Period Mar-26 and click Search.</a:t>
          </a:r>
        </a:p>
      </dgm:t>
    </dgm:pt>
    <dgm:pt modelId="{C23BF73F-D39D-42AC-A0EF-1381EB841908}" type="parTrans" cxnId="{BC54A4D7-A495-42A5-AD00-9DF8DE3B3A7F}">
      <dgm:prSet/>
      <dgm:spPr/>
      <dgm:t>
        <a:bodyPr/>
        <a:lstStyle/>
        <a:p>
          <a:endParaRPr lang="en-US"/>
        </a:p>
      </dgm:t>
    </dgm:pt>
    <dgm:pt modelId="{DEAC113A-F8C9-4B7E-A40E-2BD75058E401}" type="sibTrans" cxnId="{BC54A4D7-A495-42A5-AD00-9DF8DE3B3A7F}">
      <dgm:prSet/>
      <dgm:spPr/>
      <dgm:t>
        <a:bodyPr/>
        <a:lstStyle/>
        <a:p>
          <a:endParaRPr lang="en-US"/>
        </a:p>
      </dgm:t>
    </dgm:pt>
    <dgm:pt modelId="{1A8B4096-08FA-4E54-BFEF-33DAE048EF8B}">
      <dgm:prSet/>
      <dgm:spPr/>
      <dgm:t>
        <a:bodyPr/>
        <a:lstStyle/>
        <a:p>
          <a:r>
            <a:rPr lang="en-US"/>
            <a:t>The system-generated journal, named "Reverses Journal 1 …", appears with 80,000.00 EGP debit and credit.</a:t>
          </a:r>
        </a:p>
      </dgm:t>
    </dgm:pt>
    <dgm:pt modelId="{F01C0B64-1485-4EEA-BEBA-6319B70C4C03}" type="parTrans" cxnId="{CF05F6B7-FAA8-4221-9D9E-5C39CD12004A}">
      <dgm:prSet/>
      <dgm:spPr/>
      <dgm:t>
        <a:bodyPr/>
        <a:lstStyle/>
        <a:p>
          <a:endParaRPr lang="en-US"/>
        </a:p>
      </dgm:t>
    </dgm:pt>
    <dgm:pt modelId="{A9D480C3-3E7C-4930-9132-AA34FA8EA9F2}" type="sibTrans" cxnId="{CF05F6B7-FAA8-4221-9D9E-5C39CD12004A}">
      <dgm:prSet/>
      <dgm:spPr/>
      <dgm:t>
        <a:bodyPr/>
        <a:lstStyle/>
        <a:p>
          <a:endParaRPr lang="en-US"/>
        </a:p>
      </dgm:t>
    </dgm:pt>
    <dgm:pt modelId="{8DC25DFD-815A-427B-BB01-BEF728D2A577}">
      <dgm:prSet/>
      <dgm:spPr/>
      <dgm:t>
        <a:bodyPr/>
        <a:lstStyle/>
        <a:p>
          <a:r>
            <a:rPr lang="en-US"/>
            <a:t>Its Batch Status is Unposted; post the batch to complete the reversal</a:t>
          </a:r>
        </a:p>
      </dgm:t>
    </dgm:pt>
    <dgm:pt modelId="{0FD66329-DA4B-4396-8BBE-11CF8BDD8963}" type="parTrans" cxnId="{63DC0173-B4B3-4E53-9025-9968752EC3E2}">
      <dgm:prSet/>
      <dgm:spPr/>
      <dgm:t>
        <a:bodyPr/>
        <a:lstStyle/>
        <a:p>
          <a:endParaRPr lang="en-US"/>
        </a:p>
      </dgm:t>
    </dgm:pt>
    <dgm:pt modelId="{86F27732-1475-4519-BE58-0EFC89E0EFA4}" type="sibTrans" cxnId="{63DC0173-B4B3-4E53-9025-9968752EC3E2}">
      <dgm:prSet/>
      <dgm:spPr/>
      <dgm:t>
        <a:bodyPr/>
        <a:lstStyle/>
        <a:p>
          <a:endParaRPr lang="en-US"/>
        </a:p>
      </dgm:t>
    </dgm:pt>
    <dgm:pt modelId="{FAD122B4-11F6-435E-A26B-FBA8C3077D42}" type="pres">
      <dgm:prSet presAssocID="{ADEAB1AD-7F24-43B5-87B7-47D7A90FEA55}" presName="hierChild1" presStyleCnt="0">
        <dgm:presLayoutVars>
          <dgm:chPref val="1"/>
          <dgm:dir/>
          <dgm:animOne val="branch"/>
          <dgm:animLvl val="lvl"/>
          <dgm:resizeHandles/>
        </dgm:presLayoutVars>
      </dgm:prSet>
      <dgm:spPr/>
    </dgm:pt>
    <dgm:pt modelId="{08E5E5F8-A082-4EE0-8249-FA8A34C31AEA}" type="pres">
      <dgm:prSet presAssocID="{3895CDF2-656A-461F-9F88-3A5473A00243}" presName="hierRoot1" presStyleCnt="0"/>
      <dgm:spPr/>
    </dgm:pt>
    <dgm:pt modelId="{925B985D-D07C-4FC2-8B9E-9F1492572491}" type="pres">
      <dgm:prSet presAssocID="{3895CDF2-656A-461F-9F88-3A5473A00243}" presName="composite" presStyleCnt="0"/>
      <dgm:spPr/>
    </dgm:pt>
    <dgm:pt modelId="{B569BD9B-721A-44F2-83C6-B30B405681A9}" type="pres">
      <dgm:prSet presAssocID="{3895CDF2-656A-461F-9F88-3A5473A00243}" presName="background" presStyleLbl="node0" presStyleIdx="0" presStyleCnt="3"/>
      <dgm:spPr/>
    </dgm:pt>
    <dgm:pt modelId="{EC63DC0B-79B3-4EF0-8970-192B29390905}" type="pres">
      <dgm:prSet presAssocID="{3895CDF2-656A-461F-9F88-3A5473A00243}" presName="text" presStyleLbl="fgAcc0" presStyleIdx="0" presStyleCnt="3">
        <dgm:presLayoutVars>
          <dgm:chPref val="3"/>
        </dgm:presLayoutVars>
      </dgm:prSet>
      <dgm:spPr/>
    </dgm:pt>
    <dgm:pt modelId="{285EE977-490E-452B-9117-63D0B3C53375}" type="pres">
      <dgm:prSet presAssocID="{3895CDF2-656A-461F-9F88-3A5473A00243}" presName="hierChild2" presStyleCnt="0"/>
      <dgm:spPr/>
    </dgm:pt>
    <dgm:pt modelId="{2B1C1F9A-5915-4791-9FF4-5D6007E6A2B8}" type="pres">
      <dgm:prSet presAssocID="{1A8B4096-08FA-4E54-BFEF-33DAE048EF8B}" presName="hierRoot1" presStyleCnt="0"/>
      <dgm:spPr/>
    </dgm:pt>
    <dgm:pt modelId="{06D039BF-C29D-4D5A-B179-26CC0AEF5B9B}" type="pres">
      <dgm:prSet presAssocID="{1A8B4096-08FA-4E54-BFEF-33DAE048EF8B}" presName="composite" presStyleCnt="0"/>
      <dgm:spPr/>
    </dgm:pt>
    <dgm:pt modelId="{9FC3A3ED-61BD-4DA0-85F3-5B7E717C965B}" type="pres">
      <dgm:prSet presAssocID="{1A8B4096-08FA-4E54-BFEF-33DAE048EF8B}" presName="background" presStyleLbl="node0" presStyleIdx="1" presStyleCnt="3"/>
      <dgm:spPr/>
    </dgm:pt>
    <dgm:pt modelId="{E5CDA0EA-833F-447F-BBEC-003F6623F2D3}" type="pres">
      <dgm:prSet presAssocID="{1A8B4096-08FA-4E54-BFEF-33DAE048EF8B}" presName="text" presStyleLbl="fgAcc0" presStyleIdx="1" presStyleCnt="3">
        <dgm:presLayoutVars>
          <dgm:chPref val="3"/>
        </dgm:presLayoutVars>
      </dgm:prSet>
      <dgm:spPr/>
    </dgm:pt>
    <dgm:pt modelId="{92453846-693B-4324-BB21-92C8CEFF2983}" type="pres">
      <dgm:prSet presAssocID="{1A8B4096-08FA-4E54-BFEF-33DAE048EF8B}" presName="hierChild2" presStyleCnt="0"/>
      <dgm:spPr/>
    </dgm:pt>
    <dgm:pt modelId="{F4CA977D-0590-45C8-B938-A0BFDB26E346}" type="pres">
      <dgm:prSet presAssocID="{8DC25DFD-815A-427B-BB01-BEF728D2A577}" presName="hierRoot1" presStyleCnt="0"/>
      <dgm:spPr/>
    </dgm:pt>
    <dgm:pt modelId="{D9C9E763-6837-4C28-9448-5333E6905FAA}" type="pres">
      <dgm:prSet presAssocID="{8DC25DFD-815A-427B-BB01-BEF728D2A577}" presName="composite" presStyleCnt="0"/>
      <dgm:spPr/>
    </dgm:pt>
    <dgm:pt modelId="{49DF724E-2826-476D-93F4-DF431D3336EB}" type="pres">
      <dgm:prSet presAssocID="{8DC25DFD-815A-427B-BB01-BEF728D2A577}" presName="background" presStyleLbl="node0" presStyleIdx="2" presStyleCnt="3"/>
      <dgm:spPr/>
    </dgm:pt>
    <dgm:pt modelId="{9F67BF3B-C006-43BD-8A02-E2E5719CC18B}" type="pres">
      <dgm:prSet presAssocID="{8DC25DFD-815A-427B-BB01-BEF728D2A577}" presName="text" presStyleLbl="fgAcc0" presStyleIdx="2" presStyleCnt="3">
        <dgm:presLayoutVars>
          <dgm:chPref val="3"/>
        </dgm:presLayoutVars>
      </dgm:prSet>
      <dgm:spPr/>
    </dgm:pt>
    <dgm:pt modelId="{C858EABE-D094-43C5-8D26-D080E2845858}" type="pres">
      <dgm:prSet presAssocID="{8DC25DFD-815A-427B-BB01-BEF728D2A577}" presName="hierChild2" presStyleCnt="0"/>
      <dgm:spPr/>
    </dgm:pt>
  </dgm:ptLst>
  <dgm:cxnLst>
    <dgm:cxn modelId="{BA424164-B786-4C54-BA09-4C6D57F21A19}" type="presOf" srcId="{ADEAB1AD-7F24-43B5-87B7-47D7A90FEA55}" destId="{FAD122B4-11F6-435E-A26B-FBA8C3077D42}" srcOrd="0" destOrd="0" presId="urn:microsoft.com/office/officeart/2005/8/layout/hierarchy1"/>
    <dgm:cxn modelId="{64449644-0670-4045-AF0A-E789628E9BC9}" type="presOf" srcId="{1A8B4096-08FA-4E54-BFEF-33DAE048EF8B}" destId="{E5CDA0EA-833F-447F-BBEC-003F6623F2D3}" srcOrd="0" destOrd="0" presId="urn:microsoft.com/office/officeart/2005/8/layout/hierarchy1"/>
    <dgm:cxn modelId="{63DC0173-B4B3-4E53-9025-9968752EC3E2}" srcId="{ADEAB1AD-7F24-43B5-87B7-47D7A90FEA55}" destId="{8DC25DFD-815A-427B-BB01-BEF728D2A577}" srcOrd="2" destOrd="0" parTransId="{0FD66329-DA4B-4396-8BBE-11CF8BDD8963}" sibTransId="{86F27732-1475-4519-BE58-0EFC89E0EFA4}"/>
    <dgm:cxn modelId="{07DE3A98-E948-47C3-AFD3-7C3451248325}" type="presOf" srcId="{8DC25DFD-815A-427B-BB01-BEF728D2A577}" destId="{9F67BF3B-C006-43BD-8A02-E2E5719CC18B}" srcOrd="0" destOrd="0" presId="urn:microsoft.com/office/officeart/2005/8/layout/hierarchy1"/>
    <dgm:cxn modelId="{CF05F6B7-FAA8-4221-9D9E-5C39CD12004A}" srcId="{ADEAB1AD-7F24-43B5-87B7-47D7A90FEA55}" destId="{1A8B4096-08FA-4E54-BFEF-33DAE048EF8B}" srcOrd="1" destOrd="0" parTransId="{F01C0B64-1485-4EEA-BEBA-6319B70C4C03}" sibTransId="{A9D480C3-3E7C-4930-9132-AA34FA8EA9F2}"/>
    <dgm:cxn modelId="{BC54A4D7-A495-42A5-AD00-9DF8DE3B3A7F}" srcId="{ADEAB1AD-7F24-43B5-87B7-47D7A90FEA55}" destId="{3895CDF2-656A-461F-9F88-3A5473A00243}" srcOrd="0" destOrd="0" parTransId="{C23BF73F-D39D-42AC-A0EF-1381EB841908}" sibTransId="{DEAC113A-F8C9-4B7E-A40E-2BD75058E401}"/>
    <dgm:cxn modelId="{61E3D8DE-DB8B-41FC-9F81-20B1A33F7926}" type="presOf" srcId="{3895CDF2-656A-461F-9F88-3A5473A00243}" destId="{EC63DC0B-79B3-4EF0-8970-192B29390905}" srcOrd="0" destOrd="0" presId="urn:microsoft.com/office/officeart/2005/8/layout/hierarchy1"/>
    <dgm:cxn modelId="{331B4B5B-4AA2-4A09-ACB1-00EE9D41BFB2}" type="presParOf" srcId="{FAD122B4-11F6-435E-A26B-FBA8C3077D42}" destId="{08E5E5F8-A082-4EE0-8249-FA8A34C31AEA}" srcOrd="0" destOrd="0" presId="urn:microsoft.com/office/officeart/2005/8/layout/hierarchy1"/>
    <dgm:cxn modelId="{E0F80AB4-3F04-4FC0-982B-E945BD234DEE}" type="presParOf" srcId="{08E5E5F8-A082-4EE0-8249-FA8A34C31AEA}" destId="{925B985D-D07C-4FC2-8B9E-9F1492572491}" srcOrd="0" destOrd="0" presId="urn:microsoft.com/office/officeart/2005/8/layout/hierarchy1"/>
    <dgm:cxn modelId="{9AFC7DEB-790C-4748-B0FE-F4ABA81D5076}" type="presParOf" srcId="{925B985D-D07C-4FC2-8B9E-9F1492572491}" destId="{B569BD9B-721A-44F2-83C6-B30B405681A9}" srcOrd="0" destOrd="0" presId="urn:microsoft.com/office/officeart/2005/8/layout/hierarchy1"/>
    <dgm:cxn modelId="{7FAF692B-CB3E-4AF5-89F3-EA6BDA5689B7}" type="presParOf" srcId="{925B985D-D07C-4FC2-8B9E-9F1492572491}" destId="{EC63DC0B-79B3-4EF0-8970-192B29390905}" srcOrd="1" destOrd="0" presId="urn:microsoft.com/office/officeart/2005/8/layout/hierarchy1"/>
    <dgm:cxn modelId="{BFBE941C-9B49-4E00-A9EF-3C008DADA6A9}" type="presParOf" srcId="{08E5E5F8-A082-4EE0-8249-FA8A34C31AEA}" destId="{285EE977-490E-452B-9117-63D0B3C53375}" srcOrd="1" destOrd="0" presId="urn:microsoft.com/office/officeart/2005/8/layout/hierarchy1"/>
    <dgm:cxn modelId="{5733B76C-DA98-4BBC-BFC1-830D56353B55}" type="presParOf" srcId="{FAD122B4-11F6-435E-A26B-FBA8C3077D42}" destId="{2B1C1F9A-5915-4791-9FF4-5D6007E6A2B8}" srcOrd="1" destOrd="0" presId="urn:microsoft.com/office/officeart/2005/8/layout/hierarchy1"/>
    <dgm:cxn modelId="{D3B6A8C2-4146-4385-B7AF-BD3257CB4C3C}" type="presParOf" srcId="{2B1C1F9A-5915-4791-9FF4-5D6007E6A2B8}" destId="{06D039BF-C29D-4D5A-B179-26CC0AEF5B9B}" srcOrd="0" destOrd="0" presId="urn:microsoft.com/office/officeart/2005/8/layout/hierarchy1"/>
    <dgm:cxn modelId="{A4F22929-5836-4666-B6D2-CA0F14CC918E}" type="presParOf" srcId="{06D039BF-C29D-4D5A-B179-26CC0AEF5B9B}" destId="{9FC3A3ED-61BD-4DA0-85F3-5B7E717C965B}" srcOrd="0" destOrd="0" presId="urn:microsoft.com/office/officeart/2005/8/layout/hierarchy1"/>
    <dgm:cxn modelId="{52F7863A-5841-488F-B9F1-F61AC68EEB2C}" type="presParOf" srcId="{06D039BF-C29D-4D5A-B179-26CC0AEF5B9B}" destId="{E5CDA0EA-833F-447F-BBEC-003F6623F2D3}" srcOrd="1" destOrd="0" presId="urn:microsoft.com/office/officeart/2005/8/layout/hierarchy1"/>
    <dgm:cxn modelId="{0025A424-81E5-4234-B4D4-73129D1A47FF}" type="presParOf" srcId="{2B1C1F9A-5915-4791-9FF4-5D6007E6A2B8}" destId="{92453846-693B-4324-BB21-92C8CEFF2983}" srcOrd="1" destOrd="0" presId="urn:microsoft.com/office/officeart/2005/8/layout/hierarchy1"/>
    <dgm:cxn modelId="{CF5F91FA-1B55-4FC0-8DC8-63BA18941716}" type="presParOf" srcId="{FAD122B4-11F6-435E-A26B-FBA8C3077D42}" destId="{F4CA977D-0590-45C8-B938-A0BFDB26E346}" srcOrd="2" destOrd="0" presId="urn:microsoft.com/office/officeart/2005/8/layout/hierarchy1"/>
    <dgm:cxn modelId="{089EBF82-1537-4DC2-B629-253E1BE72256}" type="presParOf" srcId="{F4CA977D-0590-45C8-B938-A0BFDB26E346}" destId="{D9C9E763-6837-4C28-9448-5333E6905FAA}" srcOrd="0" destOrd="0" presId="urn:microsoft.com/office/officeart/2005/8/layout/hierarchy1"/>
    <dgm:cxn modelId="{1EAF302A-0D64-4503-AE7D-0EF7B26BF283}" type="presParOf" srcId="{D9C9E763-6837-4C28-9448-5333E6905FAA}" destId="{49DF724E-2826-476D-93F4-DF431D3336EB}" srcOrd="0" destOrd="0" presId="urn:microsoft.com/office/officeart/2005/8/layout/hierarchy1"/>
    <dgm:cxn modelId="{E3D8DB3F-237A-4198-8531-36CF1EEDC8A0}" type="presParOf" srcId="{D9C9E763-6837-4C28-9448-5333E6905FAA}" destId="{9F67BF3B-C006-43BD-8A02-E2E5719CC18B}" srcOrd="1" destOrd="0" presId="urn:microsoft.com/office/officeart/2005/8/layout/hierarchy1"/>
    <dgm:cxn modelId="{69DA7C38-C3A1-4583-A195-A676022D2481}" type="presParOf" srcId="{F4CA977D-0590-45C8-B938-A0BFDB26E346}" destId="{C858EABE-D094-43C5-8D26-D080E284585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8D9C7E6-CC3B-40DF-9418-1611AF55DC1E}"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54CABB7F-AF64-4BF2-83E3-E43F8B1E6A8C}">
      <dgm:prSet/>
      <dgm:spPr/>
      <dgm:t>
        <a:bodyPr/>
        <a:lstStyle/>
        <a:p>
          <a:r>
            <a:rPr lang="en-US"/>
            <a:t>Open Settings and Actions and select Setup and Maintenance.</a:t>
          </a:r>
        </a:p>
      </dgm:t>
    </dgm:pt>
    <dgm:pt modelId="{BAA04362-F56B-44D1-80A9-056066B3CB4A}" type="parTrans" cxnId="{7E294D5E-E468-4A16-9FC8-A99F38C7E1B3}">
      <dgm:prSet/>
      <dgm:spPr/>
      <dgm:t>
        <a:bodyPr/>
        <a:lstStyle/>
        <a:p>
          <a:endParaRPr lang="en-US"/>
        </a:p>
      </dgm:t>
    </dgm:pt>
    <dgm:pt modelId="{BC68E49F-99C7-4964-A013-F1AE235E796D}" type="sibTrans" cxnId="{7E294D5E-E468-4A16-9FC8-A99F38C7E1B3}">
      <dgm:prSet/>
      <dgm:spPr/>
      <dgm:t>
        <a:bodyPr/>
        <a:lstStyle/>
        <a:p>
          <a:endParaRPr lang="en-US"/>
        </a:p>
      </dgm:t>
    </dgm:pt>
    <dgm:pt modelId="{241949B1-5E1F-41CA-AC8F-C339CE16A7B2}">
      <dgm:prSet/>
      <dgm:spPr/>
      <dgm:t>
        <a:bodyPr/>
        <a:lstStyle/>
        <a:p>
          <a:r>
            <a:rPr lang="en-US"/>
            <a:t>This launches the Functional Setup Manager for the Financials offering.</a:t>
          </a:r>
        </a:p>
      </dgm:t>
    </dgm:pt>
    <dgm:pt modelId="{7A870611-9789-4490-8BB7-7EF4E7CD32AB}" type="parTrans" cxnId="{DAAE5D4C-4966-41B2-B3E7-DDBBA490C6A5}">
      <dgm:prSet/>
      <dgm:spPr/>
      <dgm:t>
        <a:bodyPr/>
        <a:lstStyle/>
        <a:p>
          <a:endParaRPr lang="en-US"/>
        </a:p>
      </dgm:t>
    </dgm:pt>
    <dgm:pt modelId="{91E03D6C-361D-45C3-92E2-7AF7AE92B9B0}" type="sibTrans" cxnId="{DAAE5D4C-4966-41B2-B3E7-DDBBA490C6A5}">
      <dgm:prSet/>
      <dgm:spPr/>
      <dgm:t>
        <a:bodyPr/>
        <a:lstStyle/>
        <a:p>
          <a:endParaRPr lang="en-US"/>
        </a:p>
      </dgm:t>
    </dgm:pt>
    <dgm:pt modelId="{14EF8AE6-0B0A-4D19-8735-50DF7E2B6CA6}" type="pres">
      <dgm:prSet presAssocID="{38D9C7E6-CC3B-40DF-9418-1611AF55DC1E}" presName="hierChild1" presStyleCnt="0">
        <dgm:presLayoutVars>
          <dgm:chPref val="1"/>
          <dgm:dir/>
          <dgm:animOne val="branch"/>
          <dgm:animLvl val="lvl"/>
          <dgm:resizeHandles/>
        </dgm:presLayoutVars>
      </dgm:prSet>
      <dgm:spPr/>
    </dgm:pt>
    <dgm:pt modelId="{2101AEB6-54A1-4FDB-B04D-AB51956EF523}" type="pres">
      <dgm:prSet presAssocID="{54CABB7F-AF64-4BF2-83E3-E43F8B1E6A8C}" presName="hierRoot1" presStyleCnt="0"/>
      <dgm:spPr/>
    </dgm:pt>
    <dgm:pt modelId="{D78EB097-C1D7-46E7-8D17-324C6088F9CE}" type="pres">
      <dgm:prSet presAssocID="{54CABB7F-AF64-4BF2-83E3-E43F8B1E6A8C}" presName="composite" presStyleCnt="0"/>
      <dgm:spPr/>
    </dgm:pt>
    <dgm:pt modelId="{2FD6521C-E479-49FA-AFB6-6E18DC7CD67B}" type="pres">
      <dgm:prSet presAssocID="{54CABB7F-AF64-4BF2-83E3-E43F8B1E6A8C}" presName="background" presStyleLbl="node0" presStyleIdx="0" presStyleCnt="2"/>
      <dgm:spPr/>
    </dgm:pt>
    <dgm:pt modelId="{EC194150-5694-48E8-BDBB-015CB7AC1C8C}" type="pres">
      <dgm:prSet presAssocID="{54CABB7F-AF64-4BF2-83E3-E43F8B1E6A8C}" presName="text" presStyleLbl="fgAcc0" presStyleIdx="0" presStyleCnt="2">
        <dgm:presLayoutVars>
          <dgm:chPref val="3"/>
        </dgm:presLayoutVars>
      </dgm:prSet>
      <dgm:spPr/>
    </dgm:pt>
    <dgm:pt modelId="{26E81E5C-F8E7-4750-8C31-EE2860566D7E}" type="pres">
      <dgm:prSet presAssocID="{54CABB7F-AF64-4BF2-83E3-E43F8B1E6A8C}" presName="hierChild2" presStyleCnt="0"/>
      <dgm:spPr/>
    </dgm:pt>
    <dgm:pt modelId="{2D0D44DB-4B1E-4CB3-8A38-51C23CF53D5D}" type="pres">
      <dgm:prSet presAssocID="{241949B1-5E1F-41CA-AC8F-C339CE16A7B2}" presName="hierRoot1" presStyleCnt="0"/>
      <dgm:spPr/>
    </dgm:pt>
    <dgm:pt modelId="{9957CCA2-C98F-4285-B6E9-B1A4B0DA3DA1}" type="pres">
      <dgm:prSet presAssocID="{241949B1-5E1F-41CA-AC8F-C339CE16A7B2}" presName="composite" presStyleCnt="0"/>
      <dgm:spPr/>
    </dgm:pt>
    <dgm:pt modelId="{CACE7D2D-829E-488B-B93F-EF8D71CE6443}" type="pres">
      <dgm:prSet presAssocID="{241949B1-5E1F-41CA-AC8F-C339CE16A7B2}" presName="background" presStyleLbl="node0" presStyleIdx="1" presStyleCnt="2"/>
      <dgm:spPr/>
    </dgm:pt>
    <dgm:pt modelId="{80BA646D-7BD6-40B7-9CEA-029523860992}" type="pres">
      <dgm:prSet presAssocID="{241949B1-5E1F-41CA-AC8F-C339CE16A7B2}" presName="text" presStyleLbl="fgAcc0" presStyleIdx="1" presStyleCnt="2">
        <dgm:presLayoutVars>
          <dgm:chPref val="3"/>
        </dgm:presLayoutVars>
      </dgm:prSet>
      <dgm:spPr/>
    </dgm:pt>
    <dgm:pt modelId="{B17D3283-F40D-474C-9F4D-DC9E690BEF02}" type="pres">
      <dgm:prSet presAssocID="{241949B1-5E1F-41CA-AC8F-C339CE16A7B2}" presName="hierChild2" presStyleCnt="0"/>
      <dgm:spPr/>
    </dgm:pt>
  </dgm:ptLst>
  <dgm:cxnLst>
    <dgm:cxn modelId="{F0664336-9A92-4D14-AA87-20CBAB6868A6}" type="presOf" srcId="{241949B1-5E1F-41CA-AC8F-C339CE16A7B2}" destId="{80BA646D-7BD6-40B7-9CEA-029523860992}" srcOrd="0" destOrd="0" presId="urn:microsoft.com/office/officeart/2005/8/layout/hierarchy1"/>
    <dgm:cxn modelId="{7E294D5E-E468-4A16-9FC8-A99F38C7E1B3}" srcId="{38D9C7E6-CC3B-40DF-9418-1611AF55DC1E}" destId="{54CABB7F-AF64-4BF2-83E3-E43F8B1E6A8C}" srcOrd="0" destOrd="0" parTransId="{BAA04362-F56B-44D1-80A9-056066B3CB4A}" sibTransId="{BC68E49F-99C7-4964-A013-F1AE235E796D}"/>
    <dgm:cxn modelId="{DAAE5D4C-4966-41B2-B3E7-DDBBA490C6A5}" srcId="{38D9C7E6-CC3B-40DF-9418-1611AF55DC1E}" destId="{241949B1-5E1F-41CA-AC8F-C339CE16A7B2}" srcOrd="1" destOrd="0" parTransId="{7A870611-9789-4490-8BB7-7EF4E7CD32AB}" sibTransId="{91E03D6C-361D-45C3-92E2-7AF7AE92B9B0}"/>
    <dgm:cxn modelId="{D34A7EBA-F0BF-4DB9-B7D3-C41ADF437EF1}" type="presOf" srcId="{38D9C7E6-CC3B-40DF-9418-1611AF55DC1E}" destId="{14EF8AE6-0B0A-4D19-8735-50DF7E2B6CA6}" srcOrd="0" destOrd="0" presId="urn:microsoft.com/office/officeart/2005/8/layout/hierarchy1"/>
    <dgm:cxn modelId="{6775C2BC-66EC-4544-A600-D7CF1FA0CE18}" type="presOf" srcId="{54CABB7F-AF64-4BF2-83E3-E43F8B1E6A8C}" destId="{EC194150-5694-48E8-BDBB-015CB7AC1C8C}" srcOrd="0" destOrd="0" presId="urn:microsoft.com/office/officeart/2005/8/layout/hierarchy1"/>
    <dgm:cxn modelId="{328B6786-F56D-405A-8261-AD0091DF26D3}" type="presParOf" srcId="{14EF8AE6-0B0A-4D19-8735-50DF7E2B6CA6}" destId="{2101AEB6-54A1-4FDB-B04D-AB51956EF523}" srcOrd="0" destOrd="0" presId="urn:microsoft.com/office/officeart/2005/8/layout/hierarchy1"/>
    <dgm:cxn modelId="{855A39F0-157D-4A4F-9F7F-C8FECE6D43D2}" type="presParOf" srcId="{2101AEB6-54A1-4FDB-B04D-AB51956EF523}" destId="{D78EB097-C1D7-46E7-8D17-324C6088F9CE}" srcOrd="0" destOrd="0" presId="urn:microsoft.com/office/officeart/2005/8/layout/hierarchy1"/>
    <dgm:cxn modelId="{0AF20FDD-10A7-4CCE-B910-E94E11383BA6}" type="presParOf" srcId="{D78EB097-C1D7-46E7-8D17-324C6088F9CE}" destId="{2FD6521C-E479-49FA-AFB6-6E18DC7CD67B}" srcOrd="0" destOrd="0" presId="urn:microsoft.com/office/officeart/2005/8/layout/hierarchy1"/>
    <dgm:cxn modelId="{642B16E9-90AC-44E6-9AC2-BD2A3089DA96}" type="presParOf" srcId="{D78EB097-C1D7-46E7-8D17-324C6088F9CE}" destId="{EC194150-5694-48E8-BDBB-015CB7AC1C8C}" srcOrd="1" destOrd="0" presId="urn:microsoft.com/office/officeart/2005/8/layout/hierarchy1"/>
    <dgm:cxn modelId="{532D8147-2156-4F94-8DD0-C19EE9892C17}" type="presParOf" srcId="{2101AEB6-54A1-4FDB-B04D-AB51956EF523}" destId="{26E81E5C-F8E7-4750-8C31-EE2860566D7E}" srcOrd="1" destOrd="0" presId="urn:microsoft.com/office/officeart/2005/8/layout/hierarchy1"/>
    <dgm:cxn modelId="{3B80C59D-6BF5-449B-B791-5D89C0176F76}" type="presParOf" srcId="{14EF8AE6-0B0A-4D19-8735-50DF7E2B6CA6}" destId="{2D0D44DB-4B1E-4CB3-8A38-51C23CF53D5D}" srcOrd="1" destOrd="0" presId="urn:microsoft.com/office/officeart/2005/8/layout/hierarchy1"/>
    <dgm:cxn modelId="{6167143B-1DB2-4782-84A0-A177C2DDF326}" type="presParOf" srcId="{2D0D44DB-4B1E-4CB3-8A38-51C23CF53D5D}" destId="{9957CCA2-C98F-4285-B6E9-B1A4B0DA3DA1}" srcOrd="0" destOrd="0" presId="urn:microsoft.com/office/officeart/2005/8/layout/hierarchy1"/>
    <dgm:cxn modelId="{7B977EE4-E9E1-41FC-B339-7C9121A7E8FF}" type="presParOf" srcId="{9957CCA2-C98F-4285-B6E9-B1A4B0DA3DA1}" destId="{CACE7D2D-829E-488B-B93F-EF8D71CE6443}" srcOrd="0" destOrd="0" presId="urn:microsoft.com/office/officeart/2005/8/layout/hierarchy1"/>
    <dgm:cxn modelId="{98875614-8361-4DD2-9D6D-C6D06B9E258C}" type="presParOf" srcId="{9957CCA2-C98F-4285-B6E9-B1A4B0DA3DA1}" destId="{80BA646D-7BD6-40B7-9CEA-029523860992}" srcOrd="1" destOrd="0" presId="urn:microsoft.com/office/officeart/2005/8/layout/hierarchy1"/>
    <dgm:cxn modelId="{82CB1FC5-FB12-46B8-AAA0-0C60FCB6B9DB}" type="presParOf" srcId="{2D0D44DB-4B1E-4CB3-8A38-51C23CF53D5D}" destId="{B17D3283-F40D-474C-9F4D-DC9E690BEF02}"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D5C62133-C4E5-41EA-83EB-F2390ED1FAA6}" type="doc">
      <dgm:prSet loTypeId="urn:microsoft.com/office/officeart/2005/8/layout/hierarchy3" loCatId="hierarchy" qsTypeId="urn:microsoft.com/office/officeart/2005/8/quickstyle/simple1" qsCatId="simple" csTypeId="urn:microsoft.com/office/officeart/2005/8/colors/accent1_2" csCatId="accent1"/>
      <dgm:spPr/>
      <dgm:t>
        <a:bodyPr/>
        <a:lstStyle/>
        <a:p>
          <a:endParaRPr lang="en-US"/>
        </a:p>
      </dgm:t>
    </dgm:pt>
    <dgm:pt modelId="{A6101F32-BD30-4D27-BDC9-FF7391264F82}">
      <dgm:prSet/>
      <dgm:spPr/>
      <dgm:t>
        <a:bodyPr/>
        <a:lstStyle/>
        <a:p>
          <a:r>
            <a:rPr lang="en-US"/>
            <a:t>Select the Intercompany functional area in Setup: Financials.</a:t>
          </a:r>
        </a:p>
      </dgm:t>
    </dgm:pt>
    <dgm:pt modelId="{708F43CE-55FF-447B-81EB-6ACB71AAFC0B}" type="parTrans" cxnId="{965D39E1-8B9E-4924-89BE-2C107CBBFCB5}">
      <dgm:prSet/>
      <dgm:spPr/>
      <dgm:t>
        <a:bodyPr/>
        <a:lstStyle/>
        <a:p>
          <a:endParaRPr lang="en-US"/>
        </a:p>
      </dgm:t>
    </dgm:pt>
    <dgm:pt modelId="{2B930627-1B26-4A14-AFB9-A97643CCB946}" type="sibTrans" cxnId="{965D39E1-8B9E-4924-89BE-2C107CBBFCB5}">
      <dgm:prSet/>
      <dgm:spPr/>
      <dgm:t>
        <a:bodyPr/>
        <a:lstStyle/>
        <a:p>
          <a:endParaRPr lang="en-US"/>
        </a:p>
      </dgm:t>
    </dgm:pt>
    <dgm:pt modelId="{BC61ABB9-B3B6-46FF-B0EE-F5811F061FDC}">
      <dgm:prSet/>
      <dgm:spPr/>
      <dgm:t>
        <a:bodyPr/>
        <a:lstStyle/>
        <a:p>
          <a:r>
            <a:rPr lang="en-US"/>
            <a:t>The task list includes Manage Intercompany Organizations and Manage Intercompany Organization Data Access for Users.</a:t>
          </a:r>
        </a:p>
      </dgm:t>
    </dgm:pt>
    <dgm:pt modelId="{745515BF-1118-4967-96F5-6F1C2F86ECB7}" type="parTrans" cxnId="{8F1C41E9-B009-409F-8B67-13A43A7EC8DC}">
      <dgm:prSet/>
      <dgm:spPr/>
      <dgm:t>
        <a:bodyPr/>
        <a:lstStyle/>
        <a:p>
          <a:endParaRPr lang="en-US"/>
        </a:p>
      </dgm:t>
    </dgm:pt>
    <dgm:pt modelId="{8CB0F6C9-AAAF-48BC-AD25-0083F94ADD49}" type="sibTrans" cxnId="{8F1C41E9-B009-409F-8B67-13A43A7EC8DC}">
      <dgm:prSet/>
      <dgm:spPr/>
      <dgm:t>
        <a:bodyPr/>
        <a:lstStyle/>
        <a:p>
          <a:endParaRPr lang="en-US"/>
        </a:p>
      </dgm:t>
    </dgm:pt>
    <dgm:pt modelId="{F057EEAD-72D9-465A-BD84-0EDB895B4B7D}">
      <dgm:prSet/>
      <dgm:spPr/>
      <dgm:t>
        <a:bodyPr/>
        <a:lstStyle/>
        <a:p>
          <a:r>
            <a:rPr lang="en-US"/>
            <a:t>Open Manage Intercompany Balancing Rules.</a:t>
          </a:r>
        </a:p>
      </dgm:t>
    </dgm:pt>
    <dgm:pt modelId="{C8158F25-1459-4DF6-9C58-7A2AEE51BE1D}" type="parTrans" cxnId="{29E89A66-72DD-4D4C-BEB9-742B0452648F}">
      <dgm:prSet/>
      <dgm:spPr/>
      <dgm:t>
        <a:bodyPr/>
        <a:lstStyle/>
        <a:p>
          <a:endParaRPr lang="en-US"/>
        </a:p>
      </dgm:t>
    </dgm:pt>
    <dgm:pt modelId="{8523209A-5F88-416C-B3E0-2738BFF7FFB3}" type="sibTrans" cxnId="{29E89A66-72DD-4D4C-BEB9-742B0452648F}">
      <dgm:prSet/>
      <dgm:spPr/>
      <dgm:t>
        <a:bodyPr/>
        <a:lstStyle/>
        <a:p>
          <a:endParaRPr lang="en-US"/>
        </a:p>
      </dgm:t>
    </dgm:pt>
    <dgm:pt modelId="{3A2B7ECC-E524-43FD-951E-F28D39898219}" type="pres">
      <dgm:prSet presAssocID="{D5C62133-C4E5-41EA-83EB-F2390ED1FAA6}" presName="diagram" presStyleCnt="0">
        <dgm:presLayoutVars>
          <dgm:chPref val="1"/>
          <dgm:dir/>
          <dgm:animOne val="branch"/>
          <dgm:animLvl val="lvl"/>
          <dgm:resizeHandles/>
        </dgm:presLayoutVars>
      </dgm:prSet>
      <dgm:spPr/>
    </dgm:pt>
    <dgm:pt modelId="{C6BD41BF-DD34-4A6E-BA47-17E1800857C9}" type="pres">
      <dgm:prSet presAssocID="{A6101F32-BD30-4D27-BDC9-FF7391264F82}" presName="root" presStyleCnt="0"/>
      <dgm:spPr/>
    </dgm:pt>
    <dgm:pt modelId="{A6F6AE12-C22F-4252-9CE7-141A1EBFB543}" type="pres">
      <dgm:prSet presAssocID="{A6101F32-BD30-4D27-BDC9-FF7391264F82}" presName="rootComposite" presStyleCnt="0"/>
      <dgm:spPr/>
    </dgm:pt>
    <dgm:pt modelId="{388192D8-5A9E-4752-B41F-88CC1089D41C}" type="pres">
      <dgm:prSet presAssocID="{A6101F32-BD30-4D27-BDC9-FF7391264F82}" presName="rootText" presStyleLbl="node1" presStyleIdx="0" presStyleCnt="3"/>
      <dgm:spPr/>
    </dgm:pt>
    <dgm:pt modelId="{5DEF8A0B-D0B7-4950-88FF-61700C2F0411}" type="pres">
      <dgm:prSet presAssocID="{A6101F32-BD30-4D27-BDC9-FF7391264F82}" presName="rootConnector" presStyleLbl="node1" presStyleIdx="0" presStyleCnt="3"/>
      <dgm:spPr/>
    </dgm:pt>
    <dgm:pt modelId="{AD9B5F83-C66E-4AE6-B7EB-8B9F5474A3C8}" type="pres">
      <dgm:prSet presAssocID="{A6101F32-BD30-4D27-BDC9-FF7391264F82}" presName="childShape" presStyleCnt="0"/>
      <dgm:spPr/>
    </dgm:pt>
    <dgm:pt modelId="{2C939FF2-5C12-4C93-947A-8AF4709010FB}" type="pres">
      <dgm:prSet presAssocID="{BC61ABB9-B3B6-46FF-B0EE-F5811F061FDC}" presName="root" presStyleCnt="0"/>
      <dgm:spPr/>
    </dgm:pt>
    <dgm:pt modelId="{C1935249-1807-439D-8E95-2196B0B69479}" type="pres">
      <dgm:prSet presAssocID="{BC61ABB9-B3B6-46FF-B0EE-F5811F061FDC}" presName="rootComposite" presStyleCnt="0"/>
      <dgm:spPr/>
    </dgm:pt>
    <dgm:pt modelId="{932DCB15-816D-414A-A18A-8E5342434267}" type="pres">
      <dgm:prSet presAssocID="{BC61ABB9-B3B6-46FF-B0EE-F5811F061FDC}" presName="rootText" presStyleLbl="node1" presStyleIdx="1" presStyleCnt="3"/>
      <dgm:spPr/>
    </dgm:pt>
    <dgm:pt modelId="{CAD82400-A6F7-4DDA-A582-AF88A08ED57A}" type="pres">
      <dgm:prSet presAssocID="{BC61ABB9-B3B6-46FF-B0EE-F5811F061FDC}" presName="rootConnector" presStyleLbl="node1" presStyleIdx="1" presStyleCnt="3"/>
      <dgm:spPr/>
    </dgm:pt>
    <dgm:pt modelId="{3B343130-9741-4FC6-A690-1DE98D0355C2}" type="pres">
      <dgm:prSet presAssocID="{BC61ABB9-B3B6-46FF-B0EE-F5811F061FDC}" presName="childShape" presStyleCnt="0"/>
      <dgm:spPr/>
    </dgm:pt>
    <dgm:pt modelId="{C7E65613-7189-4FC0-AE09-F57B5B29303D}" type="pres">
      <dgm:prSet presAssocID="{F057EEAD-72D9-465A-BD84-0EDB895B4B7D}" presName="root" presStyleCnt="0"/>
      <dgm:spPr/>
    </dgm:pt>
    <dgm:pt modelId="{E0AF8970-DF13-4596-A001-86C710918BE3}" type="pres">
      <dgm:prSet presAssocID="{F057EEAD-72D9-465A-BD84-0EDB895B4B7D}" presName="rootComposite" presStyleCnt="0"/>
      <dgm:spPr/>
    </dgm:pt>
    <dgm:pt modelId="{566E7B63-858A-4DB4-BFC7-C72D9BC67C3F}" type="pres">
      <dgm:prSet presAssocID="{F057EEAD-72D9-465A-BD84-0EDB895B4B7D}" presName="rootText" presStyleLbl="node1" presStyleIdx="2" presStyleCnt="3"/>
      <dgm:spPr/>
    </dgm:pt>
    <dgm:pt modelId="{4F71EED6-AAC7-4A1C-9FA6-1AC7E853FE46}" type="pres">
      <dgm:prSet presAssocID="{F057EEAD-72D9-465A-BD84-0EDB895B4B7D}" presName="rootConnector" presStyleLbl="node1" presStyleIdx="2" presStyleCnt="3"/>
      <dgm:spPr/>
    </dgm:pt>
    <dgm:pt modelId="{44937F46-7DBF-49F9-9AAE-F534CAB06571}" type="pres">
      <dgm:prSet presAssocID="{F057EEAD-72D9-465A-BD84-0EDB895B4B7D}" presName="childShape" presStyleCnt="0"/>
      <dgm:spPr/>
    </dgm:pt>
  </dgm:ptLst>
  <dgm:cxnLst>
    <dgm:cxn modelId="{76E36D23-F2AD-438B-A5E5-49A9BA04FF37}" type="presOf" srcId="{BC61ABB9-B3B6-46FF-B0EE-F5811F061FDC}" destId="{CAD82400-A6F7-4DDA-A582-AF88A08ED57A}" srcOrd="1" destOrd="0" presId="urn:microsoft.com/office/officeart/2005/8/layout/hierarchy3"/>
    <dgm:cxn modelId="{29E89A66-72DD-4D4C-BEB9-742B0452648F}" srcId="{D5C62133-C4E5-41EA-83EB-F2390ED1FAA6}" destId="{F057EEAD-72D9-465A-BD84-0EDB895B4B7D}" srcOrd="2" destOrd="0" parTransId="{C8158F25-1459-4DF6-9C58-7A2AEE51BE1D}" sibTransId="{8523209A-5F88-416C-B3E0-2738BFF7FFB3}"/>
    <dgm:cxn modelId="{D1764870-A6E6-43BD-849E-D7141BA0214D}" type="presOf" srcId="{A6101F32-BD30-4D27-BDC9-FF7391264F82}" destId="{5DEF8A0B-D0B7-4950-88FF-61700C2F0411}" srcOrd="1" destOrd="0" presId="urn:microsoft.com/office/officeart/2005/8/layout/hierarchy3"/>
    <dgm:cxn modelId="{6DD2E598-2CFA-477F-824A-27A06D8970B3}" type="presOf" srcId="{F057EEAD-72D9-465A-BD84-0EDB895B4B7D}" destId="{566E7B63-858A-4DB4-BFC7-C72D9BC67C3F}" srcOrd="0" destOrd="0" presId="urn:microsoft.com/office/officeart/2005/8/layout/hierarchy3"/>
    <dgm:cxn modelId="{219338BB-E36D-42A0-BAA5-428479383B47}" type="presOf" srcId="{BC61ABB9-B3B6-46FF-B0EE-F5811F061FDC}" destId="{932DCB15-816D-414A-A18A-8E5342434267}" srcOrd="0" destOrd="0" presId="urn:microsoft.com/office/officeart/2005/8/layout/hierarchy3"/>
    <dgm:cxn modelId="{A1F466BF-234E-4AD0-9237-DFEFBAEE7D7D}" type="presOf" srcId="{D5C62133-C4E5-41EA-83EB-F2390ED1FAA6}" destId="{3A2B7ECC-E524-43FD-951E-F28D39898219}" srcOrd="0" destOrd="0" presId="urn:microsoft.com/office/officeart/2005/8/layout/hierarchy3"/>
    <dgm:cxn modelId="{965D39E1-8B9E-4924-89BE-2C107CBBFCB5}" srcId="{D5C62133-C4E5-41EA-83EB-F2390ED1FAA6}" destId="{A6101F32-BD30-4D27-BDC9-FF7391264F82}" srcOrd="0" destOrd="0" parTransId="{708F43CE-55FF-447B-81EB-6ACB71AAFC0B}" sibTransId="{2B930627-1B26-4A14-AFB9-A97643CCB946}"/>
    <dgm:cxn modelId="{9C9520E6-54AF-408B-8528-996F42135996}" type="presOf" srcId="{F057EEAD-72D9-465A-BD84-0EDB895B4B7D}" destId="{4F71EED6-AAC7-4A1C-9FA6-1AC7E853FE46}" srcOrd="1" destOrd="0" presId="urn:microsoft.com/office/officeart/2005/8/layout/hierarchy3"/>
    <dgm:cxn modelId="{8F1C41E9-B009-409F-8B67-13A43A7EC8DC}" srcId="{D5C62133-C4E5-41EA-83EB-F2390ED1FAA6}" destId="{BC61ABB9-B3B6-46FF-B0EE-F5811F061FDC}" srcOrd="1" destOrd="0" parTransId="{745515BF-1118-4967-96F5-6F1C2F86ECB7}" sibTransId="{8CB0F6C9-AAAF-48BC-AD25-0083F94ADD49}"/>
    <dgm:cxn modelId="{3B24F7EB-50BF-42B4-B27E-7CF9CEE800E9}" type="presOf" srcId="{A6101F32-BD30-4D27-BDC9-FF7391264F82}" destId="{388192D8-5A9E-4752-B41F-88CC1089D41C}" srcOrd="0" destOrd="0" presId="urn:microsoft.com/office/officeart/2005/8/layout/hierarchy3"/>
    <dgm:cxn modelId="{A012E402-FC4A-4157-B91E-8A8663A85BDD}" type="presParOf" srcId="{3A2B7ECC-E524-43FD-951E-F28D39898219}" destId="{C6BD41BF-DD34-4A6E-BA47-17E1800857C9}" srcOrd="0" destOrd="0" presId="urn:microsoft.com/office/officeart/2005/8/layout/hierarchy3"/>
    <dgm:cxn modelId="{4B52B3EF-3592-4A11-8CC2-342DFF42A9B9}" type="presParOf" srcId="{C6BD41BF-DD34-4A6E-BA47-17E1800857C9}" destId="{A6F6AE12-C22F-4252-9CE7-141A1EBFB543}" srcOrd="0" destOrd="0" presId="urn:microsoft.com/office/officeart/2005/8/layout/hierarchy3"/>
    <dgm:cxn modelId="{6F22E967-C9ED-4EF5-95CC-EF5B200BC454}" type="presParOf" srcId="{A6F6AE12-C22F-4252-9CE7-141A1EBFB543}" destId="{388192D8-5A9E-4752-B41F-88CC1089D41C}" srcOrd="0" destOrd="0" presId="urn:microsoft.com/office/officeart/2005/8/layout/hierarchy3"/>
    <dgm:cxn modelId="{BA2F726B-F021-4BFD-ABD3-96CD6E108FA2}" type="presParOf" srcId="{A6F6AE12-C22F-4252-9CE7-141A1EBFB543}" destId="{5DEF8A0B-D0B7-4950-88FF-61700C2F0411}" srcOrd="1" destOrd="0" presId="urn:microsoft.com/office/officeart/2005/8/layout/hierarchy3"/>
    <dgm:cxn modelId="{7AED5048-6E70-41EA-9FA9-AE2B154F7EDA}" type="presParOf" srcId="{C6BD41BF-DD34-4A6E-BA47-17E1800857C9}" destId="{AD9B5F83-C66E-4AE6-B7EB-8B9F5474A3C8}" srcOrd="1" destOrd="0" presId="urn:microsoft.com/office/officeart/2005/8/layout/hierarchy3"/>
    <dgm:cxn modelId="{A72DC538-2CB0-4F9D-9CCA-06BB3A70900A}" type="presParOf" srcId="{3A2B7ECC-E524-43FD-951E-F28D39898219}" destId="{2C939FF2-5C12-4C93-947A-8AF4709010FB}" srcOrd="1" destOrd="0" presId="urn:microsoft.com/office/officeart/2005/8/layout/hierarchy3"/>
    <dgm:cxn modelId="{8B3DBBFE-ECDB-42D2-B65E-B9CB058C4092}" type="presParOf" srcId="{2C939FF2-5C12-4C93-947A-8AF4709010FB}" destId="{C1935249-1807-439D-8E95-2196B0B69479}" srcOrd="0" destOrd="0" presId="urn:microsoft.com/office/officeart/2005/8/layout/hierarchy3"/>
    <dgm:cxn modelId="{50546E03-3F3B-41B9-B2A7-4F83489CA1EA}" type="presParOf" srcId="{C1935249-1807-439D-8E95-2196B0B69479}" destId="{932DCB15-816D-414A-A18A-8E5342434267}" srcOrd="0" destOrd="0" presId="urn:microsoft.com/office/officeart/2005/8/layout/hierarchy3"/>
    <dgm:cxn modelId="{61DB9051-7A17-434F-8704-A64BA0CD008A}" type="presParOf" srcId="{C1935249-1807-439D-8E95-2196B0B69479}" destId="{CAD82400-A6F7-4DDA-A582-AF88A08ED57A}" srcOrd="1" destOrd="0" presId="urn:microsoft.com/office/officeart/2005/8/layout/hierarchy3"/>
    <dgm:cxn modelId="{470F759A-1F65-4544-B62C-B7D35B44A30E}" type="presParOf" srcId="{2C939FF2-5C12-4C93-947A-8AF4709010FB}" destId="{3B343130-9741-4FC6-A690-1DE98D0355C2}" srcOrd="1" destOrd="0" presId="urn:microsoft.com/office/officeart/2005/8/layout/hierarchy3"/>
    <dgm:cxn modelId="{BD876987-0A30-4991-AB3E-E3316EAAE757}" type="presParOf" srcId="{3A2B7ECC-E524-43FD-951E-F28D39898219}" destId="{C7E65613-7189-4FC0-AE09-F57B5B29303D}" srcOrd="2" destOrd="0" presId="urn:microsoft.com/office/officeart/2005/8/layout/hierarchy3"/>
    <dgm:cxn modelId="{BCF42051-25A3-4EF0-894A-39F67EF688DF}" type="presParOf" srcId="{C7E65613-7189-4FC0-AE09-F57B5B29303D}" destId="{E0AF8970-DF13-4596-A001-86C710918BE3}" srcOrd="0" destOrd="0" presId="urn:microsoft.com/office/officeart/2005/8/layout/hierarchy3"/>
    <dgm:cxn modelId="{EF4C8C48-0F56-4D3B-B421-7B47177F2EA8}" type="presParOf" srcId="{E0AF8970-DF13-4596-A001-86C710918BE3}" destId="{566E7B63-858A-4DB4-BFC7-C72D9BC67C3F}" srcOrd="0" destOrd="0" presId="urn:microsoft.com/office/officeart/2005/8/layout/hierarchy3"/>
    <dgm:cxn modelId="{691AD31C-2D9D-449E-BD33-53BB926433E7}" type="presParOf" srcId="{E0AF8970-DF13-4596-A001-86C710918BE3}" destId="{4F71EED6-AAC7-4A1C-9FA6-1AC7E853FE46}" srcOrd="1" destOrd="0" presId="urn:microsoft.com/office/officeart/2005/8/layout/hierarchy3"/>
    <dgm:cxn modelId="{165F6DD7-3871-408D-B84B-FBF9F835AEF8}" type="presParOf" srcId="{C7E65613-7189-4FC0-AE09-F57B5B29303D}" destId="{44937F46-7DBF-49F9-9AAE-F534CAB06571}"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05B1CFD0-C0D7-4ECF-9943-B7BCF184AA96}"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562A6628-919D-40D2-9CA9-9C8ABC81E8EE}">
      <dgm:prSet/>
      <dgm:spPr/>
      <dgm:t>
        <a:bodyPr/>
        <a:lstStyle/>
        <a:p>
          <a:r>
            <a:rPr lang="en-US"/>
            <a:t>Both rules (10 to 20 and 20 to 10) are listed under Primary Segment Rules with a Start Date of 1/1/26.</a:t>
          </a:r>
        </a:p>
      </dgm:t>
    </dgm:pt>
    <dgm:pt modelId="{8F9B0D2B-A3BD-4AB4-A1F0-3CB5B193B0CA}" type="parTrans" cxnId="{8B1D0CF3-3AEF-4F6F-B128-694C6B53F037}">
      <dgm:prSet/>
      <dgm:spPr/>
      <dgm:t>
        <a:bodyPr/>
        <a:lstStyle/>
        <a:p>
          <a:endParaRPr lang="en-US"/>
        </a:p>
      </dgm:t>
    </dgm:pt>
    <dgm:pt modelId="{EB574183-62C5-4301-BB90-53BB0ED044C9}" type="sibTrans" cxnId="{8B1D0CF3-3AEF-4F6F-B128-694C6B53F037}">
      <dgm:prSet/>
      <dgm:spPr/>
      <dgm:t>
        <a:bodyPr/>
        <a:lstStyle/>
        <a:p>
          <a:endParaRPr lang="en-US"/>
        </a:p>
      </dgm:t>
    </dgm:pt>
    <dgm:pt modelId="{73B04E2C-0313-4629-B906-D571082BE2B9}">
      <dgm:prSet/>
      <dgm:spPr/>
      <dgm:t>
        <a:bodyPr/>
        <a:lstStyle/>
        <a:p>
          <a:r>
            <a:rPr lang="en-US"/>
            <a:t>The receivables account of one rule is the payables account of its reciprocal rule.</a:t>
          </a:r>
        </a:p>
      </dgm:t>
    </dgm:pt>
    <dgm:pt modelId="{F9E460F3-1D4E-43F8-9C75-6727D4C8CA2A}" type="parTrans" cxnId="{24AFBE59-D9E1-4B3F-B450-AD83EDE04D0C}">
      <dgm:prSet/>
      <dgm:spPr/>
      <dgm:t>
        <a:bodyPr/>
        <a:lstStyle/>
        <a:p>
          <a:endParaRPr lang="en-US"/>
        </a:p>
      </dgm:t>
    </dgm:pt>
    <dgm:pt modelId="{A6405428-041D-4E71-9AAE-63E1C00EB67F}" type="sibTrans" cxnId="{24AFBE59-D9E1-4B3F-B450-AD83EDE04D0C}">
      <dgm:prSet/>
      <dgm:spPr/>
      <dgm:t>
        <a:bodyPr/>
        <a:lstStyle/>
        <a:p>
          <a:endParaRPr lang="en-US"/>
        </a:p>
      </dgm:t>
    </dgm:pt>
    <dgm:pt modelId="{5E4045D2-3C80-464D-A921-FB968FC9F88D}" type="pres">
      <dgm:prSet presAssocID="{05B1CFD0-C0D7-4ECF-9943-B7BCF184AA96}" presName="hierChild1" presStyleCnt="0">
        <dgm:presLayoutVars>
          <dgm:chPref val="1"/>
          <dgm:dir/>
          <dgm:animOne val="branch"/>
          <dgm:animLvl val="lvl"/>
          <dgm:resizeHandles/>
        </dgm:presLayoutVars>
      </dgm:prSet>
      <dgm:spPr/>
    </dgm:pt>
    <dgm:pt modelId="{3121F91A-A0B4-41D6-8C9B-33DEDECD06D8}" type="pres">
      <dgm:prSet presAssocID="{562A6628-919D-40D2-9CA9-9C8ABC81E8EE}" presName="hierRoot1" presStyleCnt="0"/>
      <dgm:spPr/>
    </dgm:pt>
    <dgm:pt modelId="{5E46712C-FCF2-4860-9987-4633A77FB45D}" type="pres">
      <dgm:prSet presAssocID="{562A6628-919D-40D2-9CA9-9C8ABC81E8EE}" presName="composite" presStyleCnt="0"/>
      <dgm:spPr/>
    </dgm:pt>
    <dgm:pt modelId="{20488571-FC54-4C12-A7B4-E629881D8AAD}" type="pres">
      <dgm:prSet presAssocID="{562A6628-919D-40D2-9CA9-9C8ABC81E8EE}" presName="background" presStyleLbl="node0" presStyleIdx="0" presStyleCnt="2"/>
      <dgm:spPr/>
    </dgm:pt>
    <dgm:pt modelId="{AB520AEB-74CC-4745-85BC-7505C79D9204}" type="pres">
      <dgm:prSet presAssocID="{562A6628-919D-40D2-9CA9-9C8ABC81E8EE}" presName="text" presStyleLbl="fgAcc0" presStyleIdx="0" presStyleCnt="2">
        <dgm:presLayoutVars>
          <dgm:chPref val="3"/>
        </dgm:presLayoutVars>
      </dgm:prSet>
      <dgm:spPr/>
    </dgm:pt>
    <dgm:pt modelId="{6F28C4C6-961C-4544-8BEB-F85B10EFADEB}" type="pres">
      <dgm:prSet presAssocID="{562A6628-919D-40D2-9CA9-9C8ABC81E8EE}" presName="hierChild2" presStyleCnt="0"/>
      <dgm:spPr/>
    </dgm:pt>
    <dgm:pt modelId="{C93AFA81-C832-4AA5-9B19-C4D5C3742C9E}" type="pres">
      <dgm:prSet presAssocID="{73B04E2C-0313-4629-B906-D571082BE2B9}" presName="hierRoot1" presStyleCnt="0"/>
      <dgm:spPr/>
    </dgm:pt>
    <dgm:pt modelId="{B9379A2A-D9CD-4106-A033-4FC8F44C08E4}" type="pres">
      <dgm:prSet presAssocID="{73B04E2C-0313-4629-B906-D571082BE2B9}" presName="composite" presStyleCnt="0"/>
      <dgm:spPr/>
    </dgm:pt>
    <dgm:pt modelId="{E98F443A-B29D-4BCB-A3DB-DC4B007E2696}" type="pres">
      <dgm:prSet presAssocID="{73B04E2C-0313-4629-B906-D571082BE2B9}" presName="background" presStyleLbl="node0" presStyleIdx="1" presStyleCnt="2"/>
      <dgm:spPr/>
    </dgm:pt>
    <dgm:pt modelId="{1707D979-1EB4-4FE6-8911-6EA75E813298}" type="pres">
      <dgm:prSet presAssocID="{73B04E2C-0313-4629-B906-D571082BE2B9}" presName="text" presStyleLbl="fgAcc0" presStyleIdx="1" presStyleCnt="2">
        <dgm:presLayoutVars>
          <dgm:chPref val="3"/>
        </dgm:presLayoutVars>
      </dgm:prSet>
      <dgm:spPr/>
    </dgm:pt>
    <dgm:pt modelId="{B9CB930D-845E-4109-89D1-20C3A963DAD9}" type="pres">
      <dgm:prSet presAssocID="{73B04E2C-0313-4629-B906-D571082BE2B9}" presName="hierChild2" presStyleCnt="0"/>
      <dgm:spPr/>
    </dgm:pt>
  </dgm:ptLst>
  <dgm:cxnLst>
    <dgm:cxn modelId="{90414E4C-EE48-425F-904A-23B0394BE45F}" type="presOf" srcId="{73B04E2C-0313-4629-B906-D571082BE2B9}" destId="{1707D979-1EB4-4FE6-8911-6EA75E813298}" srcOrd="0" destOrd="0" presId="urn:microsoft.com/office/officeart/2005/8/layout/hierarchy1"/>
    <dgm:cxn modelId="{1C5EC772-318C-4B69-9AB4-58489F788100}" type="presOf" srcId="{05B1CFD0-C0D7-4ECF-9943-B7BCF184AA96}" destId="{5E4045D2-3C80-464D-A921-FB968FC9F88D}" srcOrd="0" destOrd="0" presId="urn:microsoft.com/office/officeart/2005/8/layout/hierarchy1"/>
    <dgm:cxn modelId="{24AFBE59-D9E1-4B3F-B450-AD83EDE04D0C}" srcId="{05B1CFD0-C0D7-4ECF-9943-B7BCF184AA96}" destId="{73B04E2C-0313-4629-B906-D571082BE2B9}" srcOrd="1" destOrd="0" parTransId="{F9E460F3-1D4E-43F8-9C75-6727D4C8CA2A}" sibTransId="{A6405428-041D-4E71-9AAE-63E1C00EB67F}"/>
    <dgm:cxn modelId="{DD99A9E1-89F8-49C9-9F8C-FBD73F743490}" type="presOf" srcId="{562A6628-919D-40D2-9CA9-9C8ABC81E8EE}" destId="{AB520AEB-74CC-4745-85BC-7505C79D9204}" srcOrd="0" destOrd="0" presId="urn:microsoft.com/office/officeart/2005/8/layout/hierarchy1"/>
    <dgm:cxn modelId="{8B1D0CF3-3AEF-4F6F-B128-694C6B53F037}" srcId="{05B1CFD0-C0D7-4ECF-9943-B7BCF184AA96}" destId="{562A6628-919D-40D2-9CA9-9C8ABC81E8EE}" srcOrd="0" destOrd="0" parTransId="{8F9B0D2B-A3BD-4AB4-A1F0-3CB5B193B0CA}" sibTransId="{EB574183-62C5-4301-BB90-53BB0ED044C9}"/>
    <dgm:cxn modelId="{88569549-F9AE-4981-A89C-2EE7BA53EA96}" type="presParOf" srcId="{5E4045D2-3C80-464D-A921-FB968FC9F88D}" destId="{3121F91A-A0B4-41D6-8C9B-33DEDECD06D8}" srcOrd="0" destOrd="0" presId="urn:microsoft.com/office/officeart/2005/8/layout/hierarchy1"/>
    <dgm:cxn modelId="{641DD1D4-192A-47D2-9208-2E270805A644}" type="presParOf" srcId="{3121F91A-A0B4-41D6-8C9B-33DEDECD06D8}" destId="{5E46712C-FCF2-4860-9987-4633A77FB45D}" srcOrd="0" destOrd="0" presId="urn:microsoft.com/office/officeart/2005/8/layout/hierarchy1"/>
    <dgm:cxn modelId="{DEB60B70-3E53-4230-A6A3-85598394ECEB}" type="presParOf" srcId="{5E46712C-FCF2-4860-9987-4633A77FB45D}" destId="{20488571-FC54-4C12-A7B4-E629881D8AAD}" srcOrd="0" destOrd="0" presId="urn:microsoft.com/office/officeart/2005/8/layout/hierarchy1"/>
    <dgm:cxn modelId="{C65A66D2-EC65-4C63-B6AB-E5B2F0700FA3}" type="presParOf" srcId="{5E46712C-FCF2-4860-9987-4633A77FB45D}" destId="{AB520AEB-74CC-4745-85BC-7505C79D9204}" srcOrd="1" destOrd="0" presId="urn:microsoft.com/office/officeart/2005/8/layout/hierarchy1"/>
    <dgm:cxn modelId="{19578939-0B5E-4FCB-BF56-B27C9A6B2BB7}" type="presParOf" srcId="{3121F91A-A0B4-41D6-8C9B-33DEDECD06D8}" destId="{6F28C4C6-961C-4544-8BEB-F85B10EFADEB}" srcOrd="1" destOrd="0" presId="urn:microsoft.com/office/officeart/2005/8/layout/hierarchy1"/>
    <dgm:cxn modelId="{5144940F-2DDB-47D7-BFD3-44BE32A9A926}" type="presParOf" srcId="{5E4045D2-3C80-464D-A921-FB968FC9F88D}" destId="{C93AFA81-C832-4AA5-9B19-C4D5C3742C9E}" srcOrd="1" destOrd="0" presId="urn:microsoft.com/office/officeart/2005/8/layout/hierarchy1"/>
    <dgm:cxn modelId="{E6D016FE-625A-45C6-A9FF-1A43F5423BEB}" type="presParOf" srcId="{C93AFA81-C832-4AA5-9B19-C4D5C3742C9E}" destId="{B9379A2A-D9CD-4106-A033-4FC8F44C08E4}" srcOrd="0" destOrd="0" presId="urn:microsoft.com/office/officeart/2005/8/layout/hierarchy1"/>
    <dgm:cxn modelId="{2D763BB9-27D8-4A87-BCD0-2FCC7B721476}" type="presParOf" srcId="{B9379A2A-D9CD-4106-A033-4FC8F44C08E4}" destId="{E98F443A-B29D-4BCB-A3DB-DC4B007E2696}" srcOrd="0" destOrd="0" presId="urn:microsoft.com/office/officeart/2005/8/layout/hierarchy1"/>
    <dgm:cxn modelId="{70502676-3F0D-414A-A0BB-750117957A1C}" type="presParOf" srcId="{B9379A2A-D9CD-4106-A033-4FC8F44C08E4}" destId="{1707D979-1EB4-4FE6-8911-6EA75E813298}" srcOrd="1" destOrd="0" presId="urn:microsoft.com/office/officeart/2005/8/layout/hierarchy1"/>
    <dgm:cxn modelId="{E8762E35-6A0E-4F2A-903A-DBC8C216CDB4}" type="presParOf" srcId="{C93AFA81-C832-4AA5-9B19-C4D5C3742C9E}" destId="{B9CB930D-845E-4109-89D1-20C3A963DAD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FCC97C0C-00B2-416F-AB09-035ECC2E64A4}" type="doc">
      <dgm:prSet loTypeId="urn:microsoft.com/office/officeart/2005/8/layout/hierarchy3" loCatId="hierarchy" qsTypeId="urn:microsoft.com/office/officeart/2005/8/quickstyle/simple1" qsCatId="simple" csTypeId="urn:microsoft.com/office/officeart/2005/8/colors/colorful1" csCatId="colorful"/>
      <dgm:spPr/>
      <dgm:t>
        <a:bodyPr/>
        <a:lstStyle/>
        <a:p>
          <a:endParaRPr lang="en-US"/>
        </a:p>
      </dgm:t>
    </dgm:pt>
    <dgm:pt modelId="{350D0AE1-9F00-4608-BDC1-704B73458BEA}">
      <dgm:prSet/>
      <dgm:spPr/>
      <dgm:t>
        <a:bodyPr/>
        <a:lstStyle/>
        <a:p>
          <a:r>
            <a:rPr lang="en-US"/>
            <a:t>Click Post to submit the posting process; the Confirmation message returns the process ID.</a:t>
          </a:r>
        </a:p>
      </dgm:t>
    </dgm:pt>
    <dgm:pt modelId="{DA41995F-DCE4-4800-B6D9-4329128FB144}" type="parTrans" cxnId="{5A127F56-EDCB-42AB-BB43-DA7F3BE62112}">
      <dgm:prSet/>
      <dgm:spPr/>
      <dgm:t>
        <a:bodyPr/>
        <a:lstStyle/>
        <a:p>
          <a:endParaRPr lang="en-US"/>
        </a:p>
      </dgm:t>
    </dgm:pt>
    <dgm:pt modelId="{F9902EDA-9D20-4A39-9078-AADBF9A6AED1}" type="sibTrans" cxnId="{5A127F56-EDCB-42AB-BB43-DA7F3BE62112}">
      <dgm:prSet/>
      <dgm:spPr/>
      <dgm:t>
        <a:bodyPr/>
        <a:lstStyle/>
        <a:p>
          <a:endParaRPr lang="en-US"/>
        </a:p>
      </dgm:t>
    </dgm:pt>
    <dgm:pt modelId="{F0F12F7A-7E33-4F1A-A07B-3C2739F21B6E}">
      <dgm:prSet/>
      <dgm:spPr/>
      <dgm:t>
        <a:bodyPr/>
        <a:lstStyle/>
        <a:p>
          <a:r>
            <a:rPr lang="en-US"/>
            <a:t>The Batch Status is Selected for posting and the Completion Status is Complete.</a:t>
          </a:r>
        </a:p>
      </dgm:t>
    </dgm:pt>
    <dgm:pt modelId="{243ED239-D0C1-456D-9E8A-CF45ADBD18CC}" type="parTrans" cxnId="{134CF874-A1DE-4459-826E-B10D63876FC6}">
      <dgm:prSet/>
      <dgm:spPr/>
      <dgm:t>
        <a:bodyPr/>
        <a:lstStyle/>
        <a:p>
          <a:endParaRPr lang="en-US"/>
        </a:p>
      </dgm:t>
    </dgm:pt>
    <dgm:pt modelId="{1B3AB8DE-74A1-4398-A0CE-FE5ADB6A7854}" type="sibTrans" cxnId="{134CF874-A1DE-4459-826E-B10D63876FC6}">
      <dgm:prSet/>
      <dgm:spPr/>
      <dgm:t>
        <a:bodyPr/>
        <a:lstStyle/>
        <a:p>
          <a:endParaRPr lang="en-US"/>
        </a:p>
      </dgm:t>
    </dgm:pt>
    <dgm:pt modelId="{0B502CAB-13FF-4079-AF89-A8AE8E95C636}" type="pres">
      <dgm:prSet presAssocID="{FCC97C0C-00B2-416F-AB09-035ECC2E64A4}" presName="diagram" presStyleCnt="0">
        <dgm:presLayoutVars>
          <dgm:chPref val="1"/>
          <dgm:dir/>
          <dgm:animOne val="branch"/>
          <dgm:animLvl val="lvl"/>
          <dgm:resizeHandles/>
        </dgm:presLayoutVars>
      </dgm:prSet>
      <dgm:spPr/>
    </dgm:pt>
    <dgm:pt modelId="{0F95E300-DDDC-4C16-B6C3-F6E48C976C80}" type="pres">
      <dgm:prSet presAssocID="{350D0AE1-9F00-4608-BDC1-704B73458BEA}" presName="root" presStyleCnt="0"/>
      <dgm:spPr/>
    </dgm:pt>
    <dgm:pt modelId="{5C1139B5-113D-4B94-8D28-5A33CB0EE7ED}" type="pres">
      <dgm:prSet presAssocID="{350D0AE1-9F00-4608-BDC1-704B73458BEA}" presName="rootComposite" presStyleCnt="0"/>
      <dgm:spPr/>
    </dgm:pt>
    <dgm:pt modelId="{47554E9C-FB18-41B4-9427-C3153CCFAAC5}" type="pres">
      <dgm:prSet presAssocID="{350D0AE1-9F00-4608-BDC1-704B73458BEA}" presName="rootText" presStyleLbl="node1" presStyleIdx="0" presStyleCnt="2"/>
      <dgm:spPr/>
    </dgm:pt>
    <dgm:pt modelId="{336A25CF-DC7C-41A6-93EF-162B6EB0A9E3}" type="pres">
      <dgm:prSet presAssocID="{350D0AE1-9F00-4608-BDC1-704B73458BEA}" presName="rootConnector" presStyleLbl="node1" presStyleIdx="0" presStyleCnt="2"/>
      <dgm:spPr/>
    </dgm:pt>
    <dgm:pt modelId="{A65ECCE1-ABA3-49C3-971D-F6F3E5A36782}" type="pres">
      <dgm:prSet presAssocID="{350D0AE1-9F00-4608-BDC1-704B73458BEA}" presName="childShape" presStyleCnt="0"/>
      <dgm:spPr/>
    </dgm:pt>
    <dgm:pt modelId="{DB2CC389-95C6-47F7-9370-DB25D58E249F}" type="pres">
      <dgm:prSet presAssocID="{F0F12F7A-7E33-4F1A-A07B-3C2739F21B6E}" presName="root" presStyleCnt="0"/>
      <dgm:spPr/>
    </dgm:pt>
    <dgm:pt modelId="{6958DEC1-B483-4AF3-A06E-632602A6DBAE}" type="pres">
      <dgm:prSet presAssocID="{F0F12F7A-7E33-4F1A-A07B-3C2739F21B6E}" presName="rootComposite" presStyleCnt="0"/>
      <dgm:spPr/>
    </dgm:pt>
    <dgm:pt modelId="{40EF473E-1C62-4F8A-962F-3A4937CB57B6}" type="pres">
      <dgm:prSet presAssocID="{F0F12F7A-7E33-4F1A-A07B-3C2739F21B6E}" presName="rootText" presStyleLbl="node1" presStyleIdx="1" presStyleCnt="2"/>
      <dgm:spPr/>
    </dgm:pt>
    <dgm:pt modelId="{50778C4D-22BF-4DCB-B9AC-17AA48F7535D}" type="pres">
      <dgm:prSet presAssocID="{F0F12F7A-7E33-4F1A-A07B-3C2739F21B6E}" presName="rootConnector" presStyleLbl="node1" presStyleIdx="1" presStyleCnt="2"/>
      <dgm:spPr/>
    </dgm:pt>
    <dgm:pt modelId="{FF865956-0CD2-430E-A8C4-D09F679A61A6}" type="pres">
      <dgm:prSet presAssocID="{F0F12F7A-7E33-4F1A-A07B-3C2739F21B6E}" presName="childShape" presStyleCnt="0"/>
      <dgm:spPr/>
    </dgm:pt>
  </dgm:ptLst>
  <dgm:cxnLst>
    <dgm:cxn modelId="{7A231B17-4ED4-4EAF-B256-8CAF469841BD}" type="presOf" srcId="{FCC97C0C-00B2-416F-AB09-035ECC2E64A4}" destId="{0B502CAB-13FF-4079-AF89-A8AE8E95C636}" srcOrd="0" destOrd="0" presId="urn:microsoft.com/office/officeart/2005/8/layout/hierarchy3"/>
    <dgm:cxn modelId="{7D416A6C-DAF1-44B5-840E-8E80F297D21A}" type="presOf" srcId="{350D0AE1-9F00-4608-BDC1-704B73458BEA}" destId="{47554E9C-FB18-41B4-9427-C3153CCFAAC5}" srcOrd="0" destOrd="0" presId="urn:microsoft.com/office/officeart/2005/8/layout/hierarchy3"/>
    <dgm:cxn modelId="{134CF874-A1DE-4459-826E-B10D63876FC6}" srcId="{FCC97C0C-00B2-416F-AB09-035ECC2E64A4}" destId="{F0F12F7A-7E33-4F1A-A07B-3C2739F21B6E}" srcOrd="1" destOrd="0" parTransId="{243ED239-D0C1-456D-9E8A-CF45ADBD18CC}" sibTransId="{1B3AB8DE-74A1-4398-A0CE-FE5ADB6A7854}"/>
    <dgm:cxn modelId="{5A127F56-EDCB-42AB-BB43-DA7F3BE62112}" srcId="{FCC97C0C-00B2-416F-AB09-035ECC2E64A4}" destId="{350D0AE1-9F00-4608-BDC1-704B73458BEA}" srcOrd="0" destOrd="0" parTransId="{DA41995F-DCE4-4800-B6D9-4329128FB144}" sibTransId="{F9902EDA-9D20-4A39-9078-AADBF9A6AED1}"/>
    <dgm:cxn modelId="{4B91467A-80E9-4015-BA7F-BF00201CEE52}" type="presOf" srcId="{350D0AE1-9F00-4608-BDC1-704B73458BEA}" destId="{336A25CF-DC7C-41A6-93EF-162B6EB0A9E3}" srcOrd="1" destOrd="0" presId="urn:microsoft.com/office/officeart/2005/8/layout/hierarchy3"/>
    <dgm:cxn modelId="{F3E4DDA2-4A41-4CDD-BB49-0AF8FD381F1F}" type="presOf" srcId="{F0F12F7A-7E33-4F1A-A07B-3C2739F21B6E}" destId="{40EF473E-1C62-4F8A-962F-3A4937CB57B6}" srcOrd="0" destOrd="0" presId="urn:microsoft.com/office/officeart/2005/8/layout/hierarchy3"/>
    <dgm:cxn modelId="{42AAE4FE-E03B-4CBE-A6D0-7653CCA6A5D4}" type="presOf" srcId="{F0F12F7A-7E33-4F1A-A07B-3C2739F21B6E}" destId="{50778C4D-22BF-4DCB-B9AC-17AA48F7535D}" srcOrd="1" destOrd="0" presId="urn:microsoft.com/office/officeart/2005/8/layout/hierarchy3"/>
    <dgm:cxn modelId="{AFC3B3E4-2A64-46F3-AE56-8DE23370E9F6}" type="presParOf" srcId="{0B502CAB-13FF-4079-AF89-A8AE8E95C636}" destId="{0F95E300-DDDC-4C16-B6C3-F6E48C976C80}" srcOrd="0" destOrd="0" presId="urn:microsoft.com/office/officeart/2005/8/layout/hierarchy3"/>
    <dgm:cxn modelId="{7367EBE8-86DA-43FA-B10C-9922C675B10F}" type="presParOf" srcId="{0F95E300-DDDC-4C16-B6C3-F6E48C976C80}" destId="{5C1139B5-113D-4B94-8D28-5A33CB0EE7ED}" srcOrd="0" destOrd="0" presId="urn:microsoft.com/office/officeart/2005/8/layout/hierarchy3"/>
    <dgm:cxn modelId="{4CCAFC22-DDEE-4203-A06E-EAFC328C670B}" type="presParOf" srcId="{5C1139B5-113D-4B94-8D28-5A33CB0EE7ED}" destId="{47554E9C-FB18-41B4-9427-C3153CCFAAC5}" srcOrd="0" destOrd="0" presId="urn:microsoft.com/office/officeart/2005/8/layout/hierarchy3"/>
    <dgm:cxn modelId="{AD14D02A-CF80-43BB-9520-85EB005794B2}" type="presParOf" srcId="{5C1139B5-113D-4B94-8D28-5A33CB0EE7ED}" destId="{336A25CF-DC7C-41A6-93EF-162B6EB0A9E3}" srcOrd="1" destOrd="0" presId="urn:microsoft.com/office/officeart/2005/8/layout/hierarchy3"/>
    <dgm:cxn modelId="{B19B8170-9D22-411E-B9CA-7F5B5172E4CE}" type="presParOf" srcId="{0F95E300-DDDC-4C16-B6C3-F6E48C976C80}" destId="{A65ECCE1-ABA3-49C3-971D-F6F3E5A36782}" srcOrd="1" destOrd="0" presId="urn:microsoft.com/office/officeart/2005/8/layout/hierarchy3"/>
    <dgm:cxn modelId="{5963FE0A-1B54-4F83-B443-0DBCA03B33DF}" type="presParOf" srcId="{0B502CAB-13FF-4079-AF89-A8AE8E95C636}" destId="{DB2CC389-95C6-47F7-9370-DB25D58E249F}" srcOrd="1" destOrd="0" presId="urn:microsoft.com/office/officeart/2005/8/layout/hierarchy3"/>
    <dgm:cxn modelId="{85AB92BD-076D-4B8A-9A43-9EB95C678331}" type="presParOf" srcId="{DB2CC389-95C6-47F7-9370-DB25D58E249F}" destId="{6958DEC1-B483-4AF3-A06E-632602A6DBAE}" srcOrd="0" destOrd="0" presId="urn:microsoft.com/office/officeart/2005/8/layout/hierarchy3"/>
    <dgm:cxn modelId="{7BAAD797-34E9-4F28-858F-BFB9A80345E2}" type="presParOf" srcId="{6958DEC1-B483-4AF3-A06E-632602A6DBAE}" destId="{40EF473E-1C62-4F8A-962F-3A4937CB57B6}" srcOrd="0" destOrd="0" presId="urn:microsoft.com/office/officeart/2005/8/layout/hierarchy3"/>
    <dgm:cxn modelId="{34259372-27A5-4EED-85DF-1ADCD23994FB}" type="presParOf" srcId="{6958DEC1-B483-4AF3-A06E-632602A6DBAE}" destId="{50778C4D-22BF-4DCB-B9AC-17AA48F7535D}" srcOrd="1" destOrd="0" presId="urn:microsoft.com/office/officeart/2005/8/layout/hierarchy3"/>
    <dgm:cxn modelId="{68B7CB37-3484-4FE6-9303-046182323039}" type="presParOf" srcId="{DB2CC389-95C6-47F7-9370-DB25D58E249F}" destId="{FF865956-0CD2-430E-A8C4-D09F679A61A6}"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3D61C484-3BA9-4B46-A5A6-8076DCF19FD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7381A3E-829E-4ABD-997B-D1E2A96D23EA}">
      <dgm:prSet/>
      <dgm:spPr/>
      <dgm:t>
        <a:bodyPr/>
        <a:lstStyle/>
        <a:p>
          <a:r>
            <a:rPr lang="en-US"/>
            <a:t>Search Accounting Period Apr-26 and click Search.</a:t>
          </a:r>
        </a:p>
      </dgm:t>
    </dgm:pt>
    <dgm:pt modelId="{C020ED53-B6CA-4135-97F9-AA8F4F09504E}" type="parTrans" cxnId="{98052E1D-6EB4-4C25-B1B8-36A83DF8B5AA}">
      <dgm:prSet/>
      <dgm:spPr/>
      <dgm:t>
        <a:bodyPr/>
        <a:lstStyle/>
        <a:p>
          <a:endParaRPr lang="en-US"/>
        </a:p>
      </dgm:t>
    </dgm:pt>
    <dgm:pt modelId="{2CD44C1B-2AE1-4FC9-BED0-F14DA0180D4F}" type="sibTrans" cxnId="{98052E1D-6EB4-4C25-B1B8-36A83DF8B5AA}">
      <dgm:prSet/>
      <dgm:spPr/>
      <dgm:t>
        <a:bodyPr/>
        <a:lstStyle/>
        <a:p>
          <a:endParaRPr lang="en-US"/>
        </a:p>
      </dgm:t>
    </dgm:pt>
    <dgm:pt modelId="{17CD3DB3-6DA3-4A16-9546-70766449A378}">
      <dgm:prSet/>
      <dgm:spPr/>
      <dgm:t>
        <a:bodyPr/>
        <a:lstStyle/>
        <a:p>
          <a:r>
            <a:rPr lang="en-US"/>
            <a:t>The Batch Status is Posted.</a:t>
          </a:r>
        </a:p>
      </dgm:t>
    </dgm:pt>
    <dgm:pt modelId="{86215F30-7D1E-44E6-ADA1-20F8F4ABAE12}" type="parTrans" cxnId="{A229DE51-1D40-44DF-834D-FF26228D6EF9}">
      <dgm:prSet/>
      <dgm:spPr/>
      <dgm:t>
        <a:bodyPr/>
        <a:lstStyle/>
        <a:p>
          <a:endParaRPr lang="en-US"/>
        </a:p>
      </dgm:t>
    </dgm:pt>
    <dgm:pt modelId="{B09AEED7-FAE9-430A-B353-1772EE82D025}" type="sibTrans" cxnId="{A229DE51-1D40-44DF-834D-FF26228D6EF9}">
      <dgm:prSet/>
      <dgm:spPr/>
      <dgm:t>
        <a:bodyPr/>
        <a:lstStyle/>
        <a:p>
          <a:endParaRPr lang="en-US"/>
        </a:p>
      </dgm:t>
    </dgm:pt>
    <dgm:pt modelId="{DC6A5285-6618-4007-887B-0F8B61301059}">
      <dgm:prSet/>
      <dgm:spPr/>
      <dgm:t>
        <a:bodyPr/>
        <a:lstStyle/>
        <a:p>
          <a:r>
            <a:rPr lang="en-US"/>
            <a:t>Journal Entered Debit and Credit show 140,000.00 EGP, double the 70,000.00 entered, because the posting process added the balancing lines.</a:t>
          </a:r>
        </a:p>
      </dgm:t>
    </dgm:pt>
    <dgm:pt modelId="{1EC2ABE8-76DF-40A5-9B83-41AFCD954776}" type="parTrans" cxnId="{EEA79018-A95D-4ABD-A39E-8EF551F13494}">
      <dgm:prSet/>
      <dgm:spPr/>
      <dgm:t>
        <a:bodyPr/>
        <a:lstStyle/>
        <a:p>
          <a:endParaRPr lang="en-US"/>
        </a:p>
      </dgm:t>
    </dgm:pt>
    <dgm:pt modelId="{EAC525FC-4140-473F-A602-7A934C650AD4}" type="sibTrans" cxnId="{EEA79018-A95D-4ABD-A39E-8EF551F13494}">
      <dgm:prSet/>
      <dgm:spPr/>
      <dgm:t>
        <a:bodyPr/>
        <a:lstStyle/>
        <a:p>
          <a:endParaRPr lang="en-US"/>
        </a:p>
      </dgm:t>
    </dgm:pt>
    <dgm:pt modelId="{D7955452-4E87-49A7-9E15-CE94B8C0AA54}" type="pres">
      <dgm:prSet presAssocID="{3D61C484-3BA9-4B46-A5A6-8076DCF19FDC}" presName="root" presStyleCnt="0">
        <dgm:presLayoutVars>
          <dgm:dir/>
          <dgm:resizeHandles val="exact"/>
        </dgm:presLayoutVars>
      </dgm:prSet>
      <dgm:spPr/>
    </dgm:pt>
    <dgm:pt modelId="{D9C6A8DE-BD7A-4974-8A39-9E0B99863A08}" type="pres">
      <dgm:prSet presAssocID="{C7381A3E-829E-4ABD-997B-D1E2A96D23EA}" presName="compNode" presStyleCnt="0"/>
      <dgm:spPr/>
    </dgm:pt>
    <dgm:pt modelId="{A6747009-E1C8-412B-BD08-8B20896DC8DD}" type="pres">
      <dgm:prSet presAssocID="{C7381A3E-829E-4ABD-997B-D1E2A96D23EA}" presName="bgRect" presStyleLbl="bgShp" presStyleIdx="0" presStyleCnt="3"/>
      <dgm:spPr/>
    </dgm:pt>
    <dgm:pt modelId="{3A310428-23ED-4D38-BA7D-3C61B4820431}" type="pres">
      <dgm:prSet presAssocID="{C7381A3E-829E-4ABD-997B-D1E2A96D23EA}"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Research"/>
        </a:ext>
      </dgm:extLst>
    </dgm:pt>
    <dgm:pt modelId="{174B784B-A18D-41BF-BCFA-23C2C73C42FB}" type="pres">
      <dgm:prSet presAssocID="{C7381A3E-829E-4ABD-997B-D1E2A96D23EA}" presName="spaceRect" presStyleCnt="0"/>
      <dgm:spPr/>
    </dgm:pt>
    <dgm:pt modelId="{96C68838-466D-4498-A31E-0A2D1A7CE14D}" type="pres">
      <dgm:prSet presAssocID="{C7381A3E-829E-4ABD-997B-D1E2A96D23EA}" presName="parTx" presStyleLbl="revTx" presStyleIdx="0" presStyleCnt="3">
        <dgm:presLayoutVars>
          <dgm:chMax val="0"/>
          <dgm:chPref val="0"/>
        </dgm:presLayoutVars>
      </dgm:prSet>
      <dgm:spPr/>
    </dgm:pt>
    <dgm:pt modelId="{786065A4-CA31-4DB3-B09E-CE04EC27B982}" type="pres">
      <dgm:prSet presAssocID="{2CD44C1B-2AE1-4FC9-BED0-F14DA0180D4F}" presName="sibTrans" presStyleCnt="0"/>
      <dgm:spPr/>
    </dgm:pt>
    <dgm:pt modelId="{71F60CA2-F03D-4B8B-A14B-8A6848BDB21B}" type="pres">
      <dgm:prSet presAssocID="{17CD3DB3-6DA3-4A16-9546-70766449A378}" presName="compNode" presStyleCnt="0"/>
      <dgm:spPr/>
    </dgm:pt>
    <dgm:pt modelId="{BD424F9F-4CFE-4388-A544-758FB35845CC}" type="pres">
      <dgm:prSet presAssocID="{17CD3DB3-6DA3-4A16-9546-70766449A378}" presName="bgRect" presStyleLbl="bgShp" presStyleIdx="1" presStyleCnt="3"/>
      <dgm:spPr/>
    </dgm:pt>
    <dgm:pt modelId="{2859619A-5A35-4194-8DD0-8EA4101968A3}" type="pres">
      <dgm:prSet presAssocID="{17CD3DB3-6DA3-4A16-9546-70766449A37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nfluencer"/>
        </a:ext>
      </dgm:extLst>
    </dgm:pt>
    <dgm:pt modelId="{C6140650-42BB-4F5A-B630-5B7F8373F425}" type="pres">
      <dgm:prSet presAssocID="{17CD3DB3-6DA3-4A16-9546-70766449A378}" presName="spaceRect" presStyleCnt="0"/>
      <dgm:spPr/>
    </dgm:pt>
    <dgm:pt modelId="{0E6E8135-4C5E-4332-A61D-74AD600EFD89}" type="pres">
      <dgm:prSet presAssocID="{17CD3DB3-6DA3-4A16-9546-70766449A378}" presName="parTx" presStyleLbl="revTx" presStyleIdx="1" presStyleCnt="3">
        <dgm:presLayoutVars>
          <dgm:chMax val="0"/>
          <dgm:chPref val="0"/>
        </dgm:presLayoutVars>
      </dgm:prSet>
      <dgm:spPr/>
    </dgm:pt>
    <dgm:pt modelId="{D0D3FACF-3CB7-458E-BD55-D6F0DBA3E8E6}" type="pres">
      <dgm:prSet presAssocID="{B09AEED7-FAE9-430A-B353-1772EE82D025}" presName="sibTrans" presStyleCnt="0"/>
      <dgm:spPr/>
    </dgm:pt>
    <dgm:pt modelId="{522519E2-43FE-4769-ABD9-0BD645BCD319}" type="pres">
      <dgm:prSet presAssocID="{DC6A5285-6618-4007-887B-0F8B61301059}" presName="compNode" presStyleCnt="0"/>
      <dgm:spPr/>
    </dgm:pt>
    <dgm:pt modelId="{7F8D1323-C006-4C3F-9081-56FE943ECA32}" type="pres">
      <dgm:prSet presAssocID="{DC6A5285-6618-4007-887B-0F8B61301059}" presName="bgRect" presStyleLbl="bgShp" presStyleIdx="2" presStyleCnt="3"/>
      <dgm:spPr/>
    </dgm:pt>
    <dgm:pt modelId="{5C7C6428-419A-4F22-B738-C6E36CD7CB34}" type="pres">
      <dgm:prSet presAssocID="{DC6A5285-6618-4007-887B-0F8B61301059}"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Wallet"/>
        </a:ext>
      </dgm:extLst>
    </dgm:pt>
    <dgm:pt modelId="{878F93EE-921E-4E14-8882-3AFF4EA20F6A}" type="pres">
      <dgm:prSet presAssocID="{DC6A5285-6618-4007-887B-0F8B61301059}" presName="spaceRect" presStyleCnt="0"/>
      <dgm:spPr/>
    </dgm:pt>
    <dgm:pt modelId="{B10F191E-D057-4648-AFDF-AAD0342BBFD4}" type="pres">
      <dgm:prSet presAssocID="{DC6A5285-6618-4007-887B-0F8B61301059}" presName="parTx" presStyleLbl="revTx" presStyleIdx="2" presStyleCnt="3">
        <dgm:presLayoutVars>
          <dgm:chMax val="0"/>
          <dgm:chPref val="0"/>
        </dgm:presLayoutVars>
      </dgm:prSet>
      <dgm:spPr/>
    </dgm:pt>
  </dgm:ptLst>
  <dgm:cxnLst>
    <dgm:cxn modelId="{EEA79018-A95D-4ABD-A39E-8EF551F13494}" srcId="{3D61C484-3BA9-4B46-A5A6-8076DCF19FDC}" destId="{DC6A5285-6618-4007-887B-0F8B61301059}" srcOrd="2" destOrd="0" parTransId="{1EC2ABE8-76DF-40A5-9B83-41AFCD954776}" sibTransId="{EAC525FC-4140-473F-A602-7A934C650AD4}"/>
    <dgm:cxn modelId="{98052E1D-6EB4-4C25-B1B8-36A83DF8B5AA}" srcId="{3D61C484-3BA9-4B46-A5A6-8076DCF19FDC}" destId="{C7381A3E-829E-4ABD-997B-D1E2A96D23EA}" srcOrd="0" destOrd="0" parTransId="{C020ED53-B6CA-4135-97F9-AA8F4F09504E}" sibTransId="{2CD44C1B-2AE1-4FC9-BED0-F14DA0180D4F}"/>
    <dgm:cxn modelId="{E1131B66-7BC5-49AD-A4BC-E36100A0CF48}" type="presOf" srcId="{17CD3DB3-6DA3-4A16-9546-70766449A378}" destId="{0E6E8135-4C5E-4332-A61D-74AD600EFD89}" srcOrd="0" destOrd="0" presId="urn:microsoft.com/office/officeart/2018/2/layout/IconVerticalSolidList"/>
    <dgm:cxn modelId="{A229DE51-1D40-44DF-834D-FF26228D6EF9}" srcId="{3D61C484-3BA9-4B46-A5A6-8076DCF19FDC}" destId="{17CD3DB3-6DA3-4A16-9546-70766449A378}" srcOrd="1" destOrd="0" parTransId="{86215F30-7D1E-44E6-ADA1-20F8F4ABAE12}" sibTransId="{B09AEED7-FAE9-430A-B353-1772EE82D025}"/>
    <dgm:cxn modelId="{C0A8B658-A838-40D3-B496-6C2A94F57391}" type="presOf" srcId="{3D61C484-3BA9-4B46-A5A6-8076DCF19FDC}" destId="{D7955452-4E87-49A7-9E15-CE94B8C0AA54}" srcOrd="0" destOrd="0" presId="urn:microsoft.com/office/officeart/2018/2/layout/IconVerticalSolidList"/>
    <dgm:cxn modelId="{15AF039B-6BB8-4A56-B1D2-1CCCAA975A63}" type="presOf" srcId="{C7381A3E-829E-4ABD-997B-D1E2A96D23EA}" destId="{96C68838-466D-4498-A31E-0A2D1A7CE14D}" srcOrd="0" destOrd="0" presId="urn:microsoft.com/office/officeart/2018/2/layout/IconVerticalSolidList"/>
    <dgm:cxn modelId="{782144A1-7239-4095-A0EA-AC69E96B5D40}" type="presOf" srcId="{DC6A5285-6618-4007-887B-0F8B61301059}" destId="{B10F191E-D057-4648-AFDF-AAD0342BBFD4}" srcOrd="0" destOrd="0" presId="urn:microsoft.com/office/officeart/2018/2/layout/IconVerticalSolidList"/>
    <dgm:cxn modelId="{66A20567-9378-4626-8289-BEAFF4508229}" type="presParOf" srcId="{D7955452-4E87-49A7-9E15-CE94B8C0AA54}" destId="{D9C6A8DE-BD7A-4974-8A39-9E0B99863A08}" srcOrd="0" destOrd="0" presId="urn:microsoft.com/office/officeart/2018/2/layout/IconVerticalSolidList"/>
    <dgm:cxn modelId="{5EA8A1EA-5E38-4272-B8A0-B3C949195C1B}" type="presParOf" srcId="{D9C6A8DE-BD7A-4974-8A39-9E0B99863A08}" destId="{A6747009-E1C8-412B-BD08-8B20896DC8DD}" srcOrd="0" destOrd="0" presId="urn:microsoft.com/office/officeart/2018/2/layout/IconVerticalSolidList"/>
    <dgm:cxn modelId="{40C56965-2958-4D09-B73C-C764B118A421}" type="presParOf" srcId="{D9C6A8DE-BD7A-4974-8A39-9E0B99863A08}" destId="{3A310428-23ED-4D38-BA7D-3C61B4820431}" srcOrd="1" destOrd="0" presId="urn:microsoft.com/office/officeart/2018/2/layout/IconVerticalSolidList"/>
    <dgm:cxn modelId="{3164F8C0-4265-43BC-B642-308566CEF5E5}" type="presParOf" srcId="{D9C6A8DE-BD7A-4974-8A39-9E0B99863A08}" destId="{174B784B-A18D-41BF-BCFA-23C2C73C42FB}" srcOrd="2" destOrd="0" presId="urn:microsoft.com/office/officeart/2018/2/layout/IconVerticalSolidList"/>
    <dgm:cxn modelId="{C9D7F737-CD8D-4408-B947-A5D32A180CA5}" type="presParOf" srcId="{D9C6A8DE-BD7A-4974-8A39-9E0B99863A08}" destId="{96C68838-466D-4498-A31E-0A2D1A7CE14D}" srcOrd="3" destOrd="0" presId="urn:microsoft.com/office/officeart/2018/2/layout/IconVerticalSolidList"/>
    <dgm:cxn modelId="{FAD1BA16-DA73-4CD9-B392-99539BA69716}" type="presParOf" srcId="{D7955452-4E87-49A7-9E15-CE94B8C0AA54}" destId="{786065A4-CA31-4DB3-B09E-CE04EC27B982}" srcOrd="1" destOrd="0" presId="urn:microsoft.com/office/officeart/2018/2/layout/IconVerticalSolidList"/>
    <dgm:cxn modelId="{6A36DA8C-BB6D-403B-8110-90848CA8A902}" type="presParOf" srcId="{D7955452-4E87-49A7-9E15-CE94B8C0AA54}" destId="{71F60CA2-F03D-4B8B-A14B-8A6848BDB21B}" srcOrd="2" destOrd="0" presId="urn:microsoft.com/office/officeart/2018/2/layout/IconVerticalSolidList"/>
    <dgm:cxn modelId="{E5077CB2-3FF2-418D-8463-826B7273C6B7}" type="presParOf" srcId="{71F60CA2-F03D-4B8B-A14B-8A6848BDB21B}" destId="{BD424F9F-4CFE-4388-A544-758FB35845CC}" srcOrd="0" destOrd="0" presId="urn:microsoft.com/office/officeart/2018/2/layout/IconVerticalSolidList"/>
    <dgm:cxn modelId="{9B32FAC2-202B-4CB8-9AAF-7563869669EA}" type="presParOf" srcId="{71F60CA2-F03D-4B8B-A14B-8A6848BDB21B}" destId="{2859619A-5A35-4194-8DD0-8EA4101968A3}" srcOrd="1" destOrd="0" presId="urn:microsoft.com/office/officeart/2018/2/layout/IconVerticalSolidList"/>
    <dgm:cxn modelId="{4F9B3B52-1712-4BFB-ADC9-9D4696A98CFD}" type="presParOf" srcId="{71F60CA2-F03D-4B8B-A14B-8A6848BDB21B}" destId="{C6140650-42BB-4F5A-B630-5B7F8373F425}" srcOrd="2" destOrd="0" presId="urn:microsoft.com/office/officeart/2018/2/layout/IconVerticalSolidList"/>
    <dgm:cxn modelId="{7C685373-B256-4BBB-ADC4-329F2A676251}" type="presParOf" srcId="{71F60CA2-F03D-4B8B-A14B-8A6848BDB21B}" destId="{0E6E8135-4C5E-4332-A61D-74AD600EFD89}" srcOrd="3" destOrd="0" presId="urn:microsoft.com/office/officeart/2018/2/layout/IconVerticalSolidList"/>
    <dgm:cxn modelId="{11A4902F-061E-4C24-80E5-EE165E6D3968}" type="presParOf" srcId="{D7955452-4E87-49A7-9E15-CE94B8C0AA54}" destId="{D0D3FACF-3CB7-458E-BD55-D6F0DBA3E8E6}" srcOrd="3" destOrd="0" presId="urn:microsoft.com/office/officeart/2018/2/layout/IconVerticalSolidList"/>
    <dgm:cxn modelId="{22BBE558-C46D-4CEB-875C-276C9D9EC64D}" type="presParOf" srcId="{D7955452-4E87-49A7-9E15-CE94B8C0AA54}" destId="{522519E2-43FE-4769-ABD9-0BD645BCD319}" srcOrd="4" destOrd="0" presId="urn:microsoft.com/office/officeart/2018/2/layout/IconVerticalSolidList"/>
    <dgm:cxn modelId="{6ED15FF6-B822-4C38-B5A5-18328CBBE5EC}" type="presParOf" srcId="{522519E2-43FE-4769-ABD9-0BD645BCD319}" destId="{7F8D1323-C006-4C3F-9081-56FE943ECA32}" srcOrd="0" destOrd="0" presId="urn:microsoft.com/office/officeart/2018/2/layout/IconVerticalSolidList"/>
    <dgm:cxn modelId="{1AF689F9-2B0B-43C9-A343-35A97BB89527}" type="presParOf" srcId="{522519E2-43FE-4769-ABD9-0BD645BCD319}" destId="{5C7C6428-419A-4F22-B738-C6E36CD7CB34}" srcOrd="1" destOrd="0" presId="urn:microsoft.com/office/officeart/2018/2/layout/IconVerticalSolidList"/>
    <dgm:cxn modelId="{355BD42E-6A6D-4915-9AD6-684E66E62E46}" type="presParOf" srcId="{522519E2-43FE-4769-ABD9-0BD645BCD319}" destId="{878F93EE-921E-4E14-8882-3AFF4EA20F6A}" srcOrd="2" destOrd="0" presId="urn:microsoft.com/office/officeart/2018/2/layout/IconVerticalSolidList"/>
    <dgm:cxn modelId="{D10AB357-2A63-41B9-9B27-CA7E25AA58C5}" type="presParOf" srcId="{522519E2-43FE-4769-ABD9-0BD645BCD319}" destId="{B10F191E-D057-4648-AFDF-AAD0342BBFD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9BB3713F-333F-4AD3-BC5A-C01665318977}"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B4963411-F597-443B-B600-E7D3C5EE037D}">
      <dgm:prSet/>
      <dgm:spPr/>
      <dgm:t>
        <a:bodyPr/>
        <a:lstStyle/>
        <a:p>
          <a:r>
            <a:rPr lang="en-US"/>
            <a:t>In the Intercompany functional area, switch Show to All Tasks.</a:t>
          </a:r>
        </a:p>
      </dgm:t>
    </dgm:pt>
    <dgm:pt modelId="{7C157AAA-FC3A-405A-AF9F-9AD33B0F05C9}" type="parTrans" cxnId="{2D0C9E73-042E-43F0-9A6C-BB68B0D0E9E1}">
      <dgm:prSet/>
      <dgm:spPr/>
      <dgm:t>
        <a:bodyPr/>
        <a:lstStyle/>
        <a:p>
          <a:endParaRPr lang="en-US"/>
        </a:p>
      </dgm:t>
    </dgm:pt>
    <dgm:pt modelId="{DEAB38F9-AB4B-4B1F-86AD-78A54FAD6CB6}" type="sibTrans" cxnId="{2D0C9E73-042E-43F0-9A6C-BB68B0D0E9E1}">
      <dgm:prSet/>
      <dgm:spPr/>
      <dgm:t>
        <a:bodyPr/>
        <a:lstStyle/>
        <a:p>
          <a:endParaRPr lang="en-US"/>
        </a:p>
      </dgm:t>
    </dgm:pt>
    <dgm:pt modelId="{B160909B-4589-43B5-81D2-81523021B405}">
      <dgm:prSet/>
      <dgm:spPr/>
      <dgm:t>
        <a:bodyPr/>
        <a:lstStyle/>
        <a:p>
          <a:r>
            <a:rPr lang="en-US"/>
            <a:t>Open Manage Additional Intercompany Balancing and Clearing Options, listed below Manage Intercompany Balancing Rules.</a:t>
          </a:r>
        </a:p>
      </dgm:t>
    </dgm:pt>
    <dgm:pt modelId="{5A294B93-9B51-4496-A376-EC6BDBB634E1}" type="parTrans" cxnId="{CE7A198B-7E23-49A9-8C77-14500D203E4E}">
      <dgm:prSet/>
      <dgm:spPr/>
      <dgm:t>
        <a:bodyPr/>
        <a:lstStyle/>
        <a:p>
          <a:endParaRPr lang="en-US"/>
        </a:p>
      </dgm:t>
    </dgm:pt>
    <dgm:pt modelId="{8AE1961E-28EC-4619-9E21-C35B6C97237F}" type="sibTrans" cxnId="{CE7A198B-7E23-49A9-8C77-14500D203E4E}">
      <dgm:prSet/>
      <dgm:spPr/>
      <dgm:t>
        <a:bodyPr/>
        <a:lstStyle/>
        <a:p>
          <a:endParaRPr lang="en-US"/>
        </a:p>
      </dgm:t>
    </dgm:pt>
    <dgm:pt modelId="{DB8E795E-E4C7-4DB8-818A-8BB306043E4B}" type="pres">
      <dgm:prSet presAssocID="{9BB3713F-333F-4AD3-BC5A-C01665318977}" presName="hierChild1" presStyleCnt="0">
        <dgm:presLayoutVars>
          <dgm:chPref val="1"/>
          <dgm:dir/>
          <dgm:animOne val="branch"/>
          <dgm:animLvl val="lvl"/>
          <dgm:resizeHandles/>
        </dgm:presLayoutVars>
      </dgm:prSet>
      <dgm:spPr/>
    </dgm:pt>
    <dgm:pt modelId="{06C3913B-650C-4A1B-BA0E-F389B22ABBBA}" type="pres">
      <dgm:prSet presAssocID="{B4963411-F597-443B-B600-E7D3C5EE037D}" presName="hierRoot1" presStyleCnt="0"/>
      <dgm:spPr/>
    </dgm:pt>
    <dgm:pt modelId="{CE1D65E7-E8A0-45BA-9323-8A4153BA66D2}" type="pres">
      <dgm:prSet presAssocID="{B4963411-F597-443B-B600-E7D3C5EE037D}" presName="composite" presStyleCnt="0"/>
      <dgm:spPr/>
    </dgm:pt>
    <dgm:pt modelId="{D75B5570-8101-459D-8D26-3CEDA7F6A283}" type="pres">
      <dgm:prSet presAssocID="{B4963411-F597-443B-B600-E7D3C5EE037D}" presName="background" presStyleLbl="node0" presStyleIdx="0" presStyleCnt="2"/>
      <dgm:spPr/>
    </dgm:pt>
    <dgm:pt modelId="{06EB8015-49D3-4F7D-BF5C-DD86FB83FB37}" type="pres">
      <dgm:prSet presAssocID="{B4963411-F597-443B-B600-E7D3C5EE037D}" presName="text" presStyleLbl="fgAcc0" presStyleIdx="0" presStyleCnt="2">
        <dgm:presLayoutVars>
          <dgm:chPref val="3"/>
        </dgm:presLayoutVars>
      </dgm:prSet>
      <dgm:spPr/>
    </dgm:pt>
    <dgm:pt modelId="{3ACC6C3B-05F6-4BCC-9D8C-22F2863FD454}" type="pres">
      <dgm:prSet presAssocID="{B4963411-F597-443B-B600-E7D3C5EE037D}" presName="hierChild2" presStyleCnt="0"/>
      <dgm:spPr/>
    </dgm:pt>
    <dgm:pt modelId="{9A3A0E04-1F0B-4994-94BE-754AB9383D52}" type="pres">
      <dgm:prSet presAssocID="{B160909B-4589-43B5-81D2-81523021B405}" presName="hierRoot1" presStyleCnt="0"/>
      <dgm:spPr/>
    </dgm:pt>
    <dgm:pt modelId="{D4B783AF-635E-4AC5-8816-28AD6402531B}" type="pres">
      <dgm:prSet presAssocID="{B160909B-4589-43B5-81D2-81523021B405}" presName="composite" presStyleCnt="0"/>
      <dgm:spPr/>
    </dgm:pt>
    <dgm:pt modelId="{7E947DD5-44EE-45F6-BD77-E38D4671EA85}" type="pres">
      <dgm:prSet presAssocID="{B160909B-4589-43B5-81D2-81523021B405}" presName="background" presStyleLbl="node0" presStyleIdx="1" presStyleCnt="2"/>
      <dgm:spPr/>
    </dgm:pt>
    <dgm:pt modelId="{C0356F1F-5B26-43B8-BA95-A541247D9376}" type="pres">
      <dgm:prSet presAssocID="{B160909B-4589-43B5-81D2-81523021B405}" presName="text" presStyleLbl="fgAcc0" presStyleIdx="1" presStyleCnt="2">
        <dgm:presLayoutVars>
          <dgm:chPref val="3"/>
        </dgm:presLayoutVars>
      </dgm:prSet>
      <dgm:spPr/>
    </dgm:pt>
    <dgm:pt modelId="{2728C316-CB84-4AB8-AAC6-6FACD047A723}" type="pres">
      <dgm:prSet presAssocID="{B160909B-4589-43B5-81D2-81523021B405}" presName="hierChild2" presStyleCnt="0"/>
      <dgm:spPr/>
    </dgm:pt>
  </dgm:ptLst>
  <dgm:cxnLst>
    <dgm:cxn modelId="{6270FC46-9FCD-45F2-97C4-AAB3EA007B6D}" type="presOf" srcId="{9BB3713F-333F-4AD3-BC5A-C01665318977}" destId="{DB8E795E-E4C7-4DB8-818A-8BB306043E4B}" srcOrd="0" destOrd="0" presId="urn:microsoft.com/office/officeart/2005/8/layout/hierarchy1"/>
    <dgm:cxn modelId="{2D0C9E73-042E-43F0-9A6C-BB68B0D0E9E1}" srcId="{9BB3713F-333F-4AD3-BC5A-C01665318977}" destId="{B4963411-F597-443B-B600-E7D3C5EE037D}" srcOrd="0" destOrd="0" parTransId="{7C157AAA-FC3A-405A-AF9F-9AD33B0F05C9}" sibTransId="{DEAB38F9-AB4B-4B1F-86AD-78A54FAD6CB6}"/>
    <dgm:cxn modelId="{CE7A198B-7E23-49A9-8C77-14500D203E4E}" srcId="{9BB3713F-333F-4AD3-BC5A-C01665318977}" destId="{B160909B-4589-43B5-81D2-81523021B405}" srcOrd="1" destOrd="0" parTransId="{5A294B93-9B51-4496-A376-EC6BDBB634E1}" sibTransId="{8AE1961E-28EC-4619-9E21-C35B6C97237F}"/>
    <dgm:cxn modelId="{8C605FC4-6371-4EAA-825B-780AD7D7BD52}" type="presOf" srcId="{B160909B-4589-43B5-81D2-81523021B405}" destId="{C0356F1F-5B26-43B8-BA95-A541247D9376}" srcOrd="0" destOrd="0" presId="urn:microsoft.com/office/officeart/2005/8/layout/hierarchy1"/>
    <dgm:cxn modelId="{786270F2-5B6D-4AA9-B002-D08B40AC8CEE}" type="presOf" srcId="{B4963411-F597-443B-B600-E7D3C5EE037D}" destId="{06EB8015-49D3-4F7D-BF5C-DD86FB83FB37}" srcOrd="0" destOrd="0" presId="urn:microsoft.com/office/officeart/2005/8/layout/hierarchy1"/>
    <dgm:cxn modelId="{D79D640F-0854-4417-9712-791E7C9D07E3}" type="presParOf" srcId="{DB8E795E-E4C7-4DB8-818A-8BB306043E4B}" destId="{06C3913B-650C-4A1B-BA0E-F389B22ABBBA}" srcOrd="0" destOrd="0" presId="urn:microsoft.com/office/officeart/2005/8/layout/hierarchy1"/>
    <dgm:cxn modelId="{ED1DF211-D002-4EA6-988F-C3FBFEF7BB01}" type="presParOf" srcId="{06C3913B-650C-4A1B-BA0E-F389B22ABBBA}" destId="{CE1D65E7-E8A0-45BA-9323-8A4153BA66D2}" srcOrd="0" destOrd="0" presId="urn:microsoft.com/office/officeart/2005/8/layout/hierarchy1"/>
    <dgm:cxn modelId="{31D8810A-294B-43E4-A945-D8613BC11809}" type="presParOf" srcId="{CE1D65E7-E8A0-45BA-9323-8A4153BA66D2}" destId="{D75B5570-8101-459D-8D26-3CEDA7F6A283}" srcOrd="0" destOrd="0" presId="urn:microsoft.com/office/officeart/2005/8/layout/hierarchy1"/>
    <dgm:cxn modelId="{7237EAF7-986E-4AF3-BA15-D3D05027CDE2}" type="presParOf" srcId="{CE1D65E7-E8A0-45BA-9323-8A4153BA66D2}" destId="{06EB8015-49D3-4F7D-BF5C-DD86FB83FB37}" srcOrd="1" destOrd="0" presId="urn:microsoft.com/office/officeart/2005/8/layout/hierarchy1"/>
    <dgm:cxn modelId="{9C7796D1-AF9C-4AC5-A8C4-8FEA1EF51747}" type="presParOf" srcId="{06C3913B-650C-4A1B-BA0E-F389B22ABBBA}" destId="{3ACC6C3B-05F6-4BCC-9D8C-22F2863FD454}" srcOrd="1" destOrd="0" presId="urn:microsoft.com/office/officeart/2005/8/layout/hierarchy1"/>
    <dgm:cxn modelId="{84650A84-4C00-46AF-B64B-CA498F65C778}" type="presParOf" srcId="{DB8E795E-E4C7-4DB8-818A-8BB306043E4B}" destId="{9A3A0E04-1F0B-4994-94BE-754AB9383D52}" srcOrd="1" destOrd="0" presId="urn:microsoft.com/office/officeart/2005/8/layout/hierarchy1"/>
    <dgm:cxn modelId="{E5B039E8-5B30-4322-9196-9E64EE07D4B5}" type="presParOf" srcId="{9A3A0E04-1F0B-4994-94BE-754AB9383D52}" destId="{D4B783AF-635E-4AC5-8816-28AD6402531B}" srcOrd="0" destOrd="0" presId="urn:microsoft.com/office/officeart/2005/8/layout/hierarchy1"/>
    <dgm:cxn modelId="{0E1E32D3-698E-4A94-8641-686542D80D0F}" type="presParOf" srcId="{D4B783AF-635E-4AC5-8816-28AD6402531B}" destId="{7E947DD5-44EE-45F6-BD77-E38D4671EA85}" srcOrd="0" destOrd="0" presId="urn:microsoft.com/office/officeart/2005/8/layout/hierarchy1"/>
    <dgm:cxn modelId="{3688A8E0-922C-4046-8F36-195974CE61DF}" type="presParOf" srcId="{D4B783AF-635E-4AC5-8816-28AD6402531B}" destId="{C0356F1F-5B26-43B8-BA95-A541247D9376}" srcOrd="1" destOrd="0" presId="urn:microsoft.com/office/officeart/2005/8/layout/hierarchy1"/>
    <dgm:cxn modelId="{80683FED-0AD6-4DE2-A617-2E515226379C}" type="presParOf" srcId="{9A3A0E04-1F0B-4994-94BE-754AB9383D52}" destId="{2728C316-CB84-4AB8-AAC6-6FACD047A72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B05CAA6D-FBAF-4565-9A63-116DECD8E597}"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70A7AE8E-F007-4420-AA43-D3A0E861973F}">
      <dgm:prSet/>
      <dgm:spPr/>
      <dgm:t>
        <a:bodyPr/>
        <a:lstStyle/>
        <a:p>
          <a:r>
            <a:rPr lang="en-US"/>
            <a:t>Open Settings and Actions and select Setup and Maintenance.</a:t>
          </a:r>
        </a:p>
      </dgm:t>
    </dgm:pt>
    <dgm:pt modelId="{3E57AC81-5313-4BB5-938E-E6D9923FE67D}" type="parTrans" cxnId="{B580A32D-31C6-4484-8BAE-46053894E0E0}">
      <dgm:prSet/>
      <dgm:spPr/>
      <dgm:t>
        <a:bodyPr/>
        <a:lstStyle/>
        <a:p>
          <a:endParaRPr lang="en-US"/>
        </a:p>
      </dgm:t>
    </dgm:pt>
    <dgm:pt modelId="{2C4B98DD-5E63-4B7F-ACC3-F92DD51E1CDF}" type="sibTrans" cxnId="{B580A32D-31C6-4484-8BAE-46053894E0E0}">
      <dgm:prSet/>
      <dgm:spPr/>
      <dgm:t>
        <a:bodyPr/>
        <a:lstStyle/>
        <a:p>
          <a:endParaRPr lang="en-US"/>
        </a:p>
      </dgm:t>
    </dgm:pt>
    <dgm:pt modelId="{3A28076A-ACBC-4AF7-BBD3-D3FF7A96F4CF}">
      <dgm:prSet/>
      <dgm:spPr/>
      <dgm:t>
        <a:bodyPr/>
        <a:lstStyle/>
        <a:p>
          <a:r>
            <a:rPr lang="en-US"/>
            <a:t>This opens the Functional Setup Manager.</a:t>
          </a:r>
        </a:p>
      </dgm:t>
    </dgm:pt>
    <dgm:pt modelId="{3B38788F-8599-43FC-B483-F30BBF38C36B}" type="parTrans" cxnId="{8AE02F77-42AA-4523-BD4E-4520AAEABEA2}">
      <dgm:prSet/>
      <dgm:spPr/>
      <dgm:t>
        <a:bodyPr/>
        <a:lstStyle/>
        <a:p>
          <a:endParaRPr lang="en-US"/>
        </a:p>
      </dgm:t>
    </dgm:pt>
    <dgm:pt modelId="{D332FAF0-A9BC-49B7-99D3-FC3D9960E4CF}" type="sibTrans" cxnId="{8AE02F77-42AA-4523-BD4E-4520AAEABEA2}">
      <dgm:prSet/>
      <dgm:spPr/>
      <dgm:t>
        <a:bodyPr/>
        <a:lstStyle/>
        <a:p>
          <a:endParaRPr lang="en-US"/>
        </a:p>
      </dgm:t>
    </dgm:pt>
    <dgm:pt modelId="{4DA81785-378C-438E-836C-E4F77150EEAC}" type="pres">
      <dgm:prSet presAssocID="{B05CAA6D-FBAF-4565-9A63-116DECD8E597}" presName="hierChild1" presStyleCnt="0">
        <dgm:presLayoutVars>
          <dgm:chPref val="1"/>
          <dgm:dir/>
          <dgm:animOne val="branch"/>
          <dgm:animLvl val="lvl"/>
          <dgm:resizeHandles/>
        </dgm:presLayoutVars>
      </dgm:prSet>
      <dgm:spPr/>
    </dgm:pt>
    <dgm:pt modelId="{CB54E327-297C-4019-AFD6-26744B04BD48}" type="pres">
      <dgm:prSet presAssocID="{70A7AE8E-F007-4420-AA43-D3A0E861973F}" presName="hierRoot1" presStyleCnt="0"/>
      <dgm:spPr/>
    </dgm:pt>
    <dgm:pt modelId="{B518BEA5-F444-4919-9180-7C6ADC3B1C02}" type="pres">
      <dgm:prSet presAssocID="{70A7AE8E-F007-4420-AA43-D3A0E861973F}" presName="composite" presStyleCnt="0"/>
      <dgm:spPr/>
    </dgm:pt>
    <dgm:pt modelId="{9731A933-A1A0-4B1D-8363-4659498048E0}" type="pres">
      <dgm:prSet presAssocID="{70A7AE8E-F007-4420-AA43-D3A0E861973F}" presName="background" presStyleLbl="node0" presStyleIdx="0" presStyleCnt="2"/>
      <dgm:spPr/>
    </dgm:pt>
    <dgm:pt modelId="{13239256-1868-4BD9-95EB-A331423403E4}" type="pres">
      <dgm:prSet presAssocID="{70A7AE8E-F007-4420-AA43-D3A0E861973F}" presName="text" presStyleLbl="fgAcc0" presStyleIdx="0" presStyleCnt="2">
        <dgm:presLayoutVars>
          <dgm:chPref val="3"/>
        </dgm:presLayoutVars>
      </dgm:prSet>
      <dgm:spPr/>
    </dgm:pt>
    <dgm:pt modelId="{23C37AE2-CE64-4D02-A4B9-A27BD0BB7CD1}" type="pres">
      <dgm:prSet presAssocID="{70A7AE8E-F007-4420-AA43-D3A0E861973F}" presName="hierChild2" presStyleCnt="0"/>
      <dgm:spPr/>
    </dgm:pt>
    <dgm:pt modelId="{0ACD8324-38A3-422C-A786-0CA3486DB77B}" type="pres">
      <dgm:prSet presAssocID="{3A28076A-ACBC-4AF7-BBD3-D3FF7A96F4CF}" presName="hierRoot1" presStyleCnt="0"/>
      <dgm:spPr/>
    </dgm:pt>
    <dgm:pt modelId="{FDABE67C-8D09-4C7D-B229-E7E19F09DFE4}" type="pres">
      <dgm:prSet presAssocID="{3A28076A-ACBC-4AF7-BBD3-D3FF7A96F4CF}" presName="composite" presStyleCnt="0"/>
      <dgm:spPr/>
    </dgm:pt>
    <dgm:pt modelId="{CC5BBD85-C779-46C8-A1C1-92DEBA48ADBC}" type="pres">
      <dgm:prSet presAssocID="{3A28076A-ACBC-4AF7-BBD3-D3FF7A96F4CF}" presName="background" presStyleLbl="node0" presStyleIdx="1" presStyleCnt="2"/>
      <dgm:spPr/>
    </dgm:pt>
    <dgm:pt modelId="{A3E86207-D389-4DF2-96AF-0BF24F2DCF1F}" type="pres">
      <dgm:prSet presAssocID="{3A28076A-ACBC-4AF7-BBD3-D3FF7A96F4CF}" presName="text" presStyleLbl="fgAcc0" presStyleIdx="1" presStyleCnt="2">
        <dgm:presLayoutVars>
          <dgm:chPref val="3"/>
        </dgm:presLayoutVars>
      </dgm:prSet>
      <dgm:spPr/>
    </dgm:pt>
    <dgm:pt modelId="{29A68EDF-7814-4EDC-9CB1-68E3CE379A6A}" type="pres">
      <dgm:prSet presAssocID="{3A28076A-ACBC-4AF7-BBD3-D3FF7A96F4CF}" presName="hierChild2" presStyleCnt="0"/>
      <dgm:spPr/>
    </dgm:pt>
  </dgm:ptLst>
  <dgm:cxnLst>
    <dgm:cxn modelId="{B580A32D-31C6-4484-8BAE-46053894E0E0}" srcId="{B05CAA6D-FBAF-4565-9A63-116DECD8E597}" destId="{70A7AE8E-F007-4420-AA43-D3A0E861973F}" srcOrd="0" destOrd="0" parTransId="{3E57AC81-5313-4BB5-938E-E6D9923FE67D}" sibTransId="{2C4B98DD-5E63-4B7F-ACC3-F92DD51E1CDF}"/>
    <dgm:cxn modelId="{6AA64254-865C-4E67-AD7B-21495B4752F7}" type="presOf" srcId="{B05CAA6D-FBAF-4565-9A63-116DECD8E597}" destId="{4DA81785-378C-438E-836C-E4F77150EEAC}" srcOrd="0" destOrd="0" presId="urn:microsoft.com/office/officeart/2005/8/layout/hierarchy1"/>
    <dgm:cxn modelId="{8AE02F77-42AA-4523-BD4E-4520AAEABEA2}" srcId="{B05CAA6D-FBAF-4565-9A63-116DECD8E597}" destId="{3A28076A-ACBC-4AF7-BBD3-D3FF7A96F4CF}" srcOrd="1" destOrd="0" parTransId="{3B38788F-8599-43FC-B483-F30BBF38C36B}" sibTransId="{D332FAF0-A9BC-49B7-99D3-FC3D9960E4CF}"/>
    <dgm:cxn modelId="{33495E8D-59E0-4AE2-A04B-F45AFE518F2F}" type="presOf" srcId="{3A28076A-ACBC-4AF7-BBD3-D3FF7A96F4CF}" destId="{A3E86207-D389-4DF2-96AF-0BF24F2DCF1F}" srcOrd="0" destOrd="0" presId="urn:microsoft.com/office/officeart/2005/8/layout/hierarchy1"/>
    <dgm:cxn modelId="{84C8BEF6-B656-4E96-A703-38A5E8046679}" type="presOf" srcId="{70A7AE8E-F007-4420-AA43-D3A0E861973F}" destId="{13239256-1868-4BD9-95EB-A331423403E4}" srcOrd="0" destOrd="0" presId="urn:microsoft.com/office/officeart/2005/8/layout/hierarchy1"/>
    <dgm:cxn modelId="{52B330C7-8C11-4D86-92DC-BDCD40433E10}" type="presParOf" srcId="{4DA81785-378C-438E-836C-E4F77150EEAC}" destId="{CB54E327-297C-4019-AFD6-26744B04BD48}" srcOrd="0" destOrd="0" presId="urn:microsoft.com/office/officeart/2005/8/layout/hierarchy1"/>
    <dgm:cxn modelId="{10EA4608-B130-4008-A659-D4ACCD47A4D5}" type="presParOf" srcId="{CB54E327-297C-4019-AFD6-26744B04BD48}" destId="{B518BEA5-F444-4919-9180-7C6ADC3B1C02}" srcOrd="0" destOrd="0" presId="urn:microsoft.com/office/officeart/2005/8/layout/hierarchy1"/>
    <dgm:cxn modelId="{E30CFA4F-B70E-4805-8376-FDB4550AEDDB}" type="presParOf" srcId="{B518BEA5-F444-4919-9180-7C6ADC3B1C02}" destId="{9731A933-A1A0-4B1D-8363-4659498048E0}" srcOrd="0" destOrd="0" presId="urn:microsoft.com/office/officeart/2005/8/layout/hierarchy1"/>
    <dgm:cxn modelId="{DCFC3D2B-988C-4D7B-8159-55DC29A2D066}" type="presParOf" srcId="{B518BEA5-F444-4919-9180-7C6ADC3B1C02}" destId="{13239256-1868-4BD9-95EB-A331423403E4}" srcOrd="1" destOrd="0" presId="urn:microsoft.com/office/officeart/2005/8/layout/hierarchy1"/>
    <dgm:cxn modelId="{B959FEE0-FCCB-46EC-9756-DB82D5038659}" type="presParOf" srcId="{CB54E327-297C-4019-AFD6-26744B04BD48}" destId="{23C37AE2-CE64-4D02-A4B9-A27BD0BB7CD1}" srcOrd="1" destOrd="0" presId="urn:microsoft.com/office/officeart/2005/8/layout/hierarchy1"/>
    <dgm:cxn modelId="{F01621C5-1EC6-4A60-B393-4D599C76F7F8}" type="presParOf" srcId="{4DA81785-378C-438E-836C-E4F77150EEAC}" destId="{0ACD8324-38A3-422C-A786-0CA3486DB77B}" srcOrd="1" destOrd="0" presId="urn:microsoft.com/office/officeart/2005/8/layout/hierarchy1"/>
    <dgm:cxn modelId="{12334E08-31EE-41D5-A3EF-D3D5C1110245}" type="presParOf" srcId="{0ACD8324-38A3-422C-A786-0CA3486DB77B}" destId="{FDABE67C-8D09-4C7D-B229-E7E19F09DFE4}" srcOrd="0" destOrd="0" presId="urn:microsoft.com/office/officeart/2005/8/layout/hierarchy1"/>
    <dgm:cxn modelId="{DDA2972E-946A-4340-988D-43D752A082FB}" type="presParOf" srcId="{FDABE67C-8D09-4C7D-B229-E7E19F09DFE4}" destId="{CC5BBD85-C779-46C8-A1C1-92DEBA48ADBC}" srcOrd="0" destOrd="0" presId="urn:microsoft.com/office/officeart/2005/8/layout/hierarchy1"/>
    <dgm:cxn modelId="{BC5CFEFB-025C-4336-977E-0CE5B8F8185C}" type="presParOf" srcId="{FDABE67C-8D09-4C7D-B229-E7E19F09DFE4}" destId="{A3E86207-D389-4DF2-96AF-0BF24F2DCF1F}" srcOrd="1" destOrd="0" presId="urn:microsoft.com/office/officeart/2005/8/layout/hierarchy1"/>
    <dgm:cxn modelId="{D325A043-3F06-4644-887B-126C7E8F50F2}" type="presParOf" srcId="{0ACD8324-38A3-422C-A786-0CA3486DB77B}" destId="{29A68EDF-7814-4EDC-9CB1-68E3CE379A6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97CEB874-82AC-43F4-ACD0-ACF2B3BCA24A}"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0F60E857-F92E-45D2-A1F4-D363500889D2}">
      <dgm:prSet/>
      <dgm:spPr/>
      <dgm:t>
        <a:bodyPr/>
        <a:lstStyle/>
        <a:p>
          <a:r>
            <a:rPr lang="en-US"/>
            <a:t>Select the Financial Reporting Structures functional area and set Show to All Tasks.</a:t>
          </a:r>
        </a:p>
      </dgm:t>
    </dgm:pt>
    <dgm:pt modelId="{D79B6DEB-3A4F-4E01-93B3-3380E77370B9}" type="parTrans" cxnId="{E6991D8F-0E50-4E33-924C-BC2222B82E1E}">
      <dgm:prSet/>
      <dgm:spPr/>
      <dgm:t>
        <a:bodyPr/>
        <a:lstStyle/>
        <a:p>
          <a:endParaRPr lang="en-US"/>
        </a:p>
      </dgm:t>
    </dgm:pt>
    <dgm:pt modelId="{F17C30DE-936E-414C-87B4-58522616677E}" type="sibTrans" cxnId="{E6991D8F-0E50-4E33-924C-BC2222B82E1E}">
      <dgm:prSet/>
      <dgm:spPr/>
      <dgm:t>
        <a:bodyPr/>
        <a:lstStyle/>
        <a:p>
          <a:endParaRPr lang="en-US"/>
        </a:p>
      </dgm:t>
    </dgm:pt>
    <dgm:pt modelId="{5D8E39D4-1089-45B3-83DB-AC1D8C71D0AC}">
      <dgm:prSet/>
      <dgm:spPr/>
      <dgm:t>
        <a:bodyPr/>
        <a:lstStyle/>
        <a:p>
          <a:r>
            <a:rPr lang="en-US"/>
            <a:t>Open Manage Cross-Validation Rules, listed near Manage Segment Value Security Rules and Manage Chart of Accounts Mappings.</a:t>
          </a:r>
        </a:p>
      </dgm:t>
    </dgm:pt>
    <dgm:pt modelId="{A3DF5464-D551-4206-B44C-69023D66EDB5}" type="parTrans" cxnId="{2E32CF2A-76A3-4F14-B57D-33C40A5421A8}">
      <dgm:prSet/>
      <dgm:spPr/>
      <dgm:t>
        <a:bodyPr/>
        <a:lstStyle/>
        <a:p>
          <a:endParaRPr lang="en-US"/>
        </a:p>
      </dgm:t>
    </dgm:pt>
    <dgm:pt modelId="{39D2351F-E683-4A97-AF4F-BA21082DB31D}" type="sibTrans" cxnId="{2E32CF2A-76A3-4F14-B57D-33C40A5421A8}">
      <dgm:prSet/>
      <dgm:spPr/>
      <dgm:t>
        <a:bodyPr/>
        <a:lstStyle/>
        <a:p>
          <a:endParaRPr lang="en-US"/>
        </a:p>
      </dgm:t>
    </dgm:pt>
    <dgm:pt modelId="{A373003A-B283-4BBB-AAEB-2D8DF0DD3A32}" type="pres">
      <dgm:prSet presAssocID="{97CEB874-82AC-43F4-ACD0-ACF2B3BCA24A}" presName="linear" presStyleCnt="0">
        <dgm:presLayoutVars>
          <dgm:animLvl val="lvl"/>
          <dgm:resizeHandles val="exact"/>
        </dgm:presLayoutVars>
      </dgm:prSet>
      <dgm:spPr/>
    </dgm:pt>
    <dgm:pt modelId="{3D584319-0766-4C8D-A927-0CD3A7C4B133}" type="pres">
      <dgm:prSet presAssocID="{0F60E857-F92E-45D2-A1F4-D363500889D2}" presName="parentText" presStyleLbl="node1" presStyleIdx="0" presStyleCnt="2">
        <dgm:presLayoutVars>
          <dgm:chMax val="0"/>
          <dgm:bulletEnabled val="1"/>
        </dgm:presLayoutVars>
      </dgm:prSet>
      <dgm:spPr/>
    </dgm:pt>
    <dgm:pt modelId="{56F9E5CC-35C4-4EF7-83B3-336FD9978066}" type="pres">
      <dgm:prSet presAssocID="{F17C30DE-936E-414C-87B4-58522616677E}" presName="spacer" presStyleCnt="0"/>
      <dgm:spPr/>
    </dgm:pt>
    <dgm:pt modelId="{42884D6C-9E7D-4ABF-B79C-3CFBC75AC6BF}" type="pres">
      <dgm:prSet presAssocID="{5D8E39D4-1089-45B3-83DB-AC1D8C71D0AC}" presName="parentText" presStyleLbl="node1" presStyleIdx="1" presStyleCnt="2">
        <dgm:presLayoutVars>
          <dgm:chMax val="0"/>
          <dgm:bulletEnabled val="1"/>
        </dgm:presLayoutVars>
      </dgm:prSet>
      <dgm:spPr/>
    </dgm:pt>
  </dgm:ptLst>
  <dgm:cxnLst>
    <dgm:cxn modelId="{2E32CF2A-76A3-4F14-B57D-33C40A5421A8}" srcId="{97CEB874-82AC-43F4-ACD0-ACF2B3BCA24A}" destId="{5D8E39D4-1089-45B3-83DB-AC1D8C71D0AC}" srcOrd="1" destOrd="0" parTransId="{A3DF5464-D551-4206-B44C-69023D66EDB5}" sibTransId="{39D2351F-E683-4A97-AF4F-BA21082DB31D}"/>
    <dgm:cxn modelId="{2E252749-4B25-49A3-A73A-F0038A5603F9}" type="presOf" srcId="{0F60E857-F92E-45D2-A1F4-D363500889D2}" destId="{3D584319-0766-4C8D-A927-0CD3A7C4B133}" srcOrd="0" destOrd="0" presId="urn:microsoft.com/office/officeart/2005/8/layout/vList2"/>
    <dgm:cxn modelId="{900B4C51-D4C4-474A-89E1-FC8002C762A7}" type="presOf" srcId="{97CEB874-82AC-43F4-ACD0-ACF2B3BCA24A}" destId="{A373003A-B283-4BBB-AAEB-2D8DF0DD3A32}" srcOrd="0" destOrd="0" presId="urn:microsoft.com/office/officeart/2005/8/layout/vList2"/>
    <dgm:cxn modelId="{E6991D8F-0E50-4E33-924C-BC2222B82E1E}" srcId="{97CEB874-82AC-43F4-ACD0-ACF2B3BCA24A}" destId="{0F60E857-F92E-45D2-A1F4-D363500889D2}" srcOrd="0" destOrd="0" parTransId="{D79B6DEB-3A4F-4E01-93B3-3380E77370B9}" sibTransId="{F17C30DE-936E-414C-87B4-58522616677E}"/>
    <dgm:cxn modelId="{B5D8E3DB-7383-4040-84F8-4AF52FF107DC}" type="presOf" srcId="{5D8E39D4-1089-45B3-83DB-AC1D8C71D0AC}" destId="{42884D6C-9E7D-4ABF-B79C-3CFBC75AC6BF}" srcOrd="0" destOrd="0" presId="urn:microsoft.com/office/officeart/2005/8/layout/vList2"/>
    <dgm:cxn modelId="{D71CF3C5-EC87-47B2-9E37-5C40B68C018D}" type="presParOf" srcId="{A373003A-B283-4BBB-AAEB-2D8DF0DD3A32}" destId="{3D584319-0766-4C8D-A927-0CD3A7C4B133}" srcOrd="0" destOrd="0" presId="urn:microsoft.com/office/officeart/2005/8/layout/vList2"/>
    <dgm:cxn modelId="{65643D9E-116F-46C6-B5C6-967334B1FE0C}" type="presParOf" srcId="{A373003A-B283-4BBB-AAEB-2D8DF0DD3A32}" destId="{56F9E5CC-35C4-4EF7-83B3-336FD9978066}" srcOrd="1" destOrd="0" presId="urn:microsoft.com/office/officeart/2005/8/layout/vList2"/>
    <dgm:cxn modelId="{CF11B58D-FD7B-4DB5-B60E-D3689AE9D88A}" type="presParOf" srcId="{A373003A-B283-4BBB-AAEB-2D8DF0DD3A32}" destId="{42884D6C-9E7D-4ABF-B79C-3CFBC75AC6BF}"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ACA2EBBF-06F0-4465-AADE-DCA18F534E4C}"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80D5E404-E6A7-4A71-B077-2FBD28443B5D}">
      <dgm:prSet/>
      <dgm:spPr/>
      <dgm:t>
        <a:bodyPr/>
        <a:lstStyle/>
        <a:p>
          <a:r>
            <a:rPr lang="en-US"/>
            <a:t>In the Details region, click the Condition Filter icon to open the filter dialog.</a:t>
          </a:r>
        </a:p>
      </dgm:t>
    </dgm:pt>
    <dgm:pt modelId="{E749A131-7EB3-4285-849B-D6AA39F52AE0}" type="parTrans" cxnId="{BB8DF3A1-4EFB-4512-AB62-E6782E520C8A}">
      <dgm:prSet/>
      <dgm:spPr/>
      <dgm:t>
        <a:bodyPr/>
        <a:lstStyle/>
        <a:p>
          <a:endParaRPr lang="en-US"/>
        </a:p>
      </dgm:t>
    </dgm:pt>
    <dgm:pt modelId="{C8BBB1BE-777E-47A6-B961-DE7F3CFDB2EC}" type="sibTrans" cxnId="{BB8DF3A1-4EFB-4512-AB62-E6782E520C8A}">
      <dgm:prSet/>
      <dgm:spPr/>
      <dgm:t>
        <a:bodyPr/>
        <a:lstStyle/>
        <a:p>
          <a:endParaRPr lang="en-US"/>
        </a:p>
      </dgm:t>
    </dgm:pt>
    <dgm:pt modelId="{183B9B86-CF49-4F6F-8FDE-6672DBB0FE21}">
      <dgm:prSet/>
      <dgm:spPr/>
      <dgm:t>
        <a:bodyPr/>
        <a:lstStyle/>
        <a:p>
          <a:r>
            <a:rPr lang="en-US"/>
            <a:t>The dialog initially shows No search fields added.</a:t>
          </a:r>
        </a:p>
      </dgm:t>
    </dgm:pt>
    <dgm:pt modelId="{7B058067-E2E9-4B83-A7E1-94D05502B51A}" type="parTrans" cxnId="{9054C2CF-145F-48EE-9250-6F7B979744EE}">
      <dgm:prSet/>
      <dgm:spPr/>
      <dgm:t>
        <a:bodyPr/>
        <a:lstStyle/>
        <a:p>
          <a:endParaRPr lang="en-US"/>
        </a:p>
      </dgm:t>
    </dgm:pt>
    <dgm:pt modelId="{D7CD4414-F521-4465-BD9D-0387235D402D}" type="sibTrans" cxnId="{9054C2CF-145F-48EE-9250-6F7B979744EE}">
      <dgm:prSet/>
      <dgm:spPr/>
      <dgm:t>
        <a:bodyPr/>
        <a:lstStyle/>
        <a:p>
          <a:endParaRPr lang="en-US"/>
        </a:p>
      </dgm:t>
    </dgm:pt>
    <dgm:pt modelId="{BAC84395-24D9-4074-BA90-F673AC214F98}">
      <dgm:prSet/>
      <dgm:spPr/>
      <dgm:t>
        <a:bodyPr/>
        <a:lstStyle/>
        <a:p>
          <a:r>
            <a:rPr lang="en-US"/>
            <a:t>Use Add Fields to select the segments (for example, Department and Account) to filter on.</a:t>
          </a:r>
        </a:p>
      </dgm:t>
    </dgm:pt>
    <dgm:pt modelId="{80E7132E-54AD-42DD-997E-9CE387F7CABF}" type="parTrans" cxnId="{37BFD499-B1E0-44E4-B11B-01FF14049863}">
      <dgm:prSet/>
      <dgm:spPr/>
      <dgm:t>
        <a:bodyPr/>
        <a:lstStyle/>
        <a:p>
          <a:endParaRPr lang="en-US"/>
        </a:p>
      </dgm:t>
    </dgm:pt>
    <dgm:pt modelId="{F120B209-BCAD-48F3-85E6-296B0EBA67B4}" type="sibTrans" cxnId="{37BFD499-B1E0-44E4-B11B-01FF14049863}">
      <dgm:prSet/>
      <dgm:spPr/>
      <dgm:t>
        <a:bodyPr/>
        <a:lstStyle/>
        <a:p>
          <a:endParaRPr lang="en-US"/>
        </a:p>
      </dgm:t>
    </dgm:pt>
    <dgm:pt modelId="{2A671EB2-6935-4D15-A646-ADA865F65F2C}" type="pres">
      <dgm:prSet presAssocID="{ACA2EBBF-06F0-4465-AADE-DCA18F534E4C}" presName="hierChild1" presStyleCnt="0">
        <dgm:presLayoutVars>
          <dgm:chPref val="1"/>
          <dgm:dir/>
          <dgm:animOne val="branch"/>
          <dgm:animLvl val="lvl"/>
          <dgm:resizeHandles/>
        </dgm:presLayoutVars>
      </dgm:prSet>
      <dgm:spPr/>
    </dgm:pt>
    <dgm:pt modelId="{F7A6F6A0-E0EC-4F8E-AD41-A1AE102491CE}" type="pres">
      <dgm:prSet presAssocID="{80D5E404-E6A7-4A71-B077-2FBD28443B5D}" presName="hierRoot1" presStyleCnt="0"/>
      <dgm:spPr/>
    </dgm:pt>
    <dgm:pt modelId="{F449D32C-5A99-4BDB-94B9-6DBAA05FD832}" type="pres">
      <dgm:prSet presAssocID="{80D5E404-E6A7-4A71-B077-2FBD28443B5D}" presName="composite" presStyleCnt="0"/>
      <dgm:spPr/>
    </dgm:pt>
    <dgm:pt modelId="{E39F7D8B-DDCC-4762-8881-BAC2A6281165}" type="pres">
      <dgm:prSet presAssocID="{80D5E404-E6A7-4A71-B077-2FBD28443B5D}" presName="background" presStyleLbl="node0" presStyleIdx="0" presStyleCnt="3"/>
      <dgm:spPr/>
    </dgm:pt>
    <dgm:pt modelId="{C649D0C5-8073-4C2A-B79D-C1455600E143}" type="pres">
      <dgm:prSet presAssocID="{80D5E404-E6A7-4A71-B077-2FBD28443B5D}" presName="text" presStyleLbl="fgAcc0" presStyleIdx="0" presStyleCnt="3">
        <dgm:presLayoutVars>
          <dgm:chPref val="3"/>
        </dgm:presLayoutVars>
      </dgm:prSet>
      <dgm:spPr/>
    </dgm:pt>
    <dgm:pt modelId="{9B109E2F-1E25-44E8-8CFC-04D5B3DEAD5B}" type="pres">
      <dgm:prSet presAssocID="{80D5E404-E6A7-4A71-B077-2FBD28443B5D}" presName="hierChild2" presStyleCnt="0"/>
      <dgm:spPr/>
    </dgm:pt>
    <dgm:pt modelId="{D9AD1DB5-FEF2-4270-A2BE-31769B838477}" type="pres">
      <dgm:prSet presAssocID="{183B9B86-CF49-4F6F-8FDE-6672DBB0FE21}" presName="hierRoot1" presStyleCnt="0"/>
      <dgm:spPr/>
    </dgm:pt>
    <dgm:pt modelId="{0686266B-E531-4F6D-B576-54077CE5D92C}" type="pres">
      <dgm:prSet presAssocID="{183B9B86-CF49-4F6F-8FDE-6672DBB0FE21}" presName="composite" presStyleCnt="0"/>
      <dgm:spPr/>
    </dgm:pt>
    <dgm:pt modelId="{08169B55-6E7E-4401-B1D8-5448EAC69998}" type="pres">
      <dgm:prSet presAssocID="{183B9B86-CF49-4F6F-8FDE-6672DBB0FE21}" presName="background" presStyleLbl="node0" presStyleIdx="1" presStyleCnt="3"/>
      <dgm:spPr/>
    </dgm:pt>
    <dgm:pt modelId="{3E655505-59D0-4406-BB46-6DF3037946F8}" type="pres">
      <dgm:prSet presAssocID="{183B9B86-CF49-4F6F-8FDE-6672DBB0FE21}" presName="text" presStyleLbl="fgAcc0" presStyleIdx="1" presStyleCnt="3">
        <dgm:presLayoutVars>
          <dgm:chPref val="3"/>
        </dgm:presLayoutVars>
      </dgm:prSet>
      <dgm:spPr/>
    </dgm:pt>
    <dgm:pt modelId="{08C6D898-B309-4CAC-93C6-0DC8854C1F3F}" type="pres">
      <dgm:prSet presAssocID="{183B9B86-CF49-4F6F-8FDE-6672DBB0FE21}" presName="hierChild2" presStyleCnt="0"/>
      <dgm:spPr/>
    </dgm:pt>
    <dgm:pt modelId="{DB3A8D8A-24AC-4625-AF7F-9F7146585810}" type="pres">
      <dgm:prSet presAssocID="{BAC84395-24D9-4074-BA90-F673AC214F98}" presName="hierRoot1" presStyleCnt="0"/>
      <dgm:spPr/>
    </dgm:pt>
    <dgm:pt modelId="{190C570A-E656-4CCA-A23D-C10D23C6C2AB}" type="pres">
      <dgm:prSet presAssocID="{BAC84395-24D9-4074-BA90-F673AC214F98}" presName="composite" presStyleCnt="0"/>
      <dgm:spPr/>
    </dgm:pt>
    <dgm:pt modelId="{2FD64EAF-E10A-4026-8B61-7E9943C28370}" type="pres">
      <dgm:prSet presAssocID="{BAC84395-24D9-4074-BA90-F673AC214F98}" presName="background" presStyleLbl="node0" presStyleIdx="2" presStyleCnt="3"/>
      <dgm:spPr/>
    </dgm:pt>
    <dgm:pt modelId="{4B22FF64-7F08-43BC-A7CA-4DE9276153EB}" type="pres">
      <dgm:prSet presAssocID="{BAC84395-24D9-4074-BA90-F673AC214F98}" presName="text" presStyleLbl="fgAcc0" presStyleIdx="2" presStyleCnt="3">
        <dgm:presLayoutVars>
          <dgm:chPref val="3"/>
        </dgm:presLayoutVars>
      </dgm:prSet>
      <dgm:spPr/>
    </dgm:pt>
    <dgm:pt modelId="{632AEE52-A7B6-4E1E-AAC4-414682416E58}" type="pres">
      <dgm:prSet presAssocID="{BAC84395-24D9-4074-BA90-F673AC214F98}" presName="hierChild2" presStyleCnt="0"/>
      <dgm:spPr/>
    </dgm:pt>
  </dgm:ptLst>
  <dgm:cxnLst>
    <dgm:cxn modelId="{B885EA4E-A08E-495C-9DDD-836BCD9B13D9}" type="presOf" srcId="{BAC84395-24D9-4074-BA90-F673AC214F98}" destId="{4B22FF64-7F08-43BC-A7CA-4DE9276153EB}" srcOrd="0" destOrd="0" presId="urn:microsoft.com/office/officeart/2005/8/layout/hierarchy1"/>
    <dgm:cxn modelId="{7C60C451-4402-45CA-9AA8-40AE595AE84E}" type="presOf" srcId="{80D5E404-E6A7-4A71-B077-2FBD28443B5D}" destId="{C649D0C5-8073-4C2A-B79D-C1455600E143}" srcOrd="0" destOrd="0" presId="urn:microsoft.com/office/officeart/2005/8/layout/hierarchy1"/>
    <dgm:cxn modelId="{37BFD499-B1E0-44E4-B11B-01FF14049863}" srcId="{ACA2EBBF-06F0-4465-AADE-DCA18F534E4C}" destId="{BAC84395-24D9-4074-BA90-F673AC214F98}" srcOrd="2" destOrd="0" parTransId="{80E7132E-54AD-42DD-997E-9CE387F7CABF}" sibTransId="{F120B209-BCAD-48F3-85E6-296B0EBA67B4}"/>
    <dgm:cxn modelId="{BB8DF3A1-4EFB-4512-AB62-E6782E520C8A}" srcId="{ACA2EBBF-06F0-4465-AADE-DCA18F534E4C}" destId="{80D5E404-E6A7-4A71-B077-2FBD28443B5D}" srcOrd="0" destOrd="0" parTransId="{E749A131-7EB3-4285-849B-D6AA39F52AE0}" sibTransId="{C8BBB1BE-777E-47A6-B961-DE7F3CFDB2EC}"/>
    <dgm:cxn modelId="{9054C2CF-145F-48EE-9250-6F7B979744EE}" srcId="{ACA2EBBF-06F0-4465-AADE-DCA18F534E4C}" destId="{183B9B86-CF49-4F6F-8FDE-6672DBB0FE21}" srcOrd="1" destOrd="0" parTransId="{7B058067-E2E9-4B83-A7E1-94D05502B51A}" sibTransId="{D7CD4414-F521-4465-BD9D-0387235D402D}"/>
    <dgm:cxn modelId="{950F38D3-9F08-4737-93D5-6B18EEC316FE}" type="presOf" srcId="{ACA2EBBF-06F0-4465-AADE-DCA18F534E4C}" destId="{2A671EB2-6935-4D15-A646-ADA865F65F2C}" srcOrd="0" destOrd="0" presId="urn:microsoft.com/office/officeart/2005/8/layout/hierarchy1"/>
    <dgm:cxn modelId="{0D9EE5DA-D03A-45FD-981D-0053E83E46A6}" type="presOf" srcId="{183B9B86-CF49-4F6F-8FDE-6672DBB0FE21}" destId="{3E655505-59D0-4406-BB46-6DF3037946F8}" srcOrd="0" destOrd="0" presId="urn:microsoft.com/office/officeart/2005/8/layout/hierarchy1"/>
    <dgm:cxn modelId="{C94F6369-18E0-4E59-8C09-0CCC8E2D00DE}" type="presParOf" srcId="{2A671EB2-6935-4D15-A646-ADA865F65F2C}" destId="{F7A6F6A0-E0EC-4F8E-AD41-A1AE102491CE}" srcOrd="0" destOrd="0" presId="urn:microsoft.com/office/officeart/2005/8/layout/hierarchy1"/>
    <dgm:cxn modelId="{CA379272-2B82-4B32-B8BF-02F6C30EF981}" type="presParOf" srcId="{F7A6F6A0-E0EC-4F8E-AD41-A1AE102491CE}" destId="{F449D32C-5A99-4BDB-94B9-6DBAA05FD832}" srcOrd="0" destOrd="0" presId="urn:microsoft.com/office/officeart/2005/8/layout/hierarchy1"/>
    <dgm:cxn modelId="{556EFE5B-162B-471F-ABFF-4184D7B626BB}" type="presParOf" srcId="{F449D32C-5A99-4BDB-94B9-6DBAA05FD832}" destId="{E39F7D8B-DDCC-4762-8881-BAC2A6281165}" srcOrd="0" destOrd="0" presId="urn:microsoft.com/office/officeart/2005/8/layout/hierarchy1"/>
    <dgm:cxn modelId="{02C6412E-6503-4DCB-95D2-898FE4924921}" type="presParOf" srcId="{F449D32C-5A99-4BDB-94B9-6DBAA05FD832}" destId="{C649D0C5-8073-4C2A-B79D-C1455600E143}" srcOrd="1" destOrd="0" presId="urn:microsoft.com/office/officeart/2005/8/layout/hierarchy1"/>
    <dgm:cxn modelId="{DFD71564-82CA-413C-964C-27CECD87DE15}" type="presParOf" srcId="{F7A6F6A0-E0EC-4F8E-AD41-A1AE102491CE}" destId="{9B109E2F-1E25-44E8-8CFC-04D5B3DEAD5B}" srcOrd="1" destOrd="0" presId="urn:microsoft.com/office/officeart/2005/8/layout/hierarchy1"/>
    <dgm:cxn modelId="{E0CBD86B-3697-4BFB-BA20-9613A87B2673}" type="presParOf" srcId="{2A671EB2-6935-4D15-A646-ADA865F65F2C}" destId="{D9AD1DB5-FEF2-4270-A2BE-31769B838477}" srcOrd="1" destOrd="0" presId="urn:microsoft.com/office/officeart/2005/8/layout/hierarchy1"/>
    <dgm:cxn modelId="{90157E42-0D7A-4398-A330-49276579E300}" type="presParOf" srcId="{D9AD1DB5-FEF2-4270-A2BE-31769B838477}" destId="{0686266B-E531-4F6D-B576-54077CE5D92C}" srcOrd="0" destOrd="0" presId="urn:microsoft.com/office/officeart/2005/8/layout/hierarchy1"/>
    <dgm:cxn modelId="{0752B647-A3B6-4128-ABD2-E27C9A2C69A1}" type="presParOf" srcId="{0686266B-E531-4F6D-B576-54077CE5D92C}" destId="{08169B55-6E7E-4401-B1D8-5448EAC69998}" srcOrd="0" destOrd="0" presId="urn:microsoft.com/office/officeart/2005/8/layout/hierarchy1"/>
    <dgm:cxn modelId="{C6D77447-DE91-4A71-91C1-7204C010FF07}" type="presParOf" srcId="{0686266B-E531-4F6D-B576-54077CE5D92C}" destId="{3E655505-59D0-4406-BB46-6DF3037946F8}" srcOrd="1" destOrd="0" presId="urn:microsoft.com/office/officeart/2005/8/layout/hierarchy1"/>
    <dgm:cxn modelId="{6C11E646-A790-446B-AC9C-026F8FA167A2}" type="presParOf" srcId="{D9AD1DB5-FEF2-4270-A2BE-31769B838477}" destId="{08C6D898-B309-4CAC-93C6-0DC8854C1F3F}" srcOrd="1" destOrd="0" presId="urn:microsoft.com/office/officeart/2005/8/layout/hierarchy1"/>
    <dgm:cxn modelId="{FCE6B8A8-055D-4F33-86B6-53FD5ABEF748}" type="presParOf" srcId="{2A671EB2-6935-4D15-A646-ADA865F65F2C}" destId="{DB3A8D8A-24AC-4625-AF7F-9F7146585810}" srcOrd="2" destOrd="0" presId="urn:microsoft.com/office/officeart/2005/8/layout/hierarchy1"/>
    <dgm:cxn modelId="{2AFE7BB1-A473-49DB-891C-F638963B277C}" type="presParOf" srcId="{DB3A8D8A-24AC-4625-AF7F-9F7146585810}" destId="{190C570A-E656-4CCA-A23D-C10D23C6C2AB}" srcOrd="0" destOrd="0" presId="urn:microsoft.com/office/officeart/2005/8/layout/hierarchy1"/>
    <dgm:cxn modelId="{A5C6303D-0A50-4539-99AB-55DC43BEA603}" type="presParOf" srcId="{190C570A-E656-4CCA-A23D-C10D23C6C2AB}" destId="{2FD64EAF-E10A-4026-8B61-7E9943C28370}" srcOrd="0" destOrd="0" presId="urn:microsoft.com/office/officeart/2005/8/layout/hierarchy1"/>
    <dgm:cxn modelId="{E7824B74-3771-44A1-8B85-5A98A69C78BA}" type="presParOf" srcId="{190C570A-E656-4CCA-A23D-C10D23C6C2AB}" destId="{4B22FF64-7F08-43BC-A7CA-4DE9276153EB}" srcOrd="1" destOrd="0" presId="urn:microsoft.com/office/officeart/2005/8/layout/hierarchy1"/>
    <dgm:cxn modelId="{A988DDE7-DDA7-415F-9D11-33A7436E2762}" type="presParOf" srcId="{DB3A8D8A-24AC-4625-AF7F-9F7146585810}" destId="{632AEE52-A7B6-4E1E-AAC4-414682416E5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892285A3-773B-4B84-9732-CA2A3292423E}" type="doc">
      <dgm:prSet loTypeId="urn:microsoft.com/office/officeart/2005/8/layout/bProcess2" loCatId="process" qsTypeId="urn:microsoft.com/office/officeart/2005/8/quickstyle/simple1" qsCatId="simple" csTypeId="urn:microsoft.com/office/officeart/2005/8/colors/colorful1" csCatId="colorful"/>
      <dgm:spPr/>
      <dgm:t>
        <a:bodyPr/>
        <a:lstStyle/>
        <a:p>
          <a:endParaRPr lang="en-US"/>
        </a:p>
      </dgm:t>
    </dgm:pt>
    <dgm:pt modelId="{40384A81-0A1F-425F-BDC3-7F118EEAA957}">
      <dgm:prSet/>
      <dgm:spPr/>
      <dgm:t>
        <a:bodyPr/>
        <a:lstStyle/>
        <a:p>
          <a:r>
            <a:rPr lang="en-US"/>
            <a:t>Initial configuration of the Oracle environment to handle Multi-Currency Transactions by verifying the activation of the target foreign currencies.</a:t>
          </a:r>
        </a:p>
      </dgm:t>
    </dgm:pt>
    <dgm:pt modelId="{179AB76E-BDCA-479D-BE7F-82DD6E5CF8A7}" type="parTrans" cxnId="{04974FBC-7823-4A61-B1A9-418A6E71D761}">
      <dgm:prSet/>
      <dgm:spPr/>
      <dgm:t>
        <a:bodyPr/>
        <a:lstStyle/>
        <a:p>
          <a:endParaRPr lang="en-US"/>
        </a:p>
      </dgm:t>
    </dgm:pt>
    <dgm:pt modelId="{34C00858-DD7C-4550-83F0-7AFA05098F20}" type="sibTrans" cxnId="{04974FBC-7823-4A61-B1A9-418A6E71D761}">
      <dgm:prSet/>
      <dgm:spPr/>
      <dgm:t>
        <a:bodyPr/>
        <a:lstStyle/>
        <a:p>
          <a:endParaRPr lang="en-US"/>
        </a:p>
      </dgm:t>
    </dgm:pt>
    <dgm:pt modelId="{209EACB0-0FFA-4000-A568-EEAC3687BF37}">
      <dgm:prSet/>
      <dgm:spPr/>
      <dgm:t>
        <a:bodyPr/>
        <a:lstStyle/>
        <a:p>
          <a:r>
            <a:rPr lang="en-US"/>
            <a:t>• As a primary and essential step for processing foreign currencies, navigate to the Setup and Maintenance screen from the user's main menu.</a:t>
          </a:r>
        </a:p>
      </dgm:t>
    </dgm:pt>
    <dgm:pt modelId="{3E6E3BED-5B4C-47F8-B377-959EC663065B}" type="parTrans" cxnId="{430C0C16-BB29-4DB3-84AA-31208D8F6CCC}">
      <dgm:prSet/>
      <dgm:spPr/>
      <dgm:t>
        <a:bodyPr/>
        <a:lstStyle/>
        <a:p>
          <a:endParaRPr lang="en-US"/>
        </a:p>
      </dgm:t>
    </dgm:pt>
    <dgm:pt modelId="{E54C935A-4ACF-4B1B-9835-51F563259F62}" type="sibTrans" cxnId="{430C0C16-BB29-4DB3-84AA-31208D8F6CCC}">
      <dgm:prSet/>
      <dgm:spPr/>
      <dgm:t>
        <a:bodyPr/>
        <a:lstStyle/>
        <a:p>
          <a:endParaRPr lang="en-US"/>
        </a:p>
      </dgm:t>
    </dgm:pt>
    <dgm:pt modelId="{1CAEC9C7-535B-49E1-87FE-BDA0450D612D}" type="pres">
      <dgm:prSet presAssocID="{892285A3-773B-4B84-9732-CA2A3292423E}" presName="diagram" presStyleCnt="0">
        <dgm:presLayoutVars>
          <dgm:dir/>
          <dgm:resizeHandles/>
        </dgm:presLayoutVars>
      </dgm:prSet>
      <dgm:spPr/>
    </dgm:pt>
    <dgm:pt modelId="{1EDB9D57-8DF2-44EF-BF50-81A14EEF4884}" type="pres">
      <dgm:prSet presAssocID="{40384A81-0A1F-425F-BDC3-7F118EEAA957}" presName="firstNode" presStyleLbl="node1" presStyleIdx="0" presStyleCnt="2">
        <dgm:presLayoutVars>
          <dgm:bulletEnabled val="1"/>
        </dgm:presLayoutVars>
      </dgm:prSet>
      <dgm:spPr/>
    </dgm:pt>
    <dgm:pt modelId="{124260FF-1F9F-4BE1-B5FE-8EC2042729C0}" type="pres">
      <dgm:prSet presAssocID="{34C00858-DD7C-4550-83F0-7AFA05098F20}" presName="sibTrans" presStyleLbl="sibTrans2D1" presStyleIdx="0" presStyleCnt="1"/>
      <dgm:spPr/>
    </dgm:pt>
    <dgm:pt modelId="{30E5B9A0-7F1B-4B35-9FD1-506A5156AA89}" type="pres">
      <dgm:prSet presAssocID="{209EACB0-0FFA-4000-A568-EEAC3687BF37}" presName="lastNode" presStyleLbl="node1" presStyleIdx="1" presStyleCnt="2">
        <dgm:presLayoutVars>
          <dgm:bulletEnabled val="1"/>
        </dgm:presLayoutVars>
      </dgm:prSet>
      <dgm:spPr/>
    </dgm:pt>
  </dgm:ptLst>
  <dgm:cxnLst>
    <dgm:cxn modelId="{430C0C16-BB29-4DB3-84AA-31208D8F6CCC}" srcId="{892285A3-773B-4B84-9732-CA2A3292423E}" destId="{209EACB0-0FFA-4000-A568-EEAC3687BF37}" srcOrd="1" destOrd="0" parTransId="{3E6E3BED-5B4C-47F8-B377-959EC663065B}" sibTransId="{E54C935A-4ACF-4B1B-9835-51F563259F62}"/>
    <dgm:cxn modelId="{79BCEA3D-0228-40D9-95C9-5B4EBA8E689A}" type="presOf" srcId="{40384A81-0A1F-425F-BDC3-7F118EEAA957}" destId="{1EDB9D57-8DF2-44EF-BF50-81A14EEF4884}" srcOrd="0" destOrd="0" presId="urn:microsoft.com/office/officeart/2005/8/layout/bProcess2"/>
    <dgm:cxn modelId="{04974FBC-7823-4A61-B1A9-418A6E71D761}" srcId="{892285A3-773B-4B84-9732-CA2A3292423E}" destId="{40384A81-0A1F-425F-BDC3-7F118EEAA957}" srcOrd="0" destOrd="0" parTransId="{179AB76E-BDCA-479D-BE7F-82DD6E5CF8A7}" sibTransId="{34C00858-DD7C-4550-83F0-7AFA05098F20}"/>
    <dgm:cxn modelId="{41D3DBCA-E90C-495E-A5DE-3A85FD4F4A06}" type="presOf" srcId="{34C00858-DD7C-4550-83F0-7AFA05098F20}" destId="{124260FF-1F9F-4BE1-B5FE-8EC2042729C0}" srcOrd="0" destOrd="0" presId="urn:microsoft.com/office/officeart/2005/8/layout/bProcess2"/>
    <dgm:cxn modelId="{9034DED8-7A80-4735-9CFE-82F4BA12E00F}" type="presOf" srcId="{209EACB0-0FFA-4000-A568-EEAC3687BF37}" destId="{30E5B9A0-7F1B-4B35-9FD1-506A5156AA89}" srcOrd="0" destOrd="0" presId="urn:microsoft.com/office/officeart/2005/8/layout/bProcess2"/>
    <dgm:cxn modelId="{F6EFA6F5-29E2-47E6-9ACB-27C0989B5DEE}" type="presOf" srcId="{892285A3-773B-4B84-9732-CA2A3292423E}" destId="{1CAEC9C7-535B-49E1-87FE-BDA0450D612D}" srcOrd="0" destOrd="0" presId="urn:microsoft.com/office/officeart/2005/8/layout/bProcess2"/>
    <dgm:cxn modelId="{441954D4-4B64-4A77-AA1F-6ACE1AB3DA6A}" type="presParOf" srcId="{1CAEC9C7-535B-49E1-87FE-BDA0450D612D}" destId="{1EDB9D57-8DF2-44EF-BF50-81A14EEF4884}" srcOrd="0" destOrd="0" presId="urn:microsoft.com/office/officeart/2005/8/layout/bProcess2"/>
    <dgm:cxn modelId="{92DA7522-00C6-4D51-ABF1-75A67C52BC34}" type="presParOf" srcId="{1CAEC9C7-535B-49E1-87FE-BDA0450D612D}" destId="{124260FF-1F9F-4BE1-B5FE-8EC2042729C0}" srcOrd="1" destOrd="0" presId="urn:microsoft.com/office/officeart/2005/8/layout/bProcess2"/>
    <dgm:cxn modelId="{FC9A6BF7-3C60-410E-B8F4-44138AC30C55}" type="presParOf" srcId="{1CAEC9C7-535B-49E1-87FE-BDA0450D612D}" destId="{30E5B9A0-7F1B-4B35-9FD1-506A5156AA89}" srcOrd="2" destOrd="0" presId="urn:microsoft.com/office/officeart/2005/8/layout/b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08150CE5-0419-4614-BAA5-B55E55F8500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DD7CA19-3280-45B2-AE0C-9621879C66AD}">
      <dgm:prSet/>
      <dgm:spPr/>
      <dgm:t>
        <a:bodyPr/>
        <a:lstStyle/>
        <a:p>
          <a:r>
            <a:rPr lang="en-US"/>
            <a:t>Activating the currency is an essential prerequisite prior to defining Daily Rates or entering Journals, as the system strictly prohibits accepting any financial transaction in an inactive currency. </a:t>
          </a:r>
        </a:p>
      </dgm:t>
    </dgm:pt>
    <dgm:pt modelId="{FE78FB05-FAD1-4495-A50A-C9F7FF5D6143}" type="parTrans" cxnId="{6755919C-61E2-4D84-B8F6-E26A7228905E}">
      <dgm:prSet/>
      <dgm:spPr/>
      <dgm:t>
        <a:bodyPr/>
        <a:lstStyle/>
        <a:p>
          <a:endParaRPr lang="en-US"/>
        </a:p>
      </dgm:t>
    </dgm:pt>
    <dgm:pt modelId="{367F480C-2B2B-4F74-A5FA-298ECA3D26BD}" type="sibTrans" cxnId="{6755919C-61E2-4D84-B8F6-E26A7228905E}">
      <dgm:prSet/>
      <dgm:spPr/>
      <dgm:t>
        <a:bodyPr/>
        <a:lstStyle/>
        <a:p>
          <a:endParaRPr lang="en-US"/>
        </a:p>
      </dgm:t>
    </dgm:pt>
    <dgm:pt modelId="{8C75E557-849D-4023-BD76-385C07C0F9B9}">
      <dgm:prSet/>
      <dgm:spPr/>
      <dgm:t>
        <a:bodyPr/>
        <a:lstStyle/>
        <a:p>
          <a:r>
            <a:rPr lang="en-US"/>
            <a:t>It is also advisable to review the Start Date and End Date fields available on the same screen, to ensure the currency is valid for use within open accounting periods, thereby avoiding any future errors during period close.</a:t>
          </a:r>
          <a:br>
            <a:rPr lang="en-US"/>
          </a:br>
          <a:endParaRPr lang="en-US"/>
        </a:p>
      </dgm:t>
    </dgm:pt>
    <dgm:pt modelId="{83271433-E72F-4E6E-9E09-1ADBF4867CEB}" type="parTrans" cxnId="{11F72C3D-805D-40E5-BB40-D49E344A7FB1}">
      <dgm:prSet/>
      <dgm:spPr/>
      <dgm:t>
        <a:bodyPr/>
        <a:lstStyle/>
        <a:p>
          <a:endParaRPr lang="en-US"/>
        </a:p>
      </dgm:t>
    </dgm:pt>
    <dgm:pt modelId="{7FA0BD00-C0D7-47B3-BC35-6C1EFA5BDF57}" type="sibTrans" cxnId="{11F72C3D-805D-40E5-BB40-D49E344A7FB1}">
      <dgm:prSet/>
      <dgm:spPr/>
      <dgm:t>
        <a:bodyPr/>
        <a:lstStyle/>
        <a:p>
          <a:endParaRPr lang="en-US"/>
        </a:p>
      </dgm:t>
    </dgm:pt>
    <dgm:pt modelId="{314431D0-864C-41DC-B3AC-774A8A313F9D}" type="pres">
      <dgm:prSet presAssocID="{08150CE5-0419-4614-BAA5-B55E55F85009}" presName="linear" presStyleCnt="0">
        <dgm:presLayoutVars>
          <dgm:animLvl val="lvl"/>
          <dgm:resizeHandles val="exact"/>
        </dgm:presLayoutVars>
      </dgm:prSet>
      <dgm:spPr/>
    </dgm:pt>
    <dgm:pt modelId="{2F78E248-4E2C-45F6-9114-21460340B395}" type="pres">
      <dgm:prSet presAssocID="{ADD7CA19-3280-45B2-AE0C-9621879C66AD}" presName="parentText" presStyleLbl="node1" presStyleIdx="0" presStyleCnt="2">
        <dgm:presLayoutVars>
          <dgm:chMax val="0"/>
          <dgm:bulletEnabled val="1"/>
        </dgm:presLayoutVars>
      </dgm:prSet>
      <dgm:spPr/>
    </dgm:pt>
    <dgm:pt modelId="{4AC07376-24A7-4786-A2A2-9D6EC8C4C44F}" type="pres">
      <dgm:prSet presAssocID="{367F480C-2B2B-4F74-A5FA-298ECA3D26BD}" presName="spacer" presStyleCnt="0"/>
      <dgm:spPr/>
    </dgm:pt>
    <dgm:pt modelId="{60147014-8D33-4697-895D-AD20EB0986E3}" type="pres">
      <dgm:prSet presAssocID="{8C75E557-849D-4023-BD76-385C07C0F9B9}" presName="parentText" presStyleLbl="node1" presStyleIdx="1" presStyleCnt="2">
        <dgm:presLayoutVars>
          <dgm:chMax val="0"/>
          <dgm:bulletEnabled val="1"/>
        </dgm:presLayoutVars>
      </dgm:prSet>
      <dgm:spPr/>
    </dgm:pt>
  </dgm:ptLst>
  <dgm:cxnLst>
    <dgm:cxn modelId="{B5DB9B1A-9A2B-47C7-89F8-15D4064FDBDA}" type="presOf" srcId="{08150CE5-0419-4614-BAA5-B55E55F85009}" destId="{314431D0-864C-41DC-B3AC-774A8A313F9D}" srcOrd="0" destOrd="0" presId="urn:microsoft.com/office/officeart/2005/8/layout/vList2"/>
    <dgm:cxn modelId="{11F72C3D-805D-40E5-BB40-D49E344A7FB1}" srcId="{08150CE5-0419-4614-BAA5-B55E55F85009}" destId="{8C75E557-849D-4023-BD76-385C07C0F9B9}" srcOrd="1" destOrd="0" parTransId="{83271433-E72F-4E6E-9E09-1ADBF4867CEB}" sibTransId="{7FA0BD00-C0D7-47B3-BC35-6C1EFA5BDF57}"/>
    <dgm:cxn modelId="{1F404296-A064-494B-AF95-B45BCF6F2D4B}" type="presOf" srcId="{8C75E557-849D-4023-BD76-385C07C0F9B9}" destId="{60147014-8D33-4697-895D-AD20EB0986E3}" srcOrd="0" destOrd="0" presId="urn:microsoft.com/office/officeart/2005/8/layout/vList2"/>
    <dgm:cxn modelId="{6755919C-61E2-4D84-B8F6-E26A7228905E}" srcId="{08150CE5-0419-4614-BAA5-B55E55F85009}" destId="{ADD7CA19-3280-45B2-AE0C-9621879C66AD}" srcOrd="0" destOrd="0" parTransId="{FE78FB05-FAD1-4495-A50A-C9F7FF5D6143}" sibTransId="{367F480C-2B2B-4F74-A5FA-298ECA3D26BD}"/>
    <dgm:cxn modelId="{AE8D04AB-558B-4202-9B9F-9C54F4F06420}" type="presOf" srcId="{ADD7CA19-3280-45B2-AE0C-9621879C66AD}" destId="{2F78E248-4E2C-45F6-9114-21460340B395}" srcOrd="0" destOrd="0" presId="urn:microsoft.com/office/officeart/2005/8/layout/vList2"/>
    <dgm:cxn modelId="{700371F3-C1AB-4002-9A1B-2FB0181CBF69}" type="presParOf" srcId="{314431D0-864C-41DC-B3AC-774A8A313F9D}" destId="{2F78E248-4E2C-45F6-9114-21460340B395}" srcOrd="0" destOrd="0" presId="urn:microsoft.com/office/officeart/2005/8/layout/vList2"/>
    <dgm:cxn modelId="{7778CBE6-1925-44D7-AEB7-E55039BDE845}" type="presParOf" srcId="{314431D0-864C-41DC-B3AC-774A8A313F9D}" destId="{4AC07376-24A7-4786-A2A2-9D6EC8C4C44F}" srcOrd="1" destOrd="0" presId="urn:microsoft.com/office/officeart/2005/8/layout/vList2"/>
    <dgm:cxn modelId="{5ECCCB83-49C3-4659-80B2-4E1E87ACD348}" type="presParOf" srcId="{314431D0-864C-41DC-B3AC-774A8A313F9D}" destId="{60147014-8D33-4697-895D-AD20EB0986E3}"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7CF37692-0675-469A-8BF4-5921990E347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C47AFF3-E614-4005-998F-4F7BCDF424BD}">
      <dgm:prSet/>
      <dgm:spPr/>
      <dgm:t>
        <a:bodyPr/>
        <a:lstStyle/>
        <a:p>
          <a:r>
            <a:rPr lang="en-US"/>
            <a:t>Creating and classifying Conversion Rate Types and designating a Default type to organize multi-currency transactions, thereby facilitating and accelerating Journal entries through the automatic retrieval of this type.</a:t>
          </a:r>
        </a:p>
      </dgm:t>
    </dgm:pt>
    <dgm:pt modelId="{032EAEFF-0730-4047-8F9D-89ABC120C331}" type="parTrans" cxnId="{22433BBE-AB63-4644-ACA8-6F36BEA3D33C}">
      <dgm:prSet/>
      <dgm:spPr/>
      <dgm:t>
        <a:bodyPr/>
        <a:lstStyle/>
        <a:p>
          <a:endParaRPr lang="en-US"/>
        </a:p>
      </dgm:t>
    </dgm:pt>
    <dgm:pt modelId="{A1A288ED-9BED-4D08-976E-13F91C7398CD}" type="sibTrans" cxnId="{22433BBE-AB63-4644-ACA8-6F36BEA3D33C}">
      <dgm:prSet/>
      <dgm:spPr/>
      <dgm:t>
        <a:bodyPr/>
        <a:lstStyle/>
        <a:p>
          <a:endParaRPr lang="en-US"/>
        </a:p>
      </dgm:t>
    </dgm:pt>
    <dgm:pt modelId="{433FF4AF-2D3C-4469-9D2D-85873C3A8F87}">
      <dgm:prSet/>
      <dgm:spPr/>
      <dgm:t>
        <a:bodyPr/>
        <a:lstStyle/>
        <a:p>
          <a:r>
            <a:rPr lang="en-US"/>
            <a:t>Within the Financial Reporting Structures menu, select the Manage Conversion Rate Types task</a:t>
          </a:r>
        </a:p>
      </dgm:t>
    </dgm:pt>
    <dgm:pt modelId="{D48FAB0F-7B81-421E-990A-EA6AC74C4210}" type="parTrans" cxnId="{8BC61397-D330-4AC9-AC22-84EB918B6D69}">
      <dgm:prSet/>
      <dgm:spPr/>
      <dgm:t>
        <a:bodyPr/>
        <a:lstStyle/>
        <a:p>
          <a:endParaRPr lang="en-US"/>
        </a:p>
      </dgm:t>
    </dgm:pt>
    <dgm:pt modelId="{58C09003-6AAE-4912-BDD7-70BBD23738A7}" type="sibTrans" cxnId="{8BC61397-D330-4AC9-AC22-84EB918B6D69}">
      <dgm:prSet/>
      <dgm:spPr/>
      <dgm:t>
        <a:bodyPr/>
        <a:lstStyle/>
        <a:p>
          <a:endParaRPr lang="en-US"/>
        </a:p>
      </dgm:t>
    </dgm:pt>
    <dgm:pt modelId="{5883AAB8-0602-4B76-896B-0057BA34F255}" type="pres">
      <dgm:prSet presAssocID="{7CF37692-0675-469A-8BF4-5921990E3473}" presName="root" presStyleCnt="0">
        <dgm:presLayoutVars>
          <dgm:dir/>
          <dgm:resizeHandles val="exact"/>
        </dgm:presLayoutVars>
      </dgm:prSet>
      <dgm:spPr/>
    </dgm:pt>
    <dgm:pt modelId="{97210998-2BB4-4953-98F7-B3E5538ABC8F}" type="pres">
      <dgm:prSet presAssocID="{7C47AFF3-E614-4005-998F-4F7BCDF424BD}" presName="compNode" presStyleCnt="0"/>
      <dgm:spPr/>
    </dgm:pt>
    <dgm:pt modelId="{40BEFBF8-8332-4F93-B32F-683F248DCC98}" type="pres">
      <dgm:prSet presAssocID="{7C47AFF3-E614-4005-998F-4F7BCDF424BD}" presName="bgRect" presStyleLbl="bgShp" presStyleIdx="0" presStyleCnt="2"/>
      <dgm:spPr/>
    </dgm:pt>
    <dgm:pt modelId="{192DA5AA-9DAD-4A79-BDA5-4B6BF705CEA1}" type="pres">
      <dgm:prSet presAssocID="{7C47AFF3-E614-4005-998F-4F7BCDF424BD}"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Ruble"/>
        </a:ext>
      </dgm:extLst>
    </dgm:pt>
    <dgm:pt modelId="{C487CBA6-A8C4-45FA-B310-1D7F716EDB03}" type="pres">
      <dgm:prSet presAssocID="{7C47AFF3-E614-4005-998F-4F7BCDF424BD}" presName="spaceRect" presStyleCnt="0"/>
      <dgm:spPr/>
    </dgm:pt>
    <dgm:pt modelId="{D4EE1171-D4BF-4FC7-8BFD-D76FF4AE59D4}" type="pres">
      <dgm:prSet presAssocID="{7C47AFF3-E614-4005-998F-4F7BCDF424BD}" presName="parTx" presStyleLbl="revTx" presStyleIdx="0" presStyleCnt="2">
        <dgm:presLayoutVars>
          <dgm:chMax val="0"/>
          <dgm:chPref val="0"/>
        </dgm:presLayoutVars>
      </dgm:prSet>
      <dgm:spPr/>
    </dgm:pt>
    <dgm:pt modelId="{8DFA2DFD-149F-435A-9F12-45B6C3B68D0C}" type="pres">
      <dgm:prSet presAssocID="{A1A288ED-9BED-4D08-976E-13F91C7398CD}" presName="sibTrans" presStyleCnt="0"/>
      <dgm:spPr/>
    </dgm:pt>
    <dgm:pt modelId="{1AFF90FE-3409-4F2A-9C7A-E0AE487BB1BE}" type="pres">
      <dgm:prSet presAssocID="{433FF4AF-2D3C-4469-9D2D-85873C3A8F87}" presName="compNode" presStyleCnt="0"/>
      <dgm:spPr/>
    </dgm:pt>
    <dgm:pt modelId="{802C45EE-386C-4075-A1E1-21063FDD87D8}" type="pres">
      <dgm:prSet presAssocID="{433FF4AF-2D3C-4469-9D2D-85873C3A8F87}" presName="bgRect" presStyleLbl="bgShp" presStyleIdx="1" presStyleCnt="2"/>
      <dgm:spPr/>
    </dgm:pt>
    <dgm:pt modelId="{6E4790BC-81E8-44DD-B523-6B2BCF074A49}" type="pres">
      <dgm:prSet presAssocID="{433FF4AF-2D3C-4469-9D2D-85873C3A8F87}"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E9E11580-BD32-4E68-B64B-3139BEC5B1D6}" type="pres">
      <dgm:prSet presAssocID="{433FF4AF-2D3C-4469-9D2D-85873C3A8F87}" presName="spaceRect" presStyleCnt="0"/>
      <dgm:spPr/>
    </dgm:pt>
    <dgm:pt modelId="{2CF3CE0B-4827-47DE-8C14-3F71E65E5276}" type="pres">
      <dgm:prSet presAssocID="{433FF4AF-2D3C-4469-9D2D-85873C3A8F87}" presName="parTx" presStyleLbl="revTx" presStyleIdx="1" presStyleCnt="2">
        <dgm:presLayoutVars>
          <dgm:chMax val="0"/>
          <dgm:chPref val="0"/>
        </dgm:presLayoutVars>
      </dgm:prSet>
      <dgm:spPr/>
    </dgm:pt>
  </dgm:ptLst>
  <dgm:cxnLst>
    <dgm:cxn modelId="{6772A356-1E87-4D90-8E93-1689EDEC7C7D}" type="presOf" srcId="{7C47AFF3-E614-4005-998F-4F7BCDF424BD}" destId="{D4EE1171-D4BF-4FC7-8BFD-D76FF4AE59D4}" srcOrd="0" destOrd="0" presId="urn:microsoft.com/office/officeart/2018/2/layout/IconVerticalSolidList"/>
    <dgm:cxn modelId="{8BC61397-D330-4AC9-AC22-84EB918B6D69}" srcId="{7CF37692-0675-469A-8BF4-5921990E3473}" destId="{433FF4AF-2D3C-4469-9D2D-85873C3A8F87}" srcOrd="1" destOrd="0" parTransId="{D48FAB0F-7B81-421E-990A-EA6AC74C4210}" sibTransId="{58C09003-6AAE-4912-BDD7-70BBD23738A7}"/>
    <dgm:cxn modelId="{75D247AD-302D-4E87-B516-BA9DB3381623}" type="presOf" srcId="{7CF37692-0675-469A-8BF4-5921990E3473}" destId="{5883AAB8-0602-4B76-896B-0057BA34F255}" srcOrd="0" destOrd="0" presId="urn:microsoft.com/office/officeart/2018/2/layout/IconVerticalSolidList"/>
    <dgm:cxn modelId="{22433BBE-AB63-4644-ACA8-6F36BEA3D33C}" srcId="{7CF37692-0675-469A-8BF4-5921990E3473}" destId="{7C47AFF3-E614-4005-998F-4F7BCDF424BD}" srcOrd="0" destOrd="0" parTransId="{032EAEFF-0730-4047-8F9D-89ABC120C331}" sibTransId="{A1A288ED-9BED-4D08-976E-13F91C7398CD}"/>
    <dgm:cxn modelId="{EDF0FCD0-697A-43F9-BA47-2EAF2FC00306}" type="presOf" srcId="{433FF4AF-2D3C-4469-9D2D-85873C3A8F87}" destId="{2CF3CE0B-4827-47DE-8C14-3F71E65E5276}" srcOrd="0" destOrd="0" presId="urn:microsoft.com/office/officeart/2018/2/layout/IconVerticalSolidList"/>
    <dgm:cxn modelId="{35F6580B-0844-4BB2-A2AA-606EEF4BE4FB}" type="presParOf" srcId="{5883AAB8-0602-4B76-896B-0057BA34F255}" destId="{97210998-2BB4-4953-98F7-B3E5538ABC8F}" srcOrd="0" destOrd="0" presId="urn:microsoft.com/office/officeart/2018/2/layout/IconVerticalSolidList"/>
    <dgm:cxn modelId="{FF6AE619-5E49-4E29-A783-D5C76D985BCC}" type="presParOf" srcId="{97210998-2BB4-4953-98F7-B3E5538ABC8F}" destId="{40BEFBF8-8332-4F93-B32F-683F248DCC98}" srcOrd="0" destOrd="0" presId="urn:microsoft.com/office/officeart/2018/2/layout/IconVerticalSolidList"/>
    <dgm:cxn modelId="{E98E594C-76DB-4FE7-9C88-CDA8843170A0}" type="presParOf" srcId="{97210998-2BB4-4953-98F7-B3E5538ABC8F}" destId="{192DA5AA-9DAD-4A79-BDA5-4B6BF705CEA1}" srcOrd="1" destOrd="0" presId="urn:microsoft.com/office/officeart/2018/2/layout/IconVerticalSolidList"/>
    <dgm:cxn modelId="{19040F55-A7AF-49E3-A7EE-8EA3C21B02CE}" type="presParOf" srcId="{97210998-2BB4-4953-98F7-B3E5538ABC8F}" destId="{C487CBA6-A8C4-45FA-B310-1D7F716EDB03}" srcOrd="2" destOrd="0" presId="urn:microsoft.com/office/officeart/2018/2/layout/IconVerticalSolidList"/>
    <dgm:cxn modelId="{E20A3B85-00F6-4D05-AE3D-54709965C571}" type="presParOf" srcId="{97210998-2BB4-4953-98F7-B3E5538ABC8F}" destId="{D4EE1171-D4BF-4FC7-8BFD-D76FF4AE59D4}" srcOrd="3" destOrd="0" presId="urn:microsoft.com/office/officeart/2018/2/layout/IconVerticalSolidList"/>
    <dgm:cxn modelId="{0EEF64A1-A57B-4EFA-8DE4-5B0269D10DE0}" type="presParOf" srcId="{5883AAB8-0602-4B76-896B-0057BA34F255}" destId="{8DFA2DFD-149F-435A-9F12-45B6C3B68D0C}" srcOrd="1" destOrd="0" presId="urn:microsoft.com/office/officeart/2018/2/layout/IconVerticalSolidList"/>
    <dgm:cxn modelId="{69494E39-B514-4EC9-9D9B-91912CAB1889}" type="presParOf" srcId="{5883AAB8-0602-4B76-896B-0057BA34F255}" destId="{1AFF90FE-3409-4F2A-9C7A-E0AE487BB1BE}" srcOrd="2" destOrd="0" presId="urn:microsoft.com/office/officeart/2018/2/layout/IconVerticalSolidList"/>
    <dgm:cxn modelId="{D4858ACD-42CC-4FEC-A43F-43AA9316157B}" type="presParOf" srcId="{1AFF90FE-3409-4F2A-9C7A-E0AE487BB1BE}" destId="{802C45EE-386C-4075-A1E1-21063FDD87D8}" srcOrd="0" destOrd="0" presId="urn:microsoft.com/office/officeart/2018/2/layout/IconVerticalSolidList"/>
    <dgm:cxn modelId="{288007EE-AFBB-4C8C-80E0-F9B2FB28B0B4}" type="presParOf" srcId="{1AFF90FE-3409-4F2A-9C7A-E0AE487BB1BE}" destId="{6E4790BC-81E8-44DD-B523-6B2BCF074A49}" srcOrd="1" destOrd="0" presId="urn:microsoft.com/office/officeart/2018/2/layout/IconVerticalSolidList"/>
    <dgm:cxn modelId="{35ABE028-F256-42F5-B5EB-249E5A5D1E9A}" type="presParOf" srcId="{1AFF90FE-3409-4F2A-9C7A-E0AE487BB1BE}" destId="{E9E11580-BD32-4E68-B64B-3139BEC5B1D6}" srcOrd="2" destOrd="0" presId="urn:microsoft.com/office/officeart/2018/2/layout/IconVerticalSolidList"/>
    <dgm:cxn modelId="{158407B7-7FFF-45EF-AA7B-DB6BC1B5158A}" type="presParOf" srcId="{1AFF90FE-3409-4F2A-9C7A-E0AE487BB1BE}" destId="{2CF3CE0B-4827-47DE-8C14-3F71E65E527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2C6497DA-CEE4-43BE-997C-33905F083856}"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399ED81D-1022-44BA-A6E9-DADEFF8E1531}">
      <dgm:prSet/>
      <dgm:spPr/>
      <dgm:t>
        <a:bodyPr/>
        <a:lstStyle/>
        <a:p>
          <a:r>
            <a:rPr lang="en-US" b="1"/>
            <a:t>Designating the Default Rate Type is considered a best practice to mitigate human errors, as the system will automatically suggest this type to users when entering Journals or Payables and Receivables invoices. </a:t>
          </a:r>
          <a:endParaRPr lang="en-US"/>
        </a:p>
      </dgm:t>
    </dgm:pt>
    <dgm:pt modelId="{AC784A88-A38F-4387-B12C-3A570E30A793}" type="parTrans" cxnId="{9ED4E8C8-732C-4EDA-AF5D-9C7321466E3A}">
      <dgm:prSet/>
      <dgm:spPr/>
      <dgm:t>
        <a:bodyPr/>
        <a:lstStyle/>
        <a:p>
          <a:endParaRPr lang="en-US"/>
        </a:p>
      </dgm:t>
    </dgm:pt>
    <dgm:pt modelId="{8EE24346-57FC-42D3-9B96-8588F9F9F38E}" type="sibTrans" cxnId="{9ED4E8C8-732C-4EDA-AF5D-9C7321466E3A}">
      <dgm:prSet/>
      <dgm:spPr/>
      <dgm:t>
        <a:bodyPr/>
        <a:lstStyle/>
        <a:p>
          <a:endParaRPr lang="en-US"/>
        </a:p>
      </dgm:t>
    </dgm:pt>
    <dgm:pt modelId="{33838559-AA02-45CE-8358-4542A78EA6AF}">
      <dgm:prSet/>
      <dgm:spPr/>
      <dgm:t>
        <a:bodyPr/>
        <a:lstStyle/>
        <a:p>
          <a:r>
            <a:rPr lang="en-US" b="1"/>
            <a:t>Selecting the Enforce Inverse Relationship option ensures that the system calculates the inverse exchange rate automatically and with mathematical precision. For instance, if the USD to SAR conversion rate is entered, the system will automatically calculate and store the SAR to USD conversion rate.</a:t>
          </a:r>
          <a:endParaRPr lang="en-US"/>
        </a:p>
      </dgm:t>
    </dgm:pt>
    <dgm:pt modelId="{B4158DFA-57EF-42F1-8AE2-2AB9C93F24C6}" type="parTrans" cxnId="{0E7D8355-8F22-4AB4-95A2-D2B1DCD1E557}">
      <dgm:prSet/>
      <dgm:spPr/>
      <dgm:t>
        <a:bodyPr/>
        <a:lstStyle/>
        <a:p>
          <a:endParaRPr lang="en-US"/>
        </a:p>
      </dgm:t>
    </dgm:pt>
    <dgm:pt modelId="{FDB77443-306D-42C0-AD2B-C9DA6B397A94}" type="sibTrans" cxnId="{0E7D8355-8F22-4AB4-95A2-D2B1DCD1E557}">
      <dgm:prSet/>
      <dgm:spPr/>
      <dgm:t>
        <a:bodyPr/>
        <a:lstStyle/>
        <a:p>
          <a:endParaRPr lang="en-US"/>
        </a:p>
      </dgm:t>
    </dgm:pt>
    <dgm:pt modelId="{8C8EE42A-A281-427F-934E-4C61610626D0}" type="pres">
      <dgm:prSet presAssocID="{2C6497DA-CEE4-43BE-997C-33905F083856}" presName="hierChild1" presStyleCnt="0">
        <dgm:presLayoutVars>
          <dgm:chPref val="1"/>
          <dgm:dir/>
          <dgm:animOne val="branch"/>
          <dgm:animLvl val="lvl"/>
          <dgm:resizeHandles/>
        </dgm:presLayoutVars>
      </dgm:prSet>
      <dgm:spPr/>
    </dgm:pt>
    <dgm:pt modelId="{51022EC0-275D-4C47-AF0B-71DFD1FCE1B6}" type="pres">
      <dgm:prSet presAssocID="{399ED81D-1022-44BA-A6E9-DADEFF8E1531}" presName="hierRoot1" presStyleCnt="0"/>
      <dgm:spPr/>
    </dgm:pt>
    <dgm:pt modelId="{B5C504D9-8C11-4732-933F-39BA994BDEEF}" type="pres">
      <dgm:prSet presAssocID="{399ED81D-1022-44BA-A6E9-DADEFF8E1531}" presName="composite" presStyleCnt="0"/>
      <dgm:spPr/>
    </dgm:pt>
    <dgm:pt modelId="{8EF415BF-E104-4165-916D-A3AB62DE8123}" type="pres">
      <dgm:prSet presAssocID="{399ED81D-1022-44BA-A6E9-DADEFF8E1531}" presName="background" presStyleLbl="node0" presStyleIdx="0" presStyleCnt="2"/>
      <dgm:spPr/>
    </dgm:pt>
    <dgm:pt modelId="{47B59346-EC99-4D3F-900F-16DB0C20DDD2}" type="pres">
      <dgm:prSet presAssocID="{399ED81D-1022-44BA-A6E9-DADEFF8E1531}" presName="text" presStyleLbl="fgAcc0" presStyleIdx="0" presStyleCnt="2">
        <dgm:presLayoutVars>
          <dgm:chPref val="3"/>
        </dgm:presLayoutVars>
      </dgm:prSet>
      <dgm:spPr/>
    </dgm:pt>
    <dgm:pt modelId="{A2582C1D-824B-452E-A1A7-939480470F03}" type="pres">
      <dgm:prSet presAssocID="{399ED81D-1022-44BA-A6E9-DADEFF8E1531}" presName="hierChild2" presStyleCnt="0"/>
      <dgm:spPr/>
    </dgm:pt>
    <dgm:pt modelId="{D38145D7-254D-4C36-97C4-8C5C074B4847}" type="pres">
      <dgm:prSet presAssocID="{33838559-AA02-45CE-8358-4542A78EA6AF}" presName="hierRoot1" presStyleCnt="0"/>
      <dgm:spPr/>
    </dgm:pt>
    <dgm:pt modelId="{F3698D30-8E21-4DE2-9EE7-57C4101EB563}" type="pres">
      <dgm:prSet presAssocID="{33838559-AA02-45CE-8358-4542A78EA6AF}" presName="composite" presStyleCnt="0"/>
      <dgm:spPr/>
    </dgm:pt>
    <dgm:pt modelId="{BA8EA7B8-C21C-4820-AE36-564008C1B211}" type="pres">
      <dgm:prSet presAssocID="{33838559-AA02-45CE-8358-4542A78EA6AF}" presName="background" presStyleLbl="node0" presStyleIdx="1" presStyleCnt="2"/>
      <dgm:spPr/>
    </dgm:pt>
    <dgm:pt modelId="{3C36D5BE-AADA-4606-99B0-220E630F2971}" type="pres">
      <dgm:prSet presAssocID="{33838559-AA02-45CE-8358-4542A78EA6AF}" presName="text" presStyleLbl="fgAcc0" presStyleIdx="1" presStyleCnt="2">
        <dgm:presLayoutVars>
          <dgm:chPref val="3"/>
        </dgm:presLayoutVars>
      </dgm:prSet>
      <dgm:spPr/>
    </dgm:pt>
    <dgm:pt modelId="{158272A5-114D-4045-BF6B-D7776CAFF1F4}" type="pres">
      <dgm:prSet presAssocID="{33838559-AA02-45CE-8358-4542A78EA6AF}" presName="hierChild2" presStyleCnt="0"/>
      <dgm:spPr/>
    </dgm:pt>
  </dgm:ptLst>
  <dgm:cxnLst>
    <dgm:cxn modelId="{465EB72A-773F-4331-80CA-69A62AC44699}" type="presOf" srcId="{2C6497DA-CEE4-43BE-997C-33905F083856}" destId="{8C8EE42A-A281-427F-934E-4C61610626D0}" srcOrd="0" destOrd="0" presId="urn:microsoft.com/office/officeart/2005/8/layout/hierarchy1"/>
    <dgm:cxn modelId="{0E7D8355-8F22-4AB4-95A2-D2B1DCD1E557}" srcId="{2C6497DA-CEE4-43BE-997C-33905F083856}" destId="{33838559-AA02-45CE-8358-4542A78EA6AF}" srcOrd="1" destOrd="0" parTransId="{B4158DFA-57EF-42F1-8AE2-2AB9C93F24C6}" sibTransId="{FDB77443-306D-42C0-AD2B-C9DA6B397A94}"/>
    <dgm:cxn modelId="{EBED6E5A-9664-4B65-84C7-A88ACDFD2D2E}" type="presOf" srcId="{33838559-AA02-45CE-8358-4542A78EA6AF}" destId="{3C36D5BE-AADA-4606-99B0-220E630F2971}" srcOrd="0" destOrd="0" presId="urn:microsoft.com/office/officeart/2005/8/layout/hierarchy1"/>
    <dgm:cxn modelId="{9ED4E8C8-732C-4EDA-AF5D-9C7321466E3A}" srcId="{2C6497DA-CEE4-43BE-997C-33905F083856}" destId="{399ED81D-1022-44BA-A6E9-DADEFF8E1531}" srcOrd="0" destOrd="0" parTransId="{AC784A88-A38F-4387-B12C-3A570E30A793}" sibTransId="{8EE24346-57FC-42D3-9B96-8588F9F9F38E}"/>
    <dgm:cxn modelId="{FF7DD2DB-0C42-4E84-9033-5B0E6232A920}" type="presOf" srcId="{399ED81D-1022-44BA-A6E9-DADEFF8E1531}" destId="{47B59346-EC99-4D3F-900F-16DB0C20DDD2}" srcOrd="0" destOrd="0" presId="urn:microsoft.com/office/officeart/2005/8/layout/hierarchy1"/>
    <dgm:cxn modelId="{6F6D47CC-1D8D-44AA-B5B4-D41B88F90460}" type="presParOf" srcId="{8C8EE42A-A281-427F-934E-4C61610626D0}" destId="{51022EC0-275D-4C47-AF0B-71DFD1FCE1B6}" srcOrd="0" destOrd="0" presId="urn:microsoft.com/office/officeart/2005/8/layout/hierarchy1"/>
    <dgm:cxn modelId="{69594BF8-F6B2-46C8-8FFD-5B92252A8717}" type="presParOf" srcId="{51022EC0-275D-4C47-AF0B-71DFD1FCE1B6}" destId="{B5C504D9-8C11-4732-933F-39BA994BDEEF}" srcOrd="0" destOrd="0" presId="urn:microsoft.com/office/officeart/2005/8/layout/hierarchy1"/>
    <dgm:cxn modelId="{46004C06-F86B-4BD4-8F86-A682EA270DDD}" type="presParOf" srcId="{B5C504D9-8C11-4732-933F-39BA994BDEEF}" destId="{8EF415BF-E104-4165-916D-A3AB62DE8123}" srcOrd="0" destOrd="0" presId="urn:microsoft.com/office/officeart/2005/8/layout/hierarchy1"/>
    <dgm:cxn modelId="{19316875-B6EB-40F2-ADB7-CE6A74BD6E79}" type="presParOf" srcId="{B5C504D9-8C11-4732-933F-39BA994BDEEF}" destId="{47B59346-EC99-4D3F-900F-16DB0C20DDD2}" srcOrd="1" destOrd="0" presId="urn:microsoft.com/office/officeart/2005/8/layout/hierarchy1"/>
    <dgm:cxn modelId="{2971C112-8D4F-4ECE-B92D-0CFB8A8B5E79}" type="presParOf" srcId="{51022EC0-275D-4C47-AF0B-71DFD1FCE1B6}" destId="{A2582C1D-824B-452E-A1A7-939480470F03}" srcOrd="1" destOrd="0" presId="urn:microsoft.com/office/officeart/2005/8/layout/hierarchy1"/>
    <dgm:cxn modelId="{7C604F04-028A-41F7-992A-A654488261FA}" type="presParOf" srcId="{8C8EE42A-A281-427F-934E-4C61610626D0}" destId="{D38145D7-254D-4C36-97C4-8C5C074B4847}" srcOrd="1" destOrd="0" presId="urn:microsoft.com/office/officeart/2005/8/layout/hierarchy1"/>
    <dgm:cxn modelId="{A97347CB-9DCC-4198-9AE4-386B7A50F67B}" type="presParOf" srcId="{D38145D7-254D-4C36-97C4-8C5C074B4847}" destId="{F3698D30-8E21-4DE2-9EE7-57C4101EB563}" srcOrd="0" destOrd="0" presId="urn:microsoft.com/office/officeart/2005/8/layout/hierarchy1"/>
    <dgm:cxn modelId="{83CF2E02-E2B4-4BA5-B7F4-51280BC4A67C}" type="presParOf" srcId="{F3698D30-8E21-4DE2-9EE7-57C4101EB563}" destId="{BA8EA7B8-C21C-4820-AE36-564008C1B211}" srcOrd="0" destOrd="0" presId="urn:microsoft.com/office/officeart/2005/8/layout/hierarchy1"/>
    <dgm:cxn modelId="{1E6FFABC-BA6A-427F-A9A1-067BC9B1CFEA}" type="presParOf" srcId="{F3698D30-8E21-4DE2-9EE7-57C4101EB563}" destId="{3C36D5BE-AADA-4606-99B0-220E630F2971}" srcOrd="1" destOrd="0" presId="urn:microsoft.com/office/officeart/2005/8/layout/hierarchy1"/>
    <dgm:cxn modelId="{CB02ACDC-DA49-4180-BC11-A57A4094E94C}" type="presParOf" srcId="{D38145D7-254D-4C36-97C4-8C5C074B4847}" destId="{158272A5-114D-4045-BF6B-D7776CAFF1F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CFF899B8-D199-462F-8F1A-6676403F1867}"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9F64097A-7221-4E9A-A0C3-8C4369C0B764}">
      <dgm:prSet/>
      <dgm:spPr/>
      <dgm:t>
        <a:bodyPr/>
        <a:lstStyle/>
        <a:p>
          <a:r>
            <a:rPr lang="en-US"/>
            <a:t>Utilizing the ADF tool is the Standard Practice in Oracle Enterprise Implementations for uploading exchange rate data, particularly when the company deals with multiple currencies subject to daily fluctuations, as this approach optimizes time and prevents manual entry errors.</a:t>
          </a:r>
        </a:p>
      </dgm:t>
    </dgm:pt>
    <dgm:pt modelId="{F144C27C-5707-46B6-ABAA-714C97E2667A}" type="parTrans" cxnId="{65933F09-6DCE-49A8-81E5-0717647B2A49}">
      <dgm:prSet/>
      <dgm:spPr/>
      <dgm:t>
        <a:bodyPr/>
        <a:lstStyle/>
        <a:p>
          <a:endParaRPr lang="en-US"/>
        </a:p>
      </dgm:t>
    </dgm:pt>
    <dgm:pt modelId="{8F6B3E3E-7E0A-4165-AE30-3564A274BB58}" type="sibTrans" cxnId="{65933F09-6DCE-49A8-81E5-0717647B2A49}">
      <dgm:prSet/>
      <dgm:spPr/>
      <dgm:t>
        <a:bodyPr/>
        <a:lstStyle/>
        <a:p>
          <a:endParaRPr lang="en-US"/>
        </a:p>
      </dgm:t>
    </dgm:pt>
    <dgm:pt modelId="{D9DC6658-AF31-44AC-B33D-9CB5E5396262}">
      <dgm:prSet/>
      <dgm:spPr/>
      <dgm:t>
        <a:bodyPr/>
        <a:lstStyle/>
        <a:p>
          <a:r>
            <a:rPr lang="en-US"/>
            <a:t>Automated mass entry and uploading of Daily Rates utilizing the ADF tool, and updating system tables with the conversion rates between foreign currencies and the Functional Currency for application to financial transactions.</a:t>
          </a:r>
        </a:p>
      </dgm:t>
    </dgm:pt>
    <dgm:pt modelId="{E18066E1-AFAE-4D23-933C-1B054B0C9F0E}" type="parTrans" cxnId="{D6ADD7D8-48F5-4E21-A082-D6C379191B7E}">
      <dgm:prSet/>
      <dgm:spPr/>
      <dgm:t>
        <a:bodyPr/>
        <a:lstStyle/>
        <a:p>
          <a:endParaRPr lang="en-US"/>
        </a:p>
      </dgm:t>
    </dgm:pt>
    <dgm:pt modelId="{484AA3F7-FC88-490B-8ADD-C719B545E9B7}" type="sibTrans" cxnId="{D6ADD7D8-48F5-4E21-A082-D6C379191B7E}">
      <dgm:prSet/>
      <dgm:spPr/>
      <dgm:t>
        <a:bodyPr/>
        <a:lstStyle/>
        <a:p>
          <a:endParaRPr lang="en-US"/>
        </a:p>
      </dgm:t>
    </dgm:pt>
    <dgm:pt modelId="{F23A3394-27CB-43CF-9FE5-7651D97F3A72}" type="pres">
      <dgm:prSet presAssocID="{CFF899B8-D199-462F-8F1A-6676403F1867}" presName="hierChild1" presStyleCnt="0">
        <dgm:presLayoutVars>
          <dgm:chPref val="1"/>
          <dgm:dir/>
          <dgm:animOne val="branch"/>
          <dgm:animLvl val="lvl"/>
          <dgm:resizeHandles/>
        </dgm:presLayoutVars>
      </dgm:prSet>
      <dgm:spPr/>
    </dgm:pt>
    <dgm:pt modelId="{8E9FEE44-7F25-42B4-AF66-310AB9F7CE9F}" type="pres">
      <dgm:prSet presAssocID="{9F64097A-7221-4E9A-A0C3-8C4369C0B764}" presName="hierRoot1" presStyleCnt="0"/>
      <dgm:spPr/>
    </dgm:pt>
    <dgm:pt modelId="{26FA732A-0A83-4336-A41F-6899351F5C71}" type="pres">
      <dgm:prSet presAssocID="{9F64097A-7221-4E9A-A0C3-8C4369C0B764}" presName="composite" presStyleCnt="0"/>
      <dgm:spPr/>
    </dgm:pt>
    <dgm:pt modelId="{2F77D2A8-1651-4BE2-A8CA-25CCD0A5C7FB}" type="pres">
      <dgm:prSet presAssocID="{9F64097A-7221-4E9A-A0C3-8C4369C0B764}" presName="background" presStyleLbl="node0" presStyleIdx="0" presStyleCnt="2"/>
      <dgm:spPr/>
    </dgm:pt>
    <dgm:pt modelId="{5D8BFDF9-1AA6-4466-8C62-04288CEDB7DC}" type="pres">
      <dgm:prSet presAssocID="{9F64097A-7221-4E9A-A0C3-8C4369C0B764}" presName="text" presStyleLbl="fgAcc0" presStyleIdx="0" presStyleCnt="2">
        <dgm:presLayoutVars>
          <dgm:chPref val="3"/>
        </dgm:presLayoutVars>
      </dgm:prSet>
      <dgm:spPr/>
    </dgm:pt>
    <dgm:pt modelId="{4D14DA6C-3FD2-4FBF-B134-420FEBCED3C3}" type="pres">
      <dgm:prSet presAssocID="{9F64097A-7221-4E9A-A0C3-8C4369C0B764}" presName="hierChild2" presStyleCnt="0"/>
      <dgm:spPr/>
    </dgm:pt>
    <dgm:pt modelId="{833EEB5E-E5F6-4AAB-A842-FDDF108EAE9A}" type="pres">
      <dgm:prSet presAssocID="{D9DC6658-AF31-44AC-B33D-9CB5E5396262}" presName="hierRoot1" presStyleCnt="0"/>
      <dgm:spPr/>
    </dgm:pt>
    <dgm:pt modelId="{758D312A-6CD1-4C72-8F61-7C2F62B90459}" type="pres">
      <dgm:prSet presAssocID="{D9DC6658-AF31-44AC-B33D-9CB5E5396262}" presName="composite" presStyleCnt="0"/>
      <dgm:spPr/>
    </dgm:pt>
    <dgm:pt modelId="{41761644-E5EF-4DBF-B3EE-290310D0A4FE}" type="pres">
      <dgm:prSet presAssocID="{D9DC6658-AF31-44AC-B33D-9CB5E5396262}" presName="background" presStyleLbl="node0" presStyleIdx="1" presStyleCnt="2"/>
      <dgm:spPr/>
    </dgm:pt>
    <dgm:pt modelId="{4FBA271E-125D-462F-A09D-17B226E43D7F}" type="pres">
      <dgm:prSet presAssocID="{D9DC6658-AF31-44AC-B33D-9CB5E5396262}" presName="text" presStyleLbl="fgAcc0" presStyleIdx="1" presStyleCnt="2">
        <dgm:presLayoutVars>
          <dgm:chPref val="3"/>
        </dgm:presLayoutVars>
      </dgm:prSet>
      <dgm:spPr/>
    </dgm:pt>
    <dgm:pt modelId="{2F452705-E720-4739-9B7A-89847D9FDF87}" type="pres">
      <dgm:prSet presAssocID="{D9DC6658-AF31-44AC-B33D-9CB5E5396262}" presName="hierChild2" presStyleCnt="0"/>
      <dgm:spPr/>
    </dgm:pt>
  </dgm:ptLst>
  <dgm:cxnLst>
    <dgm:cxn modelId="{65933F09-6DCE-49A8-81E5-0717647B2A49}" srcId="{CFF899B8-D199-462F-8F1A-6676403F1867}" destId="{9F64097A-7221-4E9A-A0C3-8C4369C0B764}" srcOrd="0" destOrd="0" parTransId="{F144C27C-5707-46B6-ABAA-714C97E2667A}" sibTransId="{8F6B3E3E-7E0A-4165-AE30-3564A274BB58}"/>
    <dgm:cxn modelId="{34686B0A-6147-4D0A-ADD1-1028770154EE}" type="presOf" srcId="{9F64097A-7221-4E9A-A0C3-8C4369C0B764}" destId="{5D8BFDF9-1AA6-4466-8C62-04288CEDB7DC}" srcOrd="0" destOrd="0" presId="urn:microsoft.com/office/officeart/2005/8/layout/hierarchy1"/>
    <dgm:cxn modelId="{32BC3759-CDC9-4351-9908-70952DA7B317}" type="presOf" srcId="{D9DC6658-AF31-44AC-B33D-9CB5E5396262}" destId="{4FBA271E-125D-462F-A09D-17B226E43D7F}" srcOrd="0" destOrd="0" presId="urn:microsoft.com/office/officeart/2005/8/layout/hierarchy1"/>
    <dgm:cxn modelId="{0917847E-45D7-4B0A-9722-9AA435E1A7DA}" type="presOf" srcId="{CFF899B8-D199-462F-8F1A-6676403F1867}" destId="{F23A3394-27CB-43CF-9FE5-7651D97F3A72}" srcOrd="0" destOrd="0" presId="urn:microsoft.com/office/officeart/2005/8/layout/hierarchy1"/>
    <dgm:cxn modelId="{D6ADD7D8-48F5-4E21-A082-D6C379191B7E}" srcId="{CFF899B8-D199-462F-8F1A-6676403F1867}" destId="{D9DC6658-AF31-44AC-B33D-9CB5E5396262}" srcOrd="1" destOrd="0" parTransId="{E18066E1-AFAE-4D23-933C-1B054B0C9F0E}" sibTransId="{484AA3F7-FC88-490B-8ADD-C719B545E9B7}"/>
    <dgm:cxn modelId="{7129893D-D969-4DDC-8B8B-927731817F0D}" type="presParOf" srcId="{F23A3394-27CB-43CF-9FE5-7651D97F3A72}" destId="{8E9FEE44-7F25-42B4-AF66-310AB9F7CE9F}" srcOrd="0" destOrd="0" presId="urn:microsoft.com/office/officeart/2005/8/layout/hierarchy1"/>
    <dgm:cxn modelId="{1EF1BF7A-4F75-484F-B03C-6736FAEF22F1}" type="presParOf" srcId="{8E9FEE44-7F25-42B4-AF66-310AB9F7CE9F}" destId="{26FA732A-0A83-4336-A41F-6899351F5C71}" srcOrd="0" destOrd="0" presId="urn:microsoft.com/office/officeart/2005/8/layout/hierarchy1"/>
    <dgm:cxn modelId="{79732027-C77E-429E-B824-AD9B4EA55C31}" type="presParOf" srcId="{26FA732A-0A83-4336-A41F-6899351F5C71}" destId="{2F77D2A8-1651-4BE2-A8CA-25CCD0A5C7FB}" srcOrd="0" destOrd="0" presId="urn:microsoft.com/office/officeart/2005/8/layout/hierarchy1"/>
    <dgm:cxn modelId="{F6172379-E742-4808-9329-D48F6A963155}" type="presParOf" srcId="{26FA732A-0A83-4336-A41F-6899351F5C71}" destId="{5D8BFDF9-1AA6-4466-8C62-04288CEDB7DC}" srcOrd="1" destOrd="0" presId="urn:microsoft.com/office/officeart/2005/8/layout/hierarchy1"/>
    <dgm:cxn modelId="{708427F2-23A7-4F64-9322-5E47B11FCB98}" type="presParOf" srcId="{8E9FEE44-7F25-42B4-AF66-310AB9F7CE9F}" destId="{4D14DA6C-3FD2-4FBF-B134-420FEBCED3C3}" srcOrd="1" destOrd="0" presId="urn:microsoft.com/office/officeart/2005/8/layout/hierarchy1"/>
    <dgm:cxn modelId="{7EC357D3-1786-4E0F-A2F8-03F04D789E58}" type="presParOf" srcId="{F23A3394-27CB-43CF-9FE5-7651D97F3A72}" destId="{833EEB5E-E5F6-4AAB-A842-FDDF108EAE9A}" srcOrd="1" destOrd="0" presId="urn:microsoft.com/office/officeart/2005/8/layout/hierarchy1"/>
    <dgm:cxn modelId="{56F365DD-242D-4B5A-8233-1C4689795633}" type="presParOf" srcId="{833EEB5E-E5F6-4AAB-A842-FDDF108EAE9A}" destId="{758D312A-6CD1-4C72-8F61-7C2F62B90459}" srcOrd="0" destOrd="0" presId="urn:microsoft.com/office/officeart/2005/8/layout/hierarchy1"/>
    <dgm:cxn modelId="{D62B81E2-314E-422F-B5B4-149E39CF27D9}" type="presParOf" srcId="{758D312A-6CD1-4C72-8F61-7C2F62B90459}" destId="{41761644-E5EF-4DBF-B3EE-290310D0A4FE}" srcOrd="0" destOrd="0" presId="urn:microsoft.com/office/officeart/2005/8/layout/hierarchy1"/>
    <dgm:cxn modelId="{F722D4A7-5B9B-497F-B0CA-CA2FD9460487}" type="presParOf" srcId="{758D312A-6CD1-4C72-8F61-7C2F62B90459}" destId="{4FBA271E-125D-462F-A09D-17B226E43D7F}" srcOrd="1" destOrd="0" presId="urn:microsoft.com/office/officeart/2005/8/layout/hierarchy1"/>
    <dgm:cxn modelId="{A984B2FB-4B2E-4FEA-A65B-D13587DE8981}" type="presParOf" srcId="{833EEB5E-E5F6-4AAB-A842-FDDF108EAE9A}" destId="{2F452705-E720-4739-9B7A-89847D9FDF87}"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1DDAAE3D-A66F-43E6-8833-75229A4F053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0532974-DCFE-4769-8BDE-05CE7878D894}">
      <dgm:prSet/>
      <dgm:spPr/>
      <dgm:t>
        <a:bodyPr/>
        <a:lstStyle/>
        <a:p>
          <a:r>
            <a:rPr lang="en-US"/>
            <a:t>The From/To Conversion Date is entered, followed by the Conversion Rate. Given that the "Inverse Relationship" feature was previously enabled, the system will calculate the Inverse Rate automatically. </a:t>
          </a:r>
        </a:p>
      </dgm:t>
    </dgm:pt>
    <dgm:pt modelId="{6EF2A88A-6644-4E15-9E8C-CB0DC1A7737B}" type="parTrans" cxnId="{E4DBD309-3EDB-4739-8DE8-38C7BF417FB7}">
      <dgm:prSet/>
      <dgm:spPr/>
      <dgm:t>
        <a:bodyPr/>
        <a:lstStyle/>
        <a:p>
          <a:endParaRPr lang="en-US"/>
        </a:p>
      </dgm:t>
    </dgm:pt>
    <dgm:pt modelId="{13D5B733-553C-4DC1-BBD9-D10B6564DF3A}" type="sibTrans" cxnId="{E4DBD309-3EDB-4739-8DE8-38C7BF417FB7}">
      <dgm:prSet/>
      <dgm:spPr/>
      <dgm:t>
        <a:bodyPr/>
        <a:lstStyle/>
        <a:p>
          <a:endParaRPr lang="en-US"/>
        </a:p>
      </dgm:t>
    </dgm:pt>
    <dgm:pt modelId="{4134E6BB-3969-473B-8B83-6D2C54A5E591}">
      <dgm:prSet/>
      <dgm:spPr/>
      <dgm:t>
        <a:bodyPr/>
        <a:lstStyle/>
        <a:p>
          <a:r>
            <a:rPr lang="en-US"/>
            <a:t>Upon completing the data entry, click the Submit option.</a:t>
          </a:r>
        </a:p>
      </dgm:t>
    </dgm:pt>
    <dgm:pt modelId="{D068ED02-C9CC-4B67-A95E-FA5FEACD8A3B}" type="parTrans" cxnId="{B5556C16-2B1C-47D2-B369-D36BF552538D}">
      <dgm:prSet/>
      <dgm:spPr/>
      <dgm:t>
        <a:bodyPr/>
        <a:lstStyle/>
        <a:p>
          <a:endParaRPr lang="en-US"/>
        </a:p>
      </dgm:t>
    </dgm:pt>
    <dgm:pt modelId="{B0B8FF34-D9AA-488B-8721-C527976A1D65}" type="sibTrans" cxnId="{B5556C16-2B1C-47D2-B369-D36BF552538D}">
      <dgm:prSet/>
      <dgm:spPr/>
      <dgm:t>
        <a:bodyPr/>
        <a:lstStyle/>
        <a:p>
          <a:endParaRPr lang="en-US"/>
        </a:p>
      </dgm:t>
    </dgm:pt>
    <dgm:pt modelId="{29AB6176-3248-4B37-8D6F-939083D06B73}" type="pres">
      <dgm:prSet presAssocID="{1DDAAE3D-A66F-43E6-8833-75229A4F0531}" presName="root" presStyleCnt="0">
        <dgm:presLayoutVars>
          <dgm:dir/>
          <dgm:resizeHandles val="exact"/>
        </dgm:presLayoutVars>
      </dgm:prSet>
      <dgm:spPr/>
    </dgm:pt>
    <dgm:pt modelId="{CEED70CD-8051-477D-ACBC-1AFE6571EB2D}" type="pres">
      <dgm:prSet presAssocID="{C0532974-DCFE-4769-8BDE-05CE7878D894}" presName="compNode" presStyleCnt="0"/>
      <dgm:spPr/>
    </dgm:pt>
    <dgm:pt modelId="{C0965EEE-0541-4B9E-AC42-A4272C02E2AD}" type="pres">
      <dgm:prSet presAssocID="{C0532974-DCFE-4769-8BDE-05CE7878D894}" presName="bgRect" presStyleLbl="bgShp" presStyleIdx="0" presStyleCnt="2"/>
      <dgm:spPr/>
    </dgm:pt>
    <dgm:pt modelId="{7A42D5FD-ED61-421C-A206-C5D8C8B5D526}" type="pres">
      <dgm:prSet presAssocID="{C0532974-DCFE-4769-8BDE-05CE7878D894}"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Flowchart"/>
        </a:ext>
      </dgm:extLst>
    </dgm:pt>
    <dgm:pt modelId="{54B99C0A-5D9C-4E4D-A1AC-F979706C9DBA}" type="pres">
      <dgm:prSet presAssocID="{C0532974-DCFE-4769-8BDE-05CE7878D894}" presName="spaceRect" presStyleCnt="0"/>
      <dgm:spPr/>
    </dgm:pt>
    <dgm:pt modelId="{5C0E346D-6DE3-4985-A816-610390CD5883}" type="pres">
      <dgm:prSet presAssocID="{C0532974-DCFE-4769-8BDE-05CE7878D894}" presName="parTx" presStyleLbl="revTx" presStyleIdx="0" presStyleCnt="2">
        <dgm:presLayoutVars>
          <dgm:chMax val="0"/>
          <dgm:chPref val="0"/>
        </dgm:presLayoutVars>
      </dgm:prSet>
      <dgm:spPr/>
    </dgm:pt>
    <dgm:pt modelId="{D1DF4D13-2ACD-4484-BC70-FF8359D33A41}" type="pres">
      <dgm:prSet presAssocID="{13D5B733-553C-4DC1-BBD9-D10B6564DF3A}" presName="sibTrans" presStyleCnt="0"/>
      <dgm:spPr/>
    </dgm:pt>
    <dgm:pt modelId="{EA4B4CDA-DE15-4375-A426-B5804302E680}" type="pres">
      <dgm:prSet presAssocID="{4134E6BB-3969-473B-8B83-6D2C54A5E591}" presName="compNode" presStyleCnt="0"/>
      <dgm:spPr/>
    </dgm:pt>
    <dgm:pt modelId="{EDA7CC3C-9CE5-43FE-A47D-74EB57AD97C4}" type="pres">
      <dgm:prSet presAssocID="{4134E6BB-3969-473B-8B83-6D2C54A5E591}" presName="bgRect" presStyleLbl="bgShp" presStyleIdx="1" presStyleCnt="2"/>
      <dgm:spPr/>
    </dgm:pt>
    <dgm:pt modelId="{D3D135AA-8FE7-4CCE-BD67-892B6763F2AC}" type="pres">
      <dgm:prSet presAssocID="{4134E6BB-3969-473B-8B83-6D2C54A5E591}"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owser Window"/>
        </a:ext>
      </dgm:extLst>
    </dgm:pt>
    <dgm:pt modelId="{7E7B1E8E-5F94-4CA0-8E2A-1ED4DC5BEEA5}" type="pres">
      <dgm:prSet presAssocID="{4134E6BB-3969-473B-8B83-6D2C54A5E591}" presName="spaceRect" presStyleCnt="0"/>
      <dgm:spPr/>
    </dgm:pt>
    <dgm:pt modelId="{DEF97D51-116C-4C03-8AD4-4CCD2001E26B}" type="pres">
      <dgm:prSet presAssocID="{4134E6BB-3969-473B-8B83-6D2C54A5E591}" presName="parTx" presStyleLbl="revTx" presStyleIdx="1" presStyleCnt="2">
        <dgm:presLayoutVars>
          <dgm:chMax val="0"/>
          <dgm:chPref val="0"/>
        </dgm:presLayoutVars>
      </dgm:prSet>
      <dgm:spPr/>
    </dgm:pt>
  </dgm:ptLst>
  <dgm:cxnLst>
    <dgm:cxn modelId="{E4DBD309-3EDB-4739-8DE8-38C7BF417FB7}" srcId="{1DDAAE3D-A66F-43E6-8833-75229A4F0531}" destId="{C0532974-DCFE-4769-8BDE-05CE7878D894}" srcOrd="0" destOrd="0" parTransId="{6EF2A88A-6644-4E15-9E8C-CB0DC1A7737B}" sibTransId="{13D5B733-553C-4DC1-BBD9-D10B6564DF3A}"/>
    <dgm:cxn modelId="{B5556C16-2B1C-47D2-B369-D36BF552538D}" srcId="{1DDAAE3D-A66F-43E6-8833-75229A4F0531}" destId="{4134E6BB-3969-473B-8B83-6D2C54A5E591}" srcOrd="1" destOrd="0" parTransId="{D068ED02-C9CC-4B67-A95E-FA5FEACD8A3B}" sibTransId="{B0B8FF34-D9AA-488B-8721-C527976A1D65}"/>
    <dgm:cxn modelId="{046DB547-75DC-4788-BD78-68E046AFF04D}" type="presOf" srcId="{1DDAAE3D-A66F-43E6-8833-75229A4F0531}" destId="{29AB6176-3248-4B37-8D6F-939083D06B73}" srcOrd="0" destOrd="0" presId="urn:microsoft.com/office/officeart/2018/2/layout/IconVerticalSolidList"/>
    <dgm:cxn modelId="{A93C09A2-00CD-49DA-B92F-E5EBDC68CA70}" type="presOf" srcId="{C0532974-DCFE-4769-8BDE-05CE7878D894}" destId="{5C0E346D-6DE3-4985-A816-610390CD5883}" srcOrd="0" destOrd="0" presId="urn:microsoft.com/office/officeart/2018/2/layout/IconVerticalSolidList"/>
    <dgm:cxn modelId="{492898CF-AA99-45AD-A6ED-568BB3C971D1}" type="presOf" srcId="{4134E6BB-3969-473B-8B83-6D2C54A5E591}" destId="{DEF97D51-116C-4C03-8AD4-4CCD2001E26B}" srcOrd="0" destOrd="0" presId="urn:microsoft.com/office/officeart/2018/2/layout/IconVerticalSolidList"/>
    <dgm:cxn modelId="{E0FCB683-4E02-4127-A03D-9358C514A74A}" type="presParOf" srcId="{29AB6176-3248-4B37-8D6F-939083D06B73}" destId="{CEED70CD-8051-477D-ACBC-1AFE6571EB2D}" srcOrd="0" destOrd="0" presId="urn:microsoft.com/office/officeart/2018/2/layout/IconVerticalSolidList"/>
    <dgm:cxn modelId="{DCED5D3D-BF29-43A9-87B5-4756E041B6DB}" type="presParOf" srcId="{CEED70CD-8051-477D-ACBC-1AFE6571EB2D}" destId="{C0965EEE-0541-4B9E-AC42-A4272C02E2AD}" srcOrd="0" destOrd="0" presId="urn:microsoft.com/office/officeart/2018/2/layout/IconVerticalSolidList"/>
    <dgm:cxn modelId="{CE4C322A-E4A1-4795-AEE6-528D7349C332}" type="presParOf" srcId="{CEED70CD-8051-477D-ACBC-1AFE6571EB2D}" destId="{7A42D5FD-ED61-421C-A206-C5D8C8B5D526}" srcOrd="1" destOrd="0" presId="urn:microsoft.com/office/officeart/2018/2/layout/IconVerticalSolidList"/>
    <dgm:cxn modelId="{AA7BD7D8-259B-409A-B927-0CBD4BBC53C8}" type="presParOf" srcId="{CEED70CD-8051-477D-ACBC-1AFE6571EB2D}" destId="{54B99C0A-5D9C-4E4D-A1AC-F979706C9DBA}" srcOrd="2" destOrd="0" presId="urn:microsoft.com/office/officeart/2018/2/layout/IconVerticalSolidList"/>
    <dgm:cxn modelId="{7220842B-9322-429C-837D-B01F59824FA4}" type="presParOf" srcId="{CEED70CD-8051-477D-ACBC-1AFE6571EB2D}" destId="{5C0E346D-6DE3-4985-A816-610390CD5883}" srcOrd="3" destOrd="0" presId="urn:microsoft.com/office/officeart/2018/2/layout/IconVerticalSolidList"/>
    <dgm:cxn modelId="{FB2110E6-DE66-457B-9C7A-0AE71002A4CE}" type="presParOf" srcId="{29AB6176-3248-4B37-8D6F-939083D06B73}" destId="{D1DF4D13-2ACD-4484-BC70-FF8359D33A41}" srcOrd="1" destOrd="0" presId="urn:microsoft.com/office/officeart/2018/2/layout/IconVerticalSolidList"/>
    <dgm:cxn modelId="{B31DDC73-1602-4CF0-AEE5-01D962ACFFE0}" type="presParOf" srcId="{29AB6176-3248-4B37-8D6F-939083D06B73}" destId="{EA4B4CDA-DE15-4375-A426-B5804302E680}" srcOrd="2" destOrd="0" presId="urn:microsoft.com/office/officeart/2018/2/layout/IconVerticalSolidList"/>
    <dgm:cxn modelId="{FDF5F60A-547E-4CBF-B1C0-C15A381D8A28}" type="presParOf" srcId="{EA4B4CDA-DE15-4375-A426-B5804302E680}" destId="{EDA7CC3C-9CE5-43FE-A47D-74EB57AD97C4}" srcOrd="0" destOrd="0" presId="urn:microsoft.com/office/officeart/2018/2/layout/IconVerticalSolidList"/>
    <dgm:cxn modelId="{603BEA97-E4F2-42B8-8FF2-E4FF5B94CDF9}" type="presParOf" srcId="{EA4B4CDA-DE15-4375-A426-B5804302E680}" destId="{D3D135AA-8FE7-4CCE-BD67-892B6763F2AC}" srcOrd="1" destOrd="0" presId="urn:microsoft.com/office/officeart/2018/2/layout/IconVerticalSolidList"/>
    <dgm:cxn modelId="{741727DA-2FF4-43D5-BF84-8955C4BD2297}" type="presParOf" srcId="{EA4B4CDA-DE15-4375-A426-B5804302E680}" destId="{7E7B1E8E-5F94-4CA0-8E2A-1ED4DC5BEEA5}" srcOrd="2" destOrd="0" presId="urn:microsoft.com/office/officeart/2018/2/layout/IconVerticalSolidList"/>
    <dgm:cxn modelId="{00A1F166-18C3-419C-8685-561D8E29525B}" type="presParOf" srcId="{EA4B4CDA-DE15-4375-A426-B5804302E680}" destId="{DEF97D51-116C-4C03-8AD4-4CCD2001E26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EF99EE73-04FC-483E-9197-AEA232601EB1}"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6472B544-7EC6-415C-A565-95AF17CA8A68}">
      <dgm:prSet/>
      <dgm:spPr/>
      <dgm:t>
        <a:bodyPr/>
        <a:lstStyle/>
        <a:p>
          <a:r>
            <a:rPr lang="en-US"/>
            <a:t>A Budget in Oracle Fusion General Ledger (GL) is a financial plan that estimates a company's expected income and expenses over a specific period, usually a fiscal year.</a:t>
          </a:r>
        </a:p>
      </dgm:t>
    </dgm:pt>
    <dgm:pt modelId="{DF1AAC3A-D510-4B1E-886B-53AAEECC7439}" type="parTrans" cxnId="{3F254811-DAF6-4C7E-8879-4307FD0D1E53}">
      <dgm:prSet/>
      <dgm:spPr/>
      <dgm:t>
        <a:bodyPr/>
        <a:lstStyle/>
        <a:p>
          <a:endParaRPr lang="en-US"/>
        </a:p>
      </dgm:t>
    </dgm:pt>
    <dgm:pt modelId="{948B42C8-6682-44F1-B496-8C65292B6ABD}" type="sibTrans" cxnId="{3F254811-DAF6-4C7E-8879-4307FD0D1E53}">
      <dgm:prSet/>
      <dgm:spPr/>
      <dgm:t>
        <a:bodyPr/>
        <a:lstStyle/>
        <a:p>
          <a:endParaRPr lang="en-US"/>
        </a:p>
      </dgm:t>
    </dgm:pt>
    <dgm:pt modelId="{F502602B-7B51-4D55-BE78-982ED12C6DB0}">
      <dgm:prSet/>
      <dgm:spPr/>
      <dgm:t>
        <a:bodyPr/>
        <a:lstStyle/>
        <a:p>
          <a:r>
            <a:rPr lang="en-US"/>
            <a:t>It helps organizations plan how their financial resources will be allocated across different accounts and departments, monitor spending, and compare planned amounts with actual financial results.</a:t>
          </a:r>
        </a:p>
      </dgm:t>
    </dgm:pt>
    <dgm:pt modelId="{FFAE2CE9-F6DE-4B63-999F-BD4837E7E81A}" type="parTrans" cxnId="{3148AE49-8B3D-4F3D-8445-6721B9B54AD8}">
      <dgm:prSet/>
      <dgm:spPr/>
      <dgm:t>
        <a:bodyPr/>
        <a:lstStyle/>
        <a:p>
          <a:endParaRPr lang="en-US"/>
        </a:p>
      </dgm:t>
    </dgm:pt>
    <dgm:pt modelId="{32E919A3-B7D9-4A8D-9988-D4674ECD3668}" type="sibTrans" cxnId="{3148AE49-8B3D-4F3D-8445-6721B9B54AD8}">
      <dgm:prSet/>
      <dgm:spPr/>
      <dgm:t>
        <a:bodyPr/>
        <a:lstStyle/>
        <a:p>
          <a:endParaRPr lang="en-US"/>
        </a:p>
      </dgm:t>
    </dgm:pt>
    <dgm:pt modelId="{BADB8B5F-F127-48AD-9199-9E97E6ED48EE}" type="pres">
      <dgm:prSet presAssocID="{EF99EE73-04FC-483E-9197-AEA232601EB1}" presName="root" presStyleCnt="0">
        <dgm:presLayoutVars>
          <dgm:dir/>
          <dgm:resizeHandles val="exact"/>
        </dgm:presLayoutVars>
      </dgm:prSet>
      <dgm:spPr/>
    </dgm:pt>
    <dgm:pt modelId="{4427C1E7-4A25-48D5-870A-BA45BED79998}" type="pres">
      <dgm:prSet presAssocID="{EF99EE73-04FC-483E-9197-AEA232601EB1}" presName="container" presStyleCnt="0">
        <dgm:presLayoutVars>
          <dgm:dir/>
          <dgm:resizeHandles val="exact"/>
        </dgm:presLayoutVars>
      </dgm:prSet>
      <dgm:spPr/>
    </dgm:pt>
    <dgm:pt modelId="{89AA5A25-C23A-4E35-9C4D-03B894B8B764}" type="pres">
      <dgm:prSet presAssocID="{6472B544-7EC6-415C-A565-95AF17CA8A68}" presName="compNode" presStyleCnt="0"/>
      <dgm:spPr/>
    </dgm:pt>
    <dgm:pt modelId="{7EB67A5D-EB8F-435F-88BD-4E8AA575AD87}" type="pres">
      <dgm:prSet presAssocID="{6472B544-7EC6-415C-A565-95AF17CA8A68}" presName="iconBgRect" presStyleLbl="bgShp" presStyleIdx="0" presStyleCnt="2"/>
      <dgm:spPr/>
    </dgm:pt>
    <dgm:pt modelId="{33FE3C47-BB8C-4700-9C47-6BBD3EBD5F82}" type="pres">
      <dgm:prSet presAssocID="{6472B544-7EC6-415C-A565-95AF17CA8A68}"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atabase"/>
        </a:ext>
      </dgm:extLst>
    </dgm:pt>
    <dgm:pt modelId="{6E65E500-AFFA-491B-9FDB-E33E39BE85D1}" type="pres">
      <dgm:prSet presAssocID="{6472B544-7EC6-415C-A565-95AF17CA8A68}" presName="spaceRect" presStyleCnt="0"/>
      <dgm:spPr/>
    </dgm:pt>
    <dgm:pt modelId="{B5AE9191-0C67-490E-990B-74AD5FC01D31}" type="pres">
      <dgm:prSet presAssocID="{6472B544-7EC6-415C-A565-95AF17CA8A68}" presName="textRect" presStyleLbl="revTx" presStyleIdx="0" presStyleCnt="2">
        <dgm:presLayoutVars>
          <dgm:chMax val="1"/>
          <dgm:chPref val="1"/>
        </dgm:presLayoutVars>
      </dgm:prSet>
      <dgm:spPr/>
    </dgm:pt>
    <dgm:pt modelId="{33150BA4-A02F-4554-BBBD-644F3ABC2174}" type="pres">
      <dgm:prSet presAssocID="{948B42C8-6682-44F1-B496-8C65292B6ABD}" presName="sibTrans" presStyleLbl="sibTrans2D1" presStyleIdx="0" presStyleCnt="0"/>
      <dgm:spPr/>
    </dgm:pt>
    <dgm:pt modelId="{01FC4195-38A7-4528-8BC6-3D9B7147DC16}" type="pres">
      <dgm:prSet presAssocID="{F502602B-7B51-4D55-BE78-982ED12C6DB0}" presName="compNode" presStyleCnt="0"/>
      <dgm:spPr/>
    </dgm:pt>
    <dgm:pt modelId="{17108F2F-B26A-4E81-B9D8-7AA0CB34FA2E}" type="pres">
      <dgm:prSet presAssocID="{F502602B-7B51-4D55-BE78-982ED12C6DB0}" presName="iconBgRect" presStyleLbl="bgShp" presStyleIdx="1" presStyleCnt="2"/>
      <dgm:spPr/>
    </dgm:pt>
    <dgm:pt modelId="{71176A60-8027-49C7-993B-25F041DB37BA}" type="pres">
      <dgm:prSet presAssocID="{F502602B-7B51-4D55-BE78-982ED12C6DB0}"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FA1159EF-43FB-4CE9-BF7D-6BD1A0872293}" type="pres">
      <dgm:prSet presAssocID="{F502602B-7B51-4D55-BE78-982ED12C6DB0}" presName="spaceRect" presStyleCnt="0"/>
      <dgm:spPr/>
    </dgm:pt>
    <dgm:pt modelId="{14A4939D-D7A7-4494-8313-8C19164BBAC7}" type="pres">
      <dgm:prSet presAssocID="{F502602B-7B51-4D55-BE78-982ED12C6DB0}" presName="textRect" presStyleLbl="revTx" presStyleIdx="1" presStyleCnt="2">
        <dgm:presLayoutVars>
          <dgm:chMax val="1"/>
          <dgm:chPref val="1"/>
        </dgm:presLayoutVars>
      </dgm:prSet>
      <dgm:spPr/>
    </dgm:pt>
  </dgm:ptLst>
  <dgm:cxnLst>
    <dgm:cxn modelId="{3F254811-DAF6-4C7E-8879-4307FD0D1E53}" srcId="{EF99EE73-04FC-483E-9197-AEA232601EB1}" destId="{6472B544-7EC6-415C-A565-95AF17CA8A68}" srcOrd="0" destOrd="0" parTransId="{DF1AAC3A-D510-4B1E-886B-53AAEECC7439}" sibTransId="{948B42C8-6682-44F1-B496-8C65292B6ABD}"/>
    <dgm:cxn modelId="{FA2C9E25-8684-4FE1-8E64-8C26D6D6A175}" type="presOf" srcId="{6472B544-7EC6-415C-A565-95AF17CA8A68}" destId="{B5AE9191-0C67-490E-990B-74AD5FC01D31}" srcOrd="0" destOrd="0" presId="urn:microsoft.com/office/officeart/2018/2/layout/IconCircleList"/>
    <dgm:cxn modelId="{E21F6B62-3418-4809-B3AE-E75FD456567D}" type="presOf" srcId="{EF99EE73-04FC-483E-9197-AEA232601EB1}" destId="{BADB8B5F-F127-48AD-9199-9E97E6ED48EE}" srcOrd="0" destOrd="0" presId="urn:microsoft.com/office/officeart/2018/2/layout/IconCircleList"/>
    <dgm:cxn modelId="{3148AE49-8B3D-4F3D-8445-6721B9B54AD8}" srcId="{EF99EE73-04FC-483E-9197-AEA232601EB1}" destId="{F502602B-7B51-4D55-BE78-982ED12C6DB0}" srcOrd="1" destOrd="0" parTransId="{FFAE2CE9-F6DE-4B63-999F-BD4837E7E81A}" sibTransId="{32E919A3-B7D9-4A8D-9988-D4674ECD3668}"/>
    <dgm:cxn modelId="{CEAAAEEB-5215-4C1F-9A43-40C3B197447F}" type="presOf" srcId="{948B42C8-6682-44F1-B496-8C65292B6ABD}" destId="{33150BA4-A02F-4554-BBBD-644F3ABC2174}" srcOrd="0" destOrd="0" presId="urn:microsoft.com/office/officeart/2018/2/layout/IconCircleList"/>
    <dgm:cxn modelId="{DB02F1F5-18BA-4B71-967D-FEB696F445BF}" type="presOf" srcId="{F502602B-7B51-4D55-BE78-982ED12C6DB0}" destId="{14A4939D-D7A7-4494-8313-8C19164BBAC7}" srcOrd="0" destOrd="0" presId="urn:microsoft.com/office/officeart/2018/2/layout/IconCircleList"/>
    <dgm:cxn modelId="{AB1C55CA-1FCD-4E0C-A398-AC48A76AEAA9}" type="presParOf" srcId="{BADB8B5F-F127-48AD-9199-9E97E6ED48EE}" destId="{4427C1E7-4A25-48D5-870A-BA45BED79998}" srcOrd="0" destOrd="0" presId="urn:microsoft.com/office/officeart/2018/2/layout/IconCircleList"/>
    <dgm:cxn modelId="{84960B70-D806-4737-9E3B-4784C8084B66}" type="presParOf" srcId="{4427C1E7-4A25-48D5-870A-BA45BED79998}" destId="{89AA5A25-C23A-4E35-9C4D-03B894B8B764}" srcOrd="0" destOrd="0" presId="urn:microsoft.com/office/officeart/2018/2/layout/IconCircleList"/>
    <dgm:cxn modelId="{B4068A17-2B17-4AB8-9AB8-A49496529E7A}" type="presParOf" srcId="{89AA5A25-C23A-4E35-9C4D-03B894B8B764}" destId="{7EB67A5D-EB8F-435F-88BD-4E8AA575AD87}" srcOrd="0" destOrd="0" presId="urn:microsoft.com/office/officeart/2018/2/layout/IconCircleList"/>
    <dgm:cxn modelId="{C0515B27-A48E-4EDB-8DD6-5357329DC12E}" type="presParOf" srcId="{89AA5A25-C23A-4E35-9C4D-03B894B8B764}" destId="{33FE3C47-BB8C-4700-9C47-6BBD3EBD5F82}" srcOrd="1" destOrd="0" presId="urn:microsoft.com/office/officeart/2018/2/layout/IconCircleList"/>
    <dgm:cxn modelId="{B32BD7C5-49E8-42C5-852A-E381FDFA5476}" type="presParOf" srcId="{89AA5A25-C23A-4E35-9C4D-03B894B8B764}" destId="{6E65E500-AFFA-491B-9FDB-E33E39BE85D1}" srcOrd="2" destOrd="0" presId="urn:microsoft.com/office/officeart/2018/2/layout/IconCircleList"/>
    <dgm:cxn modelId="{290EF20C-057D-4300-9BEB-528640E2A850}" type="presParOf" srcId="{89AA5A25-C23A-4E35-9C4D-03B894B8B764}" destId="{B5AE9191-0C67-490E-990B-74AD5FC01D31}" srcOrd="3" destOrd="0" presId="urn:microsoft.com/office/officeart/2018/2/layout/IconCircleList"/>
    <dgm:cxn modelId="{18D18463-C147-4DE7-93FF-7EB96A941B98}" type="presParOf" srcId="{4427C1E7-4A25-48D5-870A-BA45BED79998}" destId="{33150BA4-A02F-4554-BBBD-644F3ABC2174}" srcOrd="1" destOrd="0" presId="urn:microsoft.com/office/officeart/2018/2/layout/IconCircleList"/>
    <dgm:cxn modelId="{84265CF0-FDB1-455E-8258-2A58E2108EDE}" type="presParOf" srcId="{4427C1E7-4A25-48D5-870A-BA45BED79998}" destId="{01FC4195-38A7-4528-8BC6-3D9B7147DC16}" srcOrd="2" destOrd="0" presId="urn:microsoft.com/office/officeart/2018/2/layout/IconCircleList"/>
    <dgm:cxn modelId="{9B7FE412-D2DA-427E-94F7-F7D3BB474896}" type="presParOf" srcId="{01FC4195-38A7-4528-8BC6-3D9B7147DC16}" destId="{17108F2F-B26A-4E81-B9D8-7AA0CB34FA2E}" srcOrd="0" destOrd="0" presId="urn:microsoft.com/office/officeart/2018/2/layout/IconCircleList"/>
    <dgm:cxn modelId="{A510C69D-66C0-4E73-8848-5A07D7224BE3}" type="presParOf" srcId="{01FC4195-38A7-4528-8BC6-3D9B7147DC16}" destId="{71176A60-8027-49C7-993B-25F041DB37BA}" srcOrd="1" destOrd="0" presId="urn:microsoft.com/office/officeart/2018/2/layout/IconCircleList"/>
    <dgm:cxn modelId="{B4CEC950-5F75-4F13-8EDC-BF92CF381CEC}" type="presParOf" srcId="{01FC4195-38A7-4528-8BC6-3D9B7147DC16}" destId="{FA1159EF-43FB-4CE9-BF7D-6BD1A0872293}" srcOrd="2" destOrd="0" presId="urn:microsoft.com/office/officeart/2018/2/layout/IconCircleList"/>
    <dgm:cxn modelId="{64189522-D836-4DF3-970D-7717E7A929F0}" type="presParOf" srcId="{01FC4195-38A7-4528-8BC6-3D9B7147DC16}" destId="{14A4939D-D7A7-4494-8313-8C19164BBAC7}"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CFF98593-A45B-4328-A88E-A1F348899567}"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55D28A3A-C72E-4C2A-8D18-9E8BDC0103AB}">
      <dgm:prSet/>
      <dgm:spPr/>
      <dgm:t>
        <a:bodyPr/>
        <a:lstStyle/>
        <a:p>
          <a:pPr>
            <a:defRPr cap="all"/>
          </a:pPr>
          <a:r>
            <a:rPr lang="en-US"/>
            <a:t>On the chart of account, we added company department, account, product, and project </a:t>
          </a:r>
        </a:p>
      </dgm:t>
    </dgm:pt>
    <dgm:pt modelId="{314C4DD2-36F8-4A3C-BBC3-2C9504645794}" type="parTrans" cxnId="{47C084DA-F7C9-4622-9A8F-4822229F4B06}">
      <dgm:prSet/>
      <dgm:spPr/>
      <dgm:t>
        <a:bodyPr/>
        <a:lstStyle/>
        <a:p>
          <a:endParaRPr lang="en-US"/>
        </a:p>
      </dgm:t>
    </dgm:pt>
    <dgm:pt modelId="{23175CC8-6A5B-430F-B3AD-BD57B7AB8262}" type="sibTrans" cxnId="{47C084DA-F7C9-4622-9A8F-4822229F4B06}">
      <dgm:prSet/>
      <dgm:spPr/>
      <dgm:t>
        <a:bodyPr/>
        <a:lstStyle/>
        <a:p>
          <a:endParaRPr lang="en-US"/>
        </a:p>
      </dgm:t>
    </dgm:pt>
    <dgm:pt modelId="{7494B651-FFA3-473D-9A7F-F8BAA715A15A}">
      <dgm:prSet/>
      <dgm:spPr/>
      <dgm:t>
        <a:bodyPr/>
        <a:lstStyle/>
        <a:p>
          <a:pPr>
            <a:defRPr cap="all"/>
          </a:pPr>
          <a:r>
            <a:rPr lang="en-US"/>
            <a:t>Click save then save and close.</a:t>
          </a:r>
        </a:p>
      </dgm:t>
    </dgm:pt>
    <dgm:pt modelId="{A1BB98A2-D1F5-4B6E-8817-911C60A6D59F}" type="parTrans" cxnId="{2186CA31-4345-4A43-A4B7-A96DF2102F40}">
      <dgm:prSet/>
      <dgm:spPr/>
      <dgm:t>
        <a:bodyPr/>
        <a:lstStyle/>
        <a:p>
          <a:endParaRPr lang="en-US"/>
        </a:p>
      </dgm:t>
    </dgm:pt>
    <dgm:pt modelId="{2FC3824F-D269-4876-B418-38A6C688C161}" type="sibTrans" cxnId="{2186CA31-4345-4A43-A4B7-A96DF2102F40}">
      <dgm:prSet/>
      <dgm:spPr/>
      <dgm:t>
        <a:bodyPr/>
        <a:lstStyle/>
        <a:p>
          <a:endParaRPr lang="en-US"/>
        </a:p>
      </dgm:t>
    </dgm:pt>
    <dgm:pt modelId="{A6471706-2F7B-47A9-A6E3-5E32FBBE317D}" type="pres">
      <dgm:prSet presAssocID="{CFF98593-A45B-4328-A88E-A1F348899567}" presName="root" presStyleCnt="0">
        <dgm:presLayoutVars>
          <dgm:dir/>
          <dgm:resizeHandles val="exact"/>
        </dgm:presLayoutVars>
      </dgm:prSet>
      <dgm:spPr/>
    </dgm:pt>
    <dgm:pt modelId="{040FF5A3-AF2B-43D2-8FCB-23A88D94D6D1}" type="pres">
      <dgm:prSet presAssocID="{55D28A3A-C72E-4C2A-8D18-9E8BDC0103AB}" presName="compNode" presStyleCnt="0"/>
      <dgm:spPr/>
    </dgm:pt>
    <dgm:pt modelId="{4E4EF5D9-C36F-4B7A-B6D6-3525C73DD026}" type="pres">
      <dgm:prSet presAssocID="{55D28A3A-C72E-4C2A-8D18-9E8BDC0103AB}" presName="iconBgRect" presStyleLbl="bgShp" presStyleIdx="0" presStyleCnt="2"/>
      <dgm:spPr>
        <a:prstGeom prst="round2DiagRect">
          <a:avLst>
            <a:gd name="adj1" fmla="val 29727"/>
            <a:gd name="adj2" fmla="val 0"/>
          </a:avLst>
        </a:prstGeom>
      </dgm:spPr>
    </dgm:pt>
    <dgm:pt modelId="{AD11C210-F92A-45B6-8D17-658F7AB30367}" type="pres">
      <dgm:prSet presAssocID="{55D28A3A-C72E-4C2A-8D18-9E8BDC0103AB}"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ignal"/>
        </a:ext>
      </dgm:extLst>
    </dgm:pt>
    <dgm:pt modelId="{F66B4528-8AC3-4AEA-BDFC-046025B4057B}" type="pres">
      <dgm:prSet presAssocID="{55D28A3A-C72E-4C2A-8D18-9E8BDC0103AB}" presName="spaceRect" presStyleCnt="0"/>
      <dgm:spPr/>
    </dgm:pt>
    <dgm:pt modelId="{F6AE2B67-39C3-4E65-B195-1C121DD8267A}" type="pres">
      <dgm:prSet presAssocID="{55D28A3A-C72E-4C2A-8D18-9E8BDC0103AB}" presName="textRect" presStyleLbl="revTx" presStyleIdx="0" presStyleCnt="2">
        <dgm:presLayoutVars>
          <dgm:chMax val="1"/>
          <dgm:chPref val="1"/>
        </dgm:presLayoutVars>
      </dgm:prSet>
      <dgm:spPr/>
    </dgm:pt>
    <dgm:pt modelId="{49A5FC22-4D01-4EEA-B81D-6352E227CD63}" type="pres">
      <dgm:prSet presAssocID="{23175CC8-6A5B-430F-B3AD-BD57B7AB8262}" presName="sibTrans" presStyleCnt="0"/>
      <dgm:spPr/>
    </dgm:pt>
    <dgm:pt modelId="{056347DF-94C9-48CF-9F8A-01906BDB3298}" type="pres">
      <dgm:prSet presAssocID="{7494B651-FFA3-473D-9A7F-F8BAA715A15A}" presName="compNode" presStyleCnt="0"/>
      <dgm:spPr/>
    </dgm:pt>
    <dgm:pt modelId="{E68BC142-4526-4D00-86D9-41609EDB46BA}" type="pres">
      <dgm:prSet presAssocID="{7494B651-FFA3-473D-9A7F-F8BAA715A15A}" presName="iconBgRect" presStyleLbl="bgShp" presStyleIdx="1" presStyleCnt="2"/>
      <dgm:spPr>
        <a:prstGeom prst="round2DiagRect">
          <a:avLst>
            <a:gd name="adj1" fmla="val 29727"/>
            <a:gd name="adj2" fmla="val 0"/>
          </a:avLst>
        </a:prstGeom>
      </dgm:spPr>
    </dgm:pt>
    <dgm:pt modelId="{7043A359-D5FA-4630-A072-DB4B33F1D854}" type="pres">
      <dgm:prSet presAssocID="{7494B651-FFA3-473D-9A7F-F8BAA715A15A}"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ursor"/>
        </a:ext>
      </dgm:extLst>
    </dgm:pt>
    <dgm:pt modelId="{226352BC-B461-4E18-BB8E-7E7B6CE02935}" type="pres">
      <dgm:prSet presAssocID="{7494B651-FFA3-473D-9A7F-F8BAA715A15A}" presName="spaceRect" presStyleCnt="0"/>
      <dgm:spPr/>
    </dgm:pt>
    <dgm:pt modelId="{B886686B-495C-4FDB-8C06-FA57F62DF65F}" type="pres">
      <dgm:prSet presAssocID="{7494B651-FFA3-473D-9A7F-F8BAA715A15A}" presName="textRect" presStyleLbl="revTx" presStyleIdx="1" presStyleCnt="2">
        <dgm:presLayoutVars>
          <dgm:chMax val="1"/>
          <dgm:chPref val="1"/>
        </dgm:presLayoutVars>
      </dgm:prSet>
      <dgm:spPr/>
    </dgm:pt>
  </dgm:ptLst>
  <dgm:cxnLst>
    <dgm:cxn modelId="{18F0E10C-6CF3-4138-9D78-E4C69D6A2A8D}" type="presOf" srcId="{7494B651-FFA3-473D-9A7F-F8BAA715A15A}" destId="{B886686B-495C-4FDB-8C06-FA57F62DF65F}" srcOrd="0" destOrd="0" presId="urn:microsoft.com/office/officeart/2018/5/layout/IconLeafLabelList"/>
    <dgm:cxn modelId="{2186CA31-4345-4A43-A4B7-A96DF2102F40}" srcId="{CFF98593-A45B-4328-A88E-A1F348899567}" destId="{7494B651-FFA3-473D-9A7F-F8BAA715A15A}" srcOrd="1" destOrd="0" parTransId="{A1BB98A2-D1F5-4B6E-8817-911C60A6D59F}" sibTransId="{2FC3824F-D269-4876-B418-38A6C688C161}"/>
    <dgm:cxn modelId="{C4CB7F8A-2A55-4DC3-81C3-6FD7405C2554}" type="presOf" srcId="{55D28A3A-C72E-4C2A-8D18-9E8BDC0103AB}" destId="{F6AE2B67-39C3-4E65-B195-1C121DD8267A}" srcOrd="0" destOrd="0" presId="urn:microsoft.com/office/officeart/2018/5/layout/IconLeafLabelList"/>
    <dgm:cxn modelId="{47C084DA-F7C9-4622-9A8F-4822229F4B06}" srcId="{CFF98593-A45B-4328-A88E-A1F348899567}" destId="{55D28A3A-C72E-4C2A-8D18-9E8BDC0103AB}" srcOrd="0" destOrd="0" parTransId="{314C4DD2-36F8-4A3C-BBC3-2C9504645794}" sibTransId="{23175CC8-6A5B-430F-B3AD-BD57B7AB8262}"/>
    <dgm:cxn modelId="{C4A626F3-4817-4768-8CAD-B7A09EA74A15}" type="presOf" srcId="{CFF98593-A45B-4328-A88E-A1F348899567}" destId="{A6471706-2F7B-47A9-A6E3-5E32FBBE317D}" srcOrd="0" destOrd="0" presId="urn:microsoft.com/office/officeart/2018/5/layout/IconLeafLabelList"/>
    <dgm:cxn modelId="{7E14CB09-C717-44F1-89ED-DDC1F245E09A}" type="presParOf" srcId="{A6471706-2F7B-47A9-A6E3-5E32FBBE317D}" destId="{040FF5A3-AF2B-43D2-8FCB-23A88D94D6D1}" srcOrd="0" destOrd="0" presId="urn:microsoft.com/office/officeart/2018/5/layout/IconLeafLabelList"/>
    <dgm:cxn modelId="{5B45B2F8-A0E2-4371-B1E3-8919A559D5FB}" type="presParOf" srcId="{040FF5A3-AF2B-43D2-8FCB-23A88D94D6D1}" destId="{4E4EF5D9-C36F-4B7A-B6D6-3525C73DD026}" srcOrd="0" destOrd="0" presId="urn:microsoft.com/office/officeart/2018/5/layout/IconLeafLabelList"/>
    <dgm:cxn modelId="{59E994B4-C20F-40EE-A93E-CE85D61821FE}" type="presParOf" srcId="{040FF5A3-AF2B-43D2-8FCB-23A88D94D6D1}" destId="{AD11C210-F92A-45B6-8D17-658F7AB30367}" srcOrd="1" destOrd="0" presId="urn:microsoft.com/office/officeart/2018/5/layout/IconLeafLabelList"/>
    <dgm:cxn modelId="{9763A6EB-5627-4692-9636-400D4556F4F7}" type="presParOf" srcId="{040FF5A3-AF2B-43D2-8FCB-23A88D94D6D1}" destId="{F66B4528-8AC3-4AEA-BDFC-046025B4057B}" srcOrd="2" destOrd="0" presId="urn:microsoft.com/office/officeart/2018/5/layout/IconLeafLabelList"/>
    <dgm:cxn modelId="{0970C4D0-DBB6-487B-B9E3-B26F42D533BD}" type="presParOf" srcId="{040FF5A3-AF2B-43D2-8FCB-23A88D94D6D1}" destId="{F6AE2B67-39C3-4E65-B195-1C121DD8267A}" srcOrd="3" destOrd="0" presId="urn:microsoft.com/office/officeart/2018/5/layout/IconLeafLabelList"/>
    <dgm:cxn modelId="{475F9D7F-7A65-4856-95D8-B5EBDDF1B07D}" type="presParOf" srcId="{A6471706-2F7B-47A9-A6E3-5E32FBBE317D}" destId="{49A5FC22-4D01-4EEA-B81D-6352E227CD63}" srcOrd="1" destOrd="0" presId="urn:microsoft.com/office/officeart/2018/5/layout/IconLeafLabelList"/>
    <dgm:cxn modelId="{765FCA3F-8876-40AF-B5BD-B715234B764D}" type="presParOf" srcId="{A6471706-2F7B-47A9-A6E3-5E32FBBE317D}" destId="{056347DF-94C9-48CF-9F8A-01906BDB3298}" srcOrd="2" destOrd="0" presId="urn:microsoft.com/office/officeart/2018/5/layout/IconLeafLabelList"/>
    <dgm:cxn modelId="{B17C27B7-FC31-4E70-A219-FFEB35DDABBC}" type="presParOf" srcId="{056347DF-94C9-48CF-9F8A-01906BDB3298}" destId="{E68BC142-4526-4D00-86D9-41609EDB46BA}" srcOrd="0" destOrd="0" presId="urn:microsoft.com/office/officeart/2018/5/layout/IconLeafLabelList"/>
    <dgm:cxn modelId="{B8565886-7444-4519-81D8-6E9F7E95326C}" type="presParOf" srcId="{056347DF-94C9-48CF-9F8A-01906BDB3298}" destId="{7043A359-D5FA-4630-A072-DB4B33F1D854}" srcOrd="1" destOrd="0" presId="urn:microsoft.com/office/officeart/2018/5/layout/IconLeafLabelList"/>
    <dgm:cxn modelId="{9487B0A7-A536-4190-8B0E-817C4209196B}" type="presParOf" srcId="{056347DF-94C9-48CF-9F8A-01906BDB3298}" destId="{226352BC-B461-4E18-BB8E-7E7B6CE02935}" srcOrd="2" destOrd="0" presId="urn:microsoft.com/office/officeart/2018/5/layout/IconLeafLabelList"/>
    <dgm:cxn modelId="{147A4149-0CC8-4475-9549-0D080338CBCD}" type="presParOf" srcId="{056347DF-94C9-48CF-9F8A-01906BDB3298}" destId="{B886686B-495C-4FDB-8C06-FA57F62DF65F}"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325D73-9736-41BA-ABA2-66441319CC15}">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699C7E-C4AE-4A78-AF79-51D0D70C8362}">
      <dsp:nvSpPr>
        <dsp:cNvPr id="0" name=""/>
        <dsp:cNvSpPr/>
      </dsp:nvSpPr>
      <dsp:spPr>
        <a:xfrm>
          <a:off x="375988" y="28019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211661-5F69-49CB-9046-7F90A1403F90}">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Open the </a:t>
          </a:r>
          <a:r>
            <a:rPr lang="en-US" sz="2500" b="1" kern="1200"/>
            <a:t>Settings and Actions</a:t>
          </a:r>
          <a:r>
            <a:rPr lang="en-US" sz="2500" kern="1200"/>
            <a:t> menu from the user avatar on the Oracle Fusion home page.</a:t>
          </a:r>
        </a:p>
      </dsp:txBody>
      <dsp:txXfrm>
        <a:off x="1435590" y="531"/>
        <a:ext cx="9080009" cy="1242935"/>
      </dsp:txXfrm>
    </dsp:sp>
    <dsp:sp modelId="{82FCD40D-659F-45C8-AB33-5F20756467C7}">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296626-E3A8-49F2-82AD-D384FBDECE36}">
      <dsp:nvSpPr>
        <dsp:cNvPr id="0" name=""/>
        <dsp:cNvSpPr/>
      </dsp:nvSpPr>
      <dsp:spPr>
        <a:xfrm>
          <a:off x="375988" y="183386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CE8C34-1B45-4A98-A067-4F129A930334}">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Select </a:t>
          </a:r>
          <a:r>
            <a:rPr lang="en-US" sz="2500" b="1" kern="1200"/>
            <a:t>Setup and Maintenance</a:t>
          </a:r>
          <a:r>
            <a:rPr lang="en-US" sz="2500" kern="1200"/>
            <a:t> to launch the Functional Setup Manager.</a:t>
          </a:r>
        </a:p>
      </dsp:txBody>
      <dsp:txXfrm>
        <a:off x="1435590" y="1554201"/>
        <a:ext cx="9080009" cy="1242935"/>
      </dsp:txXfrm>
    </dsp:sp>
    <dsp:sp modelId="{1B1893C8-CE93-4F22-A301-C6CA48A1B6D2}">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07FC36-D3D2-4C24-95C4-B3B8A1D14B13}">
      <dsp:nvSpPr>
        <dsp:cNvPr id="0" name=""/>
        <dsp:cNvSpPr/>
      </dsp:nvSpPr>
      <dsp:spPr>
        <a:xfrm>
          <a:off x="375988" y="338753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486E6C-EB81-4B64-88DE-299D8FFFA518}">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A setup role (for example, Application Implementation Consultant) is required to see this option</a:t>
          </a:r>
        </a:p>
      </dsp:txBody>
      <dsp:txXfrm>
        <a:off x="1435590" y="3107870"/>
        <a:ext cx="9080009" cy="12429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A620F2-2D7D-457F-9A6D-6F618B9A6159}">
      <dsp:nvSpPr>
        <dsp:cNvPr id="0" name=""/>
        <dsp:cNvSpPr/>
      </dsp:nvSpPr>
      <dsp:spPr>
        <a:xfrm>
          <a:off x="0"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57EB90-E469-4AB9-A287-EBFFF5BF94E5}">
      <dsp:nvSpPr>
        <dsp:cNvPr id="0" name=""/>
        <dsp:cNvSpPr/>
      </dsp:nvSpPr>
      <dsp:spPr>
        <a:xfrm>
          <a:off x="341494"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In the </a:t>
          </a:r>
          <a:r>
            <a:rPr lang="en-US" sz="2200" b="1" kern="1200"/>
            <a:t>Setup: Financials</a:t>
          </a:r>
          <a:r>
            <a:rPr lang="en-US" sz="2200" kern="1200"/>
            <a:t> offering, select the </a:t>
          </a:r>
          <a:r>
            <a:rPr lang="en-US" sz="2200" b="1" kern="1200"/>
            <a:t>General Ledger</a:t>
          </a:r>
          <a:r>
            <a:rPr lang="en-US" sz="2200" kern="1200"/>
            <a:t> functional area from the left panel.</a:t>
          </a:r>
        </a:p>
      </dsp:txBody>
      <dsp:txXfrm>
        <a:off x="398656" y="1088253"/>
        <a:ext cx="2959127" cy="1837317"/>
      </dsp:txXfrm>
    </dsp:sp>
    <dsp:sp modelId="{3C9F6573-6AF4-4F59-832F-4A402B97E015}">
      <dsp:nvSpPr>
        <dsp:cNvPr id="0" name=""/>
        <dsp:cNvSpPr/>
      </dsp:nvSpPr>
      <dsp:spPr>
        <a:xfrm>
          <a:off x="3756441"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F8447A-136F-44D6-82FF-D407D9D46463}">
      <dsp:nvSpPr>
        <dsp:cNvPr id="0" name=""/>
        <dsp:cNvSpPr/>
      </dsp:nvSpPr>
      <dsp:spPr>
        <a:xfrm>
          <a:off x="4097935"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The default </a:t>
          </a:r>
          <a:r>
            <a:rPr lang="en-US" sz="2200" b="1" kern="1200"/>
            <a:t>Required Tasks</a:t>
          </a:r>
          <a:r>
            <a:rPr lang="en-US" sz="2200" kern="1200"/>
            <a:t> filter shows only mandatory tasks.</a:t>
          </a:r>
        </a:p>
      </dsp:txBody>
      <dsp:txXfrm>
        <a:off x="4155097" y="1088253"/>
        <a:ext cx="2959127" cy="1837317"/>
      </dsp:txXfrm>
    </dsp:sp>
    <dsp:sp modelId="{05B9BDD8-A66E-4F79-A1DA-97889B34B358}">
      <dsp:nvSpPr>
        <dsp:cNvPr id="0" name=""/>
        <dsp:cNvSpPr/>
      </dsp:nvSpPr>
      <dsp:spPr>
        <a:xfrm>
          <a:off x="7512882"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CED099-5522-41DD-9BF7-81B5026E438F}">
      <dsp:nvSpPr>
        <dsp:cNvPr id="0" name=""/>
        <dsp:cNvSpPr/>
      </dsp:nvSpPr>
      <dsp:spPr>
        <a:xfrm>
          <a:off x="7854377"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Switch the </a:t>
          </a:r>
          <a:r>
            <a:rPr lang="en-US" sz="2200" b="1" kern="1200"/>
            <a:t>Show</a:t>
          </a:r>
          <a:r>
            <a:rPr lang="en-US" sz="2200" kern="1200"/>
            <a:t> filter to </a:t>
          </a:r>
          <a:r>
            <a:rPr lang="en-US" sz="2200" b="1" kern="1200"/>
            <a:t>All Tasks</a:t>
          </a:r>
          <a:r>
            <a:rPr lang="en-US" sz="2200" kern="1200"/>
            <a:t> to display the complete list of GL setup tasks.</a:t>
          </a:r>
        </a:p>
      </dsp:txBody>
      <dsp:txXfrm>
        <a:off x="7911539" y="1088253"/>
        <a:ext cx="2959127" cy="183731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ACEBCA-5AEC-4072-B587-47FF0F961C57}">
      <dsp:nvSpPr>
        <dsp:cNvPr id="0" name=""/>
        <dsp:cNvSpPr/>
      </dsp:nvSpPr>
      <dsp:spPr>
        <a:xfrm>
          <a:off x="1333" y="110983"/>
          <a:ext cx="4682211" cy="297320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B713F0-249F-4F80-83ED-7A64C5978B23}">
      <dsp:nvSpPr>
        <dsp:cNvPr id="0" name=""/>
        <dsp:cNvSpPr/>
      </dsp:nvSpPr>
      <dsp:spPr>
        <a:xfrm>
          <a:off x="521579" y="605216"/>
          <a:ext cx="4682211" cy="297320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With </a:t>
          </a:r>
          <a:r>
            <a:rPr lang="en-US" sz="3300" b="1" kern="1200"/>
            <a:t>All Tasks</a:t>
          </a:r>
          <a:r>
            <a:rPr lang="en-US" sz="3300" kern="1200"/>
            <a:t> displayed, scroll the task list to the journal configuration tasks.</a:t>
          </a:r>
        </a:p>
      </dsp:txBody>
      <dsp:txXfrm>
        <a:off x="608661" y="692298"/>
        <a:ext cx="4508047" cy="2799040"/>
      </dsp:txXfrm>
    </dsp:sp>
    <dsp:sp modelId="{EDF716BA-A658-4594-B1B0-39919A9E93FE}">
      <dsp:nvSpPr>
        <dsp:cNvPr id="0" name=""/>
        <dsp:cNvSpPr/>
      </dsp:nvSpPr>
      <dsp:spPr>
        <a:xfrm>
          <a:off x="5724037" y="110983"/>
          <a:ext cx="4682211" cy="297320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D49415-B48E-4955-B66C-3D975A4FB0D5}">
      <dsp:nvSpPr>
        <dsp:cNvPr id="0" name=""/>
        <dsp:cNvSpPr/>
      </dsp:nvSpPr>
      <dsp:spPr>
        <a:xfrm>
          <a:off x="6244283" y="605216"/>
          <a:ext cx="4682211" cy="297320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Select </a:t>
          </a:r>
          <a:r>
            <a:rPr lang="en-US" sz="3300" b="1" kern="1200"/>
            <a:t>Manage Journal Categories</a:t>
          </a:r>
          <a:r>
            <a:rPr lang="en-US" sz="3300" kern="1200"/>
            <a:t>, located next to Manage Journal Sources and Manage Journal Approval Rules.</a:t>
          </a:r>
        </a:p>
      </dsp:txBody>
      <dsp:txXfrm>
        <a:off x="6331365" y="692298"/>
        <a:ext cx="4508047" cy="27990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18D822-0ACE-4823-B4F0-4314011D22DE}">
      <dsp:nvSpPr>
        <dsp:cNvPr id="0" name=""/>
        <dsp:cNvSpPr/>
      </dsp:nvSpPr>
      <dsp:spPr>
        <a:xfrm>
          <a:off x="1333" y="630795"/>
          <a:ext cx="4855627" cy="242781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45720" rIns="68580" bIns="45720" numCol="1" spcCol="1270" anchor="ctr" anchorCtr="0">
          <a:noAutofit/>
        </a:bodyPr>
        <a:lstStyle/>
        <a:p>
          <a:pPr marL="0" lvl="0" indent="0" algn="ctr" defTabSz="1600200">
            <a:lnSpc>
              <a:spcPct val="90000"/>
            </a:lnSpc>
            <a:spcBef>
              <a:spcPct val="0"/>
            </a:spcBef>
            <a:spcAft>
              <a:spcPct val="35000"/>
            </a:spcAft>
            <a:buNone/>
          </a:pPr>
          <a:r>
            <a:rPr lang="en-US" sz="3600" kern="1200"/>
            <a:t>Open </a:t>
          </a:r>
          <a:r>
            <a:rPr lang="en-US" sz="3600" b="1" kern="1200"/>
            <a:t>Settings and Actions</a:t>
          </a:r>
          <a:r>
            <a:rPr lang="en-US" sz="3600" kern="1200"/>
            <a:t> and select </a:t>
          </a:r>
          <a:r>
            <a:rPr lang="en-US" sz="3600" b="1" kern="1200"/>
            <a:t>Setup and Maintenance</a:t>
          </a:r>
          <a:r>
            <a:rPr lang="en-US" sz="3600" kern="1200"/>
            <a:t>.</a:t>
          </a:r>
        </a:p>
      </dsp:txBody>
      <dsp:txXfrm>
        <a:off x="72441" y="701903"/>
        <a:ext cx="4713411" cy="2285597"/>
      </dsp:txXfrm>
    </dsp:sp>
    <dsp:sp modelId="{DEE5D0F0-5696-4923-8507-2BBC2F5D4FD5}">
      <dsp:nvSpPr>
        <dsp:cNvPr id="0" name=""/>
        <dsp:cNvSpPr/>
      </dsp:nvSpPr>
      <dsp:spPr>
        <a:xfrm>
          <a:off x="6070867" y="630795"/>
          <a:ext cx="4855627" cy="242781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45720" rIns="68580" bIns="45720" numCol="1" spcCol="1270" anchor="ctr" anchorCtr="0">
          <a:noAutofit/>
        </a:bodyPr>
        <a:lstStyle/>
        <a:p>
          <a:pPr marL="0" lvl="0" indent="0" algn="ctr" defTabSz="1600200">
            <a:lnSpc>
              <a:spcPct val="90000"/>
            </a:lnSpc>
            <a:spcBef>
              <a:spcPct val="0"/>
            </a:spcBef>
            <a:spcAft>
              <a:spcPct val="35000"/>
            </a:spcAft>
            <a:buNone/>
          </a:pPr>
          <a:r>
            <a:rPr lang="en-US" sz="3600" kern="1200"/>
            <a:t>This opens the Functional Setup Manager used to reach all configuration tasks.</a:t>
          </a:r>
        </a:p>
      </dsp:txBody>
      <dsp:txXfrm>
        <a:off x="6141975" y="701903"/>
        <a:ext cx="4713411" cy="228559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1D9B28-2670-4766-A85F-BAF1D5F610CB}">
      <dsp:nvSpPr>
        <dsp:cNvPr id="0" name=""/>
        <dsp:cNvSpPr/>
      </dsp:nvSpPr>
      <dsp:spPr>
        <a:xfrm>
          <a:off x="1333" y="882495"/>
          <a:ext cx="4855627" cy="2427813"/>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43180" rIns="64770" bIns="43180" numCol="1" spcCol="1270" anchor="ctr" anchorCtr="0">
          <a:noAutofit/>
        </a:bodyPr>
        <a:lstStyle/>
        <a:p>
          <a:pPr marL="0" lvl="0" indent="0" algn="ctr" defTabSz="1511300">
            <a:lnSpc>
              <a:spcPct val="90000"/>
            </a:lnSpc>
            <a:spcBef>
              <a:spcPct val="0"/>
            </a:spcBef>
            <a:spcAft>
              <a:spcPct val="35000"/>
            </a:spcAft>
            <a:buNone/>
          </a:pPr>
          <a:r>
            <a:rPr lang="en-US" sz="3400" kern="1200"/>
            <a:t>Select the </a:t>
          </a:r>
          <a:r>
            <a:rPr lang="en-US" sz="3400" b="1" kern="1200"/>
            <a:t>General Ledger</a:t>
          </a:r>
          <a:r>
            <a:rPr lang="en-US" sz="3400" kern="1200"/>
            <a:t> functional area in the </a:t>
          </a:r>
          <a:r>
            <a:rPr lang="en-US" sz="3400" b="1" kern="1200"/>
            <a:t>Setup: Financials</a:t>
          </a:r>
          <a:r>
            <a:rPr lang="en-US" sz="3400" kern="1200"/>
            <a:t> offering.</a:t>
          </a:r>
        </a:p>
      </dsp:txBody>
      <dsp:txXfrm>
        <a:off x="72441" y="953603"/>
        <a:ext cx="4713411" cy="2285597"/>
      </dsp:txXfrm>
    </dsp:sp>
    <dsp:sp modelId="{192E8CBE-4C7B-4A1A-8D3F-EAB788ED0DFB}">
      <dsp:nvSpPr>
        <dsp:cNvPr id="0" name=""/>
        <dsp:cNvSpPr/>
      </dsp:nvSpPr>
      <dsp:spPr>
        <a:xfrm>
          <a:off x="6070867" y="882495"/>
          <a:ext cx="4855627" cy="2427813"/>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43180" rIns="64770" bIns="43180" numCol="1" spcCol="1270" anchor="ctr" anchorCtr="0">
          <a:noAutofit/>
        </a:bodyPr>
        <a:lstStyle/>
        <a:p>
          <a:pPr marL="0" lvl="0" indent="0" algn="ctr" defTabSz="1511300">
            <a:lnSpc>
              <a:spcPct val="90000"/>
            </a:lnSpc>
            <a:spcBef>
              <a:spcPct val="0"/>
            </a:spcBef>
            <a:spcAft>
              <a:spcPct val="35000"/>
            </a:spcAft>
            <a:buNone/>
          </a:pPr>
          <a:r>
            <a:rPr lang="en-US" sz="3400" kern="1200"/>
            <a:t>With </a:t>
          </a:r>
          <a:r>
            <a:rPr lang="en-US" sz="3400" b="1" kern="1200"/>
            <a:t>All Tasks</a:t>
          </a:r>
          <a:r>
            <a:rPr lang="en-US" sz="3400" kern="1200"/>
            <a:t> displayed, open </a:t>
          </a:r>
          <a:r>
            <a:rPr lang="en-US" sz="3400" b="1" kern="1200"/>
            <a:t>Manage Accounting and Reporting Sequences</a:t>
          </a:r>
          <a:endParaRPr lang="en-US" sz="3400" kern="1200"/>
        </a:p>
      </dsp:txBody>
      <dsp:txXfrm>
        <a:off x="6141975" y="953603"/>
        <a:ext cx="4713411" cy="228559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CC11E8-5C2E-4EBD-B42C-B645DF15D260}">
      <dsp:nvSpPr>
        <dsp:cNvPr id="0" name=""/>
        <dsp:cNvSpPr/>
      </dsp:nvSpPr>
      <dsp:spPr>
        <a:xfrm>
          <a:off x="205509" y="1640565"/>
          <a:ext cx="911674" cy="91167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B8B6BC-B0B0-4F76-ADAC-D341A6C0D533}">
      <dsp:nvSpPr>
        <dsp:cNvPr id="0" name=""/>
        <dsp:cNvSpPr/>
      </dsp:nvSpPr>
      <dsp:spPr>
        <a:xfrm>
          <a:off x="396960" y="1832017"/>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0E8C7B-298D-4BF4-B259-7AB985DD2FF8}">
      <dsp:nvSpPr>
        <dsp:cNvPr id="0" name=""/>
        <dsp:cNvSpPr/>
      </dsp:nvSpPr>
      <dsp:spPr>
        <a:xfrm>
          <a:off x="1312541" y="1640565"/>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The page has two tabs: </a:t>
          </a:r>
          <a:r>
            <a:rPr lang="en-US" sz="1600" b="1" kern="1200"/>
            <a:t>Sequences</a:t>
          </a:r>
          <a:r>
            <a:rPr lang="en-US" sz="1600" kern="1200"/>
            <a:t> and </a:t>
          </a:r>
          <a:r>
            <a:rPr lang="en-US" sz="1600" b="1" kern="1200"/>
            <a:t>Sequencing Assignments</a:t>
          </a:r>
          <a:r>
            <a:rPr lang="en-US" sz="1600" kern="1200"/>
            <a:t>.</a:t>
          </a:r>
        </a:p>
      </dsp:txBody>
      <dsp:txXfrm>
        <a:off x="1312541" y="1640565"/>
        <a:ext cx="2148945" cy="911674"/>
      </dsp:txXfrm>
    </dsp:sp>
    <dsp:sp modelId="{466BD90B-2D61-4188-B372-44954953E840}">
      <dsp:nvSpPr>
        <dsp:cNvPr id="0" name=""/>
        <dsp:cNvSpPr/>
      </dsp:nvSpPr>
      <dsp:spPr>
        <a:xfrm>
          <a:off x="3835925" y="1640565"/>
          <a:ext cx="911674" cy="91167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F9FB43-CD89-41D2-8B2A-5FF1DA3A7B77}">
      <dsp:nvSpPr>
        <dsp:cNvPr id="0" name=""/>
        <dsp:cNvSpPr/>
      </dsp:nvSpPr>
      <dsp:spPr>
        <a:xfrm>
          <a:off x="4027376" y="1832017"/>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B73FBA-FBA0-4B56-905F-9A5E54F54CF0}">
      <dsp:nvSpPr>
        <dsp:cNvPr id="0" name=""/>
        <dsp:cNvSpPr/>
      </dsp:nvSpPr>
      <dsp:spPr>
        <a:xfrm>
          <a:off x="4942957" y="1640565"/>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The </a:t>
          </a:r>
          <a:r>
            <a:rPr lang="en-US" sz="1600" b="1" kern="1200"/>
            <a:t>Sequences</a:t>
          </a:r>
          <a:r>
            <a:rPr lang="en-US" sz="1600" kern="1200"/>
            <a:t> tab lists existing sequences with their Name, Description and Status.</a:t>
          </a:r>
        </a:p>
      </dsp:txBody>
      <dsp:txXfrm>
        <a:off x="4942957" y="1640565"/>
        <a:ext cx="2148945" cy="911674"/>
      </dsp:txXfrm>
    </dsp:sp>
    <dsp:sp modelId="{AFF4867E-FD5C-40B6-9BA9-1037DA8F6FE3}">
      <dsp:nvSpPr>
        <dsp:cNvPr id="0" name=""/>
        <dsp:cNvSpPr/>
      </dsp:nvSpPr>
      <dsp:spPr>
        <a:xfrm>
          <a:off x="7466341" y="1640565"/>
          <a:ext cx="911674" cy="91167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84CE09-CD35-41D0-BA63-36B8B4217CD6}">
      <dsp:nvSpPr>
        <dsp:cNvPr id="0" name=""/>
        <dsp:cNvSpPr/>
      </dsp:nvSpPr>
      <dsp:spPr>
        <a:xfrm>
          <a:off x="7657792" y="1832017"/>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B44364-F68F-47DB-B118-E35DD3D07407}">
      <dsp:nvSpPr>
        <dsp:cNvPr id="0" name=""/>
        <dsp:cNvSpPr/>
      </dsp:nvSpPr>
      <dsp:spPr>
        <a:xfrm>
          <a:off x="8573374" y="1640565"/>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Click </a:t>
          </a:r>
          <a:r>
            <a:rPr lang="en-US" sz="1600" b="1" kern="1200"/>
            <a:t>Create (+)</a:t>
          </a:r>
          <a:r>
            <a:rPr lang="en-US" sz="1600" kern="1200"/>
            <a:t> to define a new sequence.</a:t>
          </a:r>
        </a:p>
      </dsp:txBody>
      <dsp:txXfrm>
        <a:off x="8573374" y="1640565"/>
        <a:ext cx="2148945" cy="91167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35CD7F-8497-44EE-8F07-ECDE77EE9FA8}">
      <dsp:nvSpPr>
        <dsp:cNvPr id="0" name=""/>
        <dsp:cNvSpPr/>
      </dsp:nvSpPr>
      <dsp:spPr>
        <a:xfrm>
          <a:off x="1333"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5FCDC0-AA67-4333-AE8F-7029A3B28CB1}">
      <dsp:nvSpPr>
        <dsp:cNvPr id="0" name=""/>
        <dsp:cNvSpPr/>
      </dsp:nvSpPr>
      <dsp:spPr>
        <a:xfrm>
          <a:off x="521579"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The grid shows the assignment attributes: </a:t>
          </a:r>
          <a:r>
            <a:rPr lang="en-US" sz="2800" b="1" kern="1200"/>
            <a:t>Ledger</a:t>
          </a:r>
          <a:r>
            <a:rPr lang="en-US" sz="2800" kern="1200"/>
            <a:t>, </a:t>
          </a:r>
          <a:r>
            <a:rPr lang="en-US" sz="2800" b="1" kern="1200"/>
            <a:t>Legal Entity</a:t>
          </a:r>
          <a:r>
            <a:rPr lang="en-US" sz="2800" kern="1200"/>
            <a:t>, </a:t>
          </a:r>
          <a:r>
            <a:rPr lang="en-US" sz="2800" b="1" kern="1200"/>
            <a:t>Journal Entry Type</a:t>
          </a:r>
          <a:r>
            <a:rPr lang="en-US" sz="2800" kern="1200"/>
            <a:t>, </a:t>
          </a:r>
          <a:r>
            <a:rPr lang="en-US" sz="2800" b="1" kern="1200"/>
            <a:t>Sequencing Event</a:t>
          </a:r>
          <a:r>
            <a:rPr lang="en-US" sz="2800" kern="1200"/>
            <a:t> and </a:t>
          </a:r>
          <a:r>
            <a:rPr lang="en-US" sz="2800" b="1" kern="1200"/>
            <a:t>Sequence Validation Date</a:t>
          </a:r>
          <a:r>
            <a:rPr lang="en-US" sz="2800" kern="1200"/>
            <a:t>.</a:t>
          </a:r>
        </a:p>
      </dsp:txBody>
      <dsp:txXfrm>
        <a:off x="608661" y="692298"/>
        <a:ext cx="4508047" cy="2799040"/>
      </dsp:txXfrm>
    </dsp:sp>
    <dsp:sp modelId="{88844430-3BE0-457D-911C-425DD35E0B45}">
      <dsp:nvSpPr>
        <dsp:cNvPr id="0" name=""/>
        <dsp:cNvSpPr/>
      </dsp:nvSpPr>
      <dsp:spPr>
        <a:xfrm>
          <a:off x="5724037"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702012-C84D-422F-B13C-E432496B8342}">
      <dsp:nvSpPr>
        <dsp:cNvPr id="0" name=""/>
        <dsp:cNvSpPr/>
      </dsp:nvSpPr>
      <dsp:spPr>
        <a:xfrm>
          <a:off x="6244283"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Click </a:t>
          </a:r>
          <a:r>
            <a:rPr lang="en-US" sz="2800" b="1" kern="1200"/>
            <a:t>Create (+)</a:t>
          </a:r>
          <a:r>
            <a:rPr lang="en-US" sz="2800" kern="1200"/>
            <a:t> to add a new sequencing assignment.</a:t>
          </a:r>
        </a:p>
      </dsp:txBody>
      <dsp:txXfrm>
        <a:off x="6331365" y="692298"/>
        <a:ext cx="4508047" cy="279904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48C898-AB94-43D4-A50C-D13EDD3FF6D6}">
      <dsp:nvSpPr>
        <dsp:cNvPr id="0" name=""/>
        <dsp:cNvSpPr/>
      </dsp:nvSpPr>
      <dsp:spPr>
        <a:xfrm>
          <a:off x="0" y="162549"/>
          <a:ext cx="10515600" cy="95471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Change the </a:t>
          </a:r>
          <a:r>
            <a:rPr lang="en-US" sz="2400" b="1" kern="1200"/>
            <a:t>Sequencing Event</a:t>
          </a:r>
          <a:r>
            <a:rPr lang="en-US" sz="2400" kern="1200"/>
            <a:t> to </a:t>
          </a:r>
          <a:r>
            <a:rPr lang="en-US" sz="2400" b="1" kern="1200"/>
            <a:t>Period Close</a:t>
          </a:r>
          <a:r>
            <a:rPr lang="en-US" sz="2400" kern="1200"/>
            <a:t> to sequence journals when the period is closed.</a:t>
          </a:r>
        </a:p>
      </dsp:txBody>
      <dsp:txXfrm>
        <a:off x="46606" y="209155"/>
        <a:ext cx="10422388" cy="861507"/>
      </dsp:txXfrm>
    </dsp:sp>
    <dsp:sp modelId="{0FDCA883-58D3-4DF8-A8DE-4FF0C74BEB39}">
      <dsp:nvSpPr>
        <dsp:cNvPr id="0" name=""/>
        <dsp:cNvSpPr/>
      </dsp:nvSpPr>
      <dsp:spPr>
        <a:xfrm>
          <a:off x="0" y="1186389"/>
          <a:ext cx="10515600" cy="95471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The </a:t>
          </a:r>
          <a:r>
            <a:rPr lang="en-US" sz="2400" b="1" kern="1200"/>
            <a:t>Fiscal Balancing Segment Values</a:t>
          </a:r>
          <a:r>
            <a:rPr lang="en-US" sz="2400" kern="1200"/>
            <a:t> region lists the balancing segments, 10 (Nile Smart Systems) and 20 (Nile Smart Factory), flagged as </a:t>
          </a:r>
          <a:r>
            <a:rPr lang="en-US" sz="2400" b="1" kern="1200"/>
            <a:t>Fiscal</a:t>
          </a:r>
          <a:r>
            <a:rPr lang="en-US" sz="2400" kern="1200"/>
            <a:t>.</a:t>
          </a:r>
        </a:p>
      </dsp:txBody>
      <dsp:txXfrm>
        <a:off x="46606" y="1232995"/>
        <a:ext cx="10422388" cy="861507"/>
      </dsp:txXfrm>
    </dsp:sp>
    <dsp:sp modelId="{F6A0AB98-3E24-4F8D-B71E-2AA197E403FC}">
      <dsp:nvSpPr>
        <dsp:cNvPr id="0" name=""/>
        <dsp:cNvSpPr/>
      </dsp:nvSpPr>
      <dsp:spPr>
        <a:xfrm>
          <a:off x="0" y="2210229"/>
          <a:ext cx="10515600" cy="95471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The same sequence and control attributes (Journal Source = All, Journal Category = NSS_Category) are associated.</a:t>
          </a:r>
        </a:p>
      </dsp:txBody>
      <dsp:txXfrm>
        <a:off x="46606" y="2256835"/>
        <a:ext cx="10422388" cy="861507"/>
      </dsp:txXfrm>
    </dsp:sp>
    <dsp:sp modelId="{E280B4F9-779E-4167-9801-C107630AB2C1}">
      <dsp:nvSpPr>
        <dsp:cNvPr id="0" name=""/>
        <dsp:cNvSpPr/>
      </dsp:nvSpPr>
      <dsp:spPr>
        <a:xfrm>
          <a:off x="0" y="3234069"/>
          <a:ext cx="10515600" cy="95471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Click </a:t>
          </a:r>
          <a:r>
            <a:rPr lang="en-US" sz="2400" b="1" kern="1200"/>
            <a:t>Save and Close</a:t>
          </a:r>
          <a:r>
            <a:rPr lang="en-US" sz="2400" kern="1200"/>
            <a:t> to complete the assignment.</a:t>
          </a:r>
        </a:p>
      </dsp:txBody>
      <dsp:txXfrm>
        <a:off x="46606" y="3280675"/>
        <a:ext cx="10422388" cy="86150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FFAEFE-AE35-4AF8-8E5D-BE6CE37F2964}">
      <dsp:nvSpPr>
        <dsp:cNvPr id="0" name=""/>
        <dsp:cNvSpPr/>
      </dsp:nvSpPr>
      <dsp:spPr>
        <a:xfrm>
          <a:off x="251090" y="1689162"/>
          <a:ext cx="1355917" cy="13559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8BA470-A20E-43BA-A1DD-DFC5E31CC278}">
      <dsp:nvSpPr>
        <dsp:cNvPr id="0" name=""/>
        <dsp:cNvSpPr/>
      </dsp:nvSpPr>
      <dsp:spPr>
        <a:xfrm>
          <a:off x="535832" y="1973905"/>
          <a:ext cx="786432" cy="78643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2A882C-A8A2-4C71-84A3-91049EEF57AF}">
      <dsp:nvSpPr>
        <dsp:cNvPr id="0" name=""/>
        <dsp:cNvSpPr/>
      </dsp:nvSpPr>
      <dsp:spPr>
        <a:xfrm>
          <a:off x="1897561" y="1689162"/>
          <a:ext cx="3196091" cy="1355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t>From the </a:t>
          </a:r>
          <a:r>
            <a:rPr lang="en-US" sz="1800" b="1" kern="1200"/>
            <a:t>General Accounting</a:t>
          </a:r>
          <a:r>
            <a:rPr lang="en-US" sz="1800" kern="1200"/>
            <a:t> home page, use </a:t>
          </a:r>
          <a:r>
            <a:rPr lang="en-US" sz="1800" b="1" kern="1200"/>
            <a:t>Quick Actions</a:t>
          </a:r>
          <a:r>
            <a:rPr lang="en-US" sz="1800" kern="1200"/>
            <a:t> (Manage Journals, Create Journal) or the </a:t>
          </a:r>
          <a:r>
            <a:rPr lang="en-US" sz="1800" b="1" kern="1200"/>
            <a:t>Journals</a:t>
          </a:r>
          <a:r>
            <a:rPr lang="en-US" sz="1800" kern="1200"/>
            <a:t> app tile.</a:t>
          </a:r>
        </a:p>
      </dsp:txBody>
      <dsp:txXfrm>
        <a:off x="1897561" y="1689162"/>
        <a:ext cx="3196091" cy="1355917"/>
      </dsp:txXfrm>
    </dsp:sp>
    <dsp:sp modelId="{0FB9F38E-78E2-4382-ACB3-E6C604FE6767}">
      <dsp:nvSpPr>
        <dsp:cNvPr id="0" name=""/>
        <dsp:cNvSpPr/>
      </dsp:nvSpPr>
      <dsp:spPr>
        <a:xfrm>
          <a:off x="5650547" y="1689162"/>
          <a:ext cx="1355917" cy="13559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7632D4-3F9B-4B8F-BA13-8A3736BE9ED0}">
      <dsp:nvSpPr>
        <dsp:cNvPr id="0" name=""/>
        <dsp:cNvSpPr/>
      </dsp:nvSpPr>
      <dsp:spPr>
        <a:xfrm>
          <a:off x="5935290" y="1973905"/>
          <a:ext cx="786432" cy="78643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81E9E0-98D8-48BB-A2D0-40F95E3140A9}">
      <dsp:nvSpPr>
        <dsp:cNvPr id="0" name=""/>
        <dsp:cNvSpPr/>
      </dsp:nvSpPr>
      <dsp:spPr>
        <a:xfrm>
          <a:off x="7297018" y="1689162"/>
          <a:ext cx="3196091" cy="1355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t>The </a:t>
          </a:r>
          <a:r>
            <a:rPr lang="en-US" sz="1800" b="1" kern="1200"/>
            <a:t>Journals</a:t>
          </a:r>
          <a:r>
            <a:rPr lang="en-US" sz="1800" kern="1200"/>
            <a:t> work area is the entry point for journal entry, import and posting tasks</a:t>
          </a:r>
        </a:p>
      </dsp:txBody>
      <dsp:txXfrm>
        <a:off x="7297018" y="1689162"/>
        <a:ext cx="3196091" cy="135591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50A758-1DEC-4575-A0B6-ADF1E7280E66}">
      <dsp:nvSpPr>
        <dsp:cNvPr id="0" name=""/>
        <dsp:cNvSpPr/>
      </dsp:nvSpPr>
      <dsp:spPr>
        <a:xfrm>
          <a:off x="0"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966DD6-3F75-48D1-A8DC-8B19F8368959}">
      <dsp:nvSpPr>
        <dsp:cNvPr id="0" name=""/>
        <dsp:cNvSpPr/>
      </dsp:nvSpPr>
      <dsp:spPr>
        <a:xfrm>
          <a:off x="341494"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After the journals are completed, click Post to submit the posting process.</a:t>
          </a:r>
        </a:p>
      </dsp:txBody>
      <dsp:txXfrm>
        <a:off x="398656" y="1088253"/>
        <a:ext cx="2959127" cy="1837317"/>
      </dsp:txXfrm>
    </dsp:sp>
    <dsp:sp modelId="{521C7727-F69F-46D2-9817-401EF8913014}">
      <dsp:nvSpPr>
        <dsp:cNvPr id="0" name=""/>
        <dsp:cNvSpPr/>
      </dsp:nvSpPr>
      <dsp:spPr>
        <a:xfrm>
          <a:off x="3756441"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83E599-8B9C-4F41-BDCD-A7062D7A3A0B}">
      <dsp:nvSpPr>
        <dsp:cNvPr id="0" name=""/>
        <dsp:cNvSpPr/>
      </dsp:nvSpPr>
      <dsp:spPr>
        <a:xfrm>
          <a:off x="4097935"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The Confirmation message returns the process ID of the submitted job.</a:t>
          </a:r>
        </a:p>
      </dsp:txBody>
      <dsp:txXfrm>
        <a:off x="4155097" y="1088253"/>
        <a:ext cx="2959127" cy="1837317"/>
      </dsp:txXfrm>
    </dsp:sp>
    <dsp:sp modelId="{BDF526F1-D7D2-40F5-96EB-7A72D5BBB2D6}">
      <dsp:nvSpPr>
        <dsp:cNvPr id="0" name=""/>
        <dsp:cNvSpPr/>
      </dsp:nvSpPr>
      <dsp:spPr>
        <a:xfrm>
          <a:off x="7512882"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CDADB7-F0E7-4A97-B9EA-6AE01FCBB4E3}">
      <dsp:nvSpPr>
        <dsp:cNvPr id="0" name=""/>
        <dsp:cNvSpPr/>
      </dsp:nvSpPr>
      <dsp:spPr>
        <a:xfrm>
          <a:off x="7854377"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The Batch Status changes to Selected for posting and the Completion Status is Complete.</a:t>
          </a:r>
        </a:p>
      </dsp:txBody>
      <dsp:txXfrm>
        <a:off x="7911539" y="1088253"/>
        <a:ext cx="2959127" cy="183731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46137D-8C6B-4641-9B4F-A52C7EFAA333}">
      <dsp:nvSpPr>
        <dsp:cNvPr id="0" name=""/>
        <dsp:cNvSpPr/>
      </dsp:nvSpPr>
      <dsp:spPr>
        <a:xfrm>
          <a:off x="0" y="706671"/>
          <a:ext cx="3073451" cy="195164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8C276F-6EC5-4069-801F-0C07FD7B0954}">
      <dsp:nvSpPr>
        <dsp:cNvPr id="0" name=""/>
        <dsp:cNvSpPr/>
      </dsp:nvSpPr>
      <dsp:spPr>
        <a:xfrm>
          <a:off x="341494" y="10310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In Manage Journals, search by Accounting Period (Jan-26) to retrieve the batch.</a:t>
          </a:r>
        </a:p>
      </dsp:txBody>
      <dsp:txXfrm>
        <a:off x="398656" y="1088253"/>
        <a:ext cx="2959127" cy="1837317"/>
      </dsp:txXfrm>
    </dsp:sp>
    <dsp:sp modelId="{94971B0B-15EF-4341-BE40-4532644483B9}">
      <dsp:nvSpPr>
        <dsp:cNvPr id="0" name=""/>
        <dsp:cNvSpPr/>
      </dsp:nvSpPr>
      <dsp:spPr>
        <a:xfrm>
          <a:off x="3756441" y="706671"/>
          <a:ext cx="3073451" cy="195164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05B9A5-A4A2-446C-BC5E-7F9D3BBA92B6}">
      <dsp:nvSpPr>
        <dsp:cNvPr id="0" name=""/>
        <dsp:cNvSpPr/>
      </dsp:nvSpPr>
      <dsp:spPr>
        <a:xfrm>
          <a:off x="4097935" y="10310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All three journals under NSS_Batch 1 show Batch Status = Posted.</a:t>
          </a:r>
        </a:p>
      </dsp:txBody>
      <dsp:txXfrm>
        <a:off x="4155097" y="1088253"/>
        <a:ext cx="2959127" cy="1837317"/>
      </dsp:txXfrm>
    </dsp:sp>
    <dsp:sp modelId="{37E1650F-FA09-4652-9A91-6D9D8AD97E4D}">
      <dsp:nvSpPr>
        <dsp:cNvPr id="0" name=""/>
        <dsp:cNvSpPr/>
      </dsp:nvSpPr>
      <dsp:spPr>
        <a:xfrm>
          <a:off x="7512882" y="706671"/>
          <a:ext cx="3073451" cy="195164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98A36C-B670-4CE7-829C-20DA19304690}">
      <dsp:nvSpPr>
        <dsp:cNvPr id="0" name=""/>
        <dsp:cNvSpPr/>
      </dsp:nvSpPr>
      <dsp:spPr>
        <a:xfrm>
          <a:off x="7854377" y="10310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Journal Entered Debit equals Journal Entered Credit for each journal (10,000, 20,000 and 10,000 EGP).</a:t>
          </a:r>
        </a:p>
      </dsp:txBody>
      <dsp:txXfrm>
        <a:off x="7911539" y="1088253"/>
        <a:ext cx="2959127" cy="183731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4B1EC4-A5A5-4C20-A5C6-09D63D448B4D}">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F815BD-B6B4-4CF7-AC3A-5ADFDE92FD4E}">
      <dsp:nvSpPr>
        <dsp:cNvPr id="0" name=""/>
        <dsp:cNvSpPr/>
      </dsp:nvSpPr>
      <dsp:spPr>
        <a:xfrm>
          <a:off x="375988" y="28019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9ED285-38C1-4EDE-B2E8-4BBA3BB551D9}">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77900">
            <a:lnSpc>
              <a:spcPct val="100000"/>
            </a:lnSpc>
            <a:spcBef>
              <a:spcPct val="0"/>
            </a:spcBef>
            <a:spcAft>
              <a:spcPct val="35000"/>
            </a:spcAft>
            <a:buNone/>
          </a:pPr>
          <a:r>
            <a:rPr lang="en-US" sz="2200" kern="1200"/>
            <a:t>Create the batch header (NSS Batch 2, Accounting Period Feb-26) and the journal (Journal 1, Accounting Date 2/28/2026, Category Accrual).</a:t>
          </a:r>
        </a:p>
      </dsp:txBody>
      <dsp:txXfrm>
        <a:off x="1435590" y="531"/>
        <a:ext cx="9080009" cy="1242935"/>
      </dsp:txXfrm>
    </dsp:sp>
    <dsp:sp modelId="{697D3ADC-5275-44CC-8140-0F2E7377065D}">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B8A506-F26E-403A-9C2B-DBFB099C6F28}">
      <dsp:nvSpPr>
        <dsp:cNvPr id="0" name=""/>
        <dsp:cNvSpPr/>
      </dsp:nvSpPr>
      <dsp:spPr>
        <a:xfrm>
          <a:off x="375988" y="183386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055BA6-143F-43D6-9438-E93DD32C02DF}">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77900">
            <a:lnSpc>
              <a:spcPct val="100000"/>
            </a:lnSpc>
            <a:spcBef>
              <a:spcPct val="0"/>
            </a:spcBef>
            <a:spcAft>
              <a:spcPct val="35000"/>
            </a:spcAft>
            <a:buNone/>
          </a:pPr>
          <a:r>
            <a:rPr lang="en-US" sz="2200" kern="1200"/>
            <a:t>Enter the Journal Lines: line 1 debit 80,000.00 and line 2 credit 80,000.00 in EGP.</a:t>
          </a:r>
        </a:p>
      </dsp:txBody>
      <dsp:txXfrm>
        <a:off x="1435590" y="1554201"/>
        <a:ext cx="9080009" cy="1242935"/>
      </dsp:txXfrm>
    </dsp:sp>
    <dsp:sp modelId="{5E5E60F3-4878-47A1-B1D2-BA75BD28A05C}">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CBE7BF-EB09-484A-98C5-E045B6E0DAE4}">
      <dsp:nvSpPr>
        <dsp:cNvPr id="0" name=""/>
        <dsp:cNvSpPr/>
      </dsp:nvSpPr>
      <dsp:spPr>
        <a:xfrm>
          <a:off x="375988" y="338753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E86310-A212-4D6F-BEE7-05AB9A879148}">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77900">
            <a:lnSpc>
              <a:spcPct val="100000"/>
            </a:lnSpc>
            <a:spcBef>
              <a:spcPct val="0"/>
            </a:spcBef>
            <a:spcAft>
              <a:spcPct val="35000"/>
            </a:spcAft>
            <a:buNone/>
          </a:pPr>
          <a:r>
            <a:rPr lang="en-US" sz="2200" kern="1200"/>
            <a:t>The Total row confirms that debits equal credits before the journal is completed.</a:t>
          </a:r>
        </a:p>
      </dsp:txBody>
      <dsp:txXfrm>
        <a:off x="1435590" y="3107870"/>
        <a:ext cx="9080009" cy="124293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878A9C-CBF3-46E9-A018-EE58BCCB26C6}">
      <dsp:nvSpPr>
        <dsp:cNvPr id="0" name=""/>
        <dsp:cNvSpPr/>
      </dsp:nvSpPr>
      <dsp:spPr>
        <a:xfrm>
          <a:off x="282221" y="1410409"/>
          <a:ext cx="1371985" cy="13719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DBC7E1-D0A2-4F51-9202-CD46F39814A0}">
      <dsp:nvSpPr>
        <dsp:cNvPr id="0" name=""/>
        <dsp:cNvSpPr/>
      </dsp:nvSpPr>
      <dsp:spPr>
        <a:xfrm>
          <a:off x="570337" y="1698526"/>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8531CC8-0C52-4486-83AC-D9E84473C796}">
      <dsp:nvSpPr>
        <dsp:cNvPr id="0" name=""/>
        <dsp:cNvSpPr/>
      </dsp:nvSpPr>
      <dsp:spPr>
        <a:xfrm>
          <a:off x="1948202" y="141040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Return to the </a:t>
          </a:r>
          <a:r>
            <a:rPr lang="en-US" sz="2400" b="1" kern="1200"/>
            <a:t>Journals</a:t>
          </a:r>
          <a:r>
            <a:rPr lang="en-US" sz="2400" kern="1200"/>
            <a:t> page and open the </a:t>
          </a:r>
          <a:r>
            <a:rPr lang="en-US" sz="2400" b="1" kern="1200"/>
            <a:t>Tasks</a:t>
          </a:r>
          <a:r>
            <a:rPr lang="en-US" sz="2400" kern="1200"/>
            <a:t> panel.</a:t>
          </a:r>
        </a:p>
      </dsp:txBody>
      <dsp:txXfrm>
        <a:off x="1948202" y="1410409"/>
        <a:ext cx="3233964" cy="1371985"/>
      </dsp:txXfrm>
    </dsp:sp>
    <dsp:sp modelId="{4C651223-2D50-4202-BC90-46A54783214A}">
      <dsp:nvSpPr>
        <dsp:cNvPr id="0" name=""/>
        <dsp:cNvSpPr/>
      </dsp:nvSpPr>
      <dsp:spPr>
        <a:xfrm>
          <a:off x="5745661" y="1410409"/>
          <a:ext cx="1371985" cy="13719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7E8B3B-74E6-4C37-A753-C98F81FD0FF0}">
      <dsp:nvSpPr>
        <dsp:cNvPr id="0" name=""/>
        <dsp:cNvSpPr/>
      </dsp:nvSpPr>
      <dsp:spPr>
        <a:xfrm>
          <a:off x="6033778" y="1698526"/>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C5B04C-9E59-44F7-B59F-21896B755616}">
      <dsp:nvSpPr>
        <dsp:cNvPr id="0" name=""/>
        <dsp:cNvSpPr/>
      </dsp:nvSpPr>
      <dsp:spPr>
        <a:xfrm>
          <a:off x="7411643" y="141040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Select </a:t>
          </a:r>
          <a:r>
            <a:rPr lang="en-US" sz="2400" b="1" kern="1200"/>
            <a:t>Manage Journals</a:t>
          </a:r>
          <a:r>
            <a:rPr lang="en-US" sz="2400" kern="1200"/>
            <a:t> to search for posted journals.</a:t>
          </a:r>
        </a:p>
      </dsp:txBody>
      <dsp:txXfrm>
        <a:off x="7411643" y="1410409"/>
        <a:ext cx="3233964" cy="1371985"/>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57409F-6BC0-481F-A92C-74BF6CE223A9}">
      <dsp:nvSpPr>
        <dsp:cNvPr id="0" name=""/>
        <dsp:cNvSpPr/>
      </dsp:nvSpPr>
      <dsp:spPr>
        <a:xfrm>
          <a:off x="0"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84AB59-BFE9-4884-8982-77DD77C7F88A}">
      <dsp:nvSpPr>
        <dsp:cNvPr id="0" name=""/>
        <dsp:cNvSpPr/>
      </dsp:nvSpPr>
      <dsp:spPr>
        <a:xfrm>
          <a:off x="341494"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Set </a:t>
          </a:r>
          <a:r>
            <a:rPr lang="en-US" sz="2300" b="1" kern="1200"/>
            <a:t>Accounting Period</a:t>
          </a:r>
          <a:r>
            <a:rPr lang="en-US" sz="2300" kern="1200"/>
            <a:t> to Feb-26 and click </a:t>
          </a:r>
          <a:r>
            <a:rPr lang="en-US" sz="2300" b="1" kern="1200"/>
            <a:t>Search</a:t>
          </a:r>
          <a:r>
            <a:rPr lang="en-US" sz="2300" kern="1200"/>
            <a:t>.</a:t>
          </a:r>
        </a:p>
      </dsp:txBody>
      <dsp:txXfrm>
        <a:off x="398656" y="1088253"/>
        <a:ext cx="2959127" cy="1837317"/>
      </dsp:txXfrm>
    </dsp:sp>
    <dsp:sp modelId="{D1EA397E-72AB-403D-9012-BC60EE151C4F}">
      <dsp:nvSpPr>
        <dsp:cNvPr id="0" name=""/>
        <dsp:cNvSpPr/>
      </dsp:nvSpPr>
      <dsp:spPr>
        <a:xfrm>
          <a:off x="3756441"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DA9961-CDC0-4CB8-ADAC-7F439F4EE097}">
      <dsp:nvSpPr>
        <dsp:cNvPr id="0" name=""/>
        <dsp:cNvSpPr/>
      </dsp:nvSpPr>
      <dsp:spPr>
        <a:xfrm>
          <a:off x="4097935"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Journal 1 in NSS Batch 2 is returned with </a:t>
          </a:r>
          <a:r>
            <a:rPr lang="en-US" sz="2300" b="1" kern="1200"/>
            <a:t>Batch Status</a:t>
          </a:r>
          <a:r>
            <a:rPr lang="en-US" sz="2300" kern="1200"/>
            <a:t> = </a:t>
          </a:r>
          <a:r>
            <a:rPr lang="en-US" sz="2300" b="1" kern="1200"/>
            <a:t>Posted</a:t>
          </a:r>
          <a:r>
            <a:rPr lang="en-US" sz="2300" kern="1200"/>
            <a:t> and amounts of 80,000.00 EGP.</a:t>
          </a:r>
        </a:p>
      </dsp:txBody>
      <dsp:txXfrm>
        <a:off x="4155097" y="1088253"/>
        <a:ext cx="2959127" cy="1837317"/>
      </dsp:txXfrm>
    </dsp:sp>
    <dsp:sp modelId="{CDD06100-7F02-46E1-8663-E9C4B88DF92B}">
      <dsp:nvSpPr>
        <dsp:cNvPr id="0" name=""/>
        <dsp:cNvSpPr/>
      </dsp:nvSpPr>
      <dsp:spPr>
        <a:xfrm>
          <a:off x="7512882"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4FABD5-9C4E-4E67-80BB-9EFF96AE1218}">
      <dsp:nvSpPr>
        <dsp:cNvPr id="0" name=""/>
        <dsp:cNvSpPr/>
      </dsp:nvSpPr>
      <dsp:spPr>
        <a:xfrm>
          <a:off x="7854377"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Only posted batches are eligible for reversal.</a:t>
          </a:r>
        </a:p>
      </dsp:txBody>
      <dsp:txXfrm>
        <a:off x="7911539" y="1088253"/>
        <a:ext cx="2959127" cy="183731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3FCFD7-96E0-44EA-BBF2-BEEFBE3A7328}">
      <dsp:nvSpPr>
        <dsp:cNvPr id="0" name=""/>
        <dsp:cNvSpPr/>
      </dsp:nvSpPr>
      <dsp:spPr>
        <a:xfrm>
          <a:off x="2250914" y="44702"/>
          <a:ext cx="2196000" cy="2196000"/>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38F98F-FE93-4D92-8393-1D7D11FF31C4}">
      <dsp:nvSpPr>
        <dsp:cNvPr id="0" name=""/>
        <dsp:cNvSpPr/>
      </dsp:nvSpPr>
      <dsp:spPr>
        <a:xfrm>
          <a:off x="2718914" y="512702"/>
          <a:ext cx="1260000" cy="126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BBCD91-B1FC-453E-BFB9-20B4BFCC7397}">
      <dsp:nvSpPr>
        <dsp:cNvPr id="0" name=""/>
        <dsp:cNvSpPr/>
      </dsp:nvSpPr>
      <dsp:spPr>
        <a:xfrm>
          <a:off x="1548914" y="2924702"/>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Select the posted journal row in the results table.</a:t>
          </a:r>
        </a:p>
      </dsp:txBody>
      <dsp:txXfrm>
        <a:off x="1548914" y="2924702"/>
        <a:ext cx="3600000" cy="720000"/>
      </dsp:txXfrm>
    </dsp:sp>
    <dsp:sp modelId="{7A3893C9-4F3F-461E-878F-502E988617F9}">
      <dsp:nvSpPr>
        <dsp:cNvPr id="0" name=""/>
        <dsp:cNvSpPr/>
      </dsp:nvSpPr>
      <dsp:spPr>
        <a:xfrm>
          <a:off x="6480914" y="44702"/>
          <a:ext cx="2196000" cy="2196000"/>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687872-A9FE-41A2-B024-180C656CF2EB}">
      <dsp:nvSpPr>
        <dsp:cNvPr id="0" name=""/>
        <dsp:cNvSpPr/>
      </dsp:nvSpPr>
      <dsp:spPr>
        <a:xfrm>
          <a:off x="6948914" y="512702"/>
          <a:ext cx="1260000" cy="126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A25313-8946-475C-84E7-59E967679E44}">
      <dsp:nvSpPr>
        <dsp:cNvPr id="0" name=""/>
        <dsp:cNvSpPr/>
      </dsp:nvSpPr>
      <dsp:spPr>
        <a:xfrm>
          <a:off x="5778914" y="2924702"/>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The Reverse Batch button becomes available; click it to start the reversal.</a:t>
          </a:r>
        </a:p>
      </dsp:txBody>
      <dsp:txXfrm>
        <a:off x="5778914" y="2924702"/>
        <a:ext cx="3600000" cy="72000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B85202-7709-468E-9B70-6E212271B481}">
      <dsp:nvSpPr>
        <dsp:cNvPr id="0" name=""/>
        <dsp:cNvSpPr/>
      </dsp:nvSpPr>
      <dsp:spPr>
        <a:xfrm>
          <a:off x="0"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FE5B5A-F0FC-4E16-B47E-DD421781B316}">
      <dsp:nvSpPr>
        <dsp:cNvPr id="0" name=""/>
        <dsp:cNvSpPr/>
      </dsp:nvSpPr>
      <dsp:spPr>
        <a:xfrm>
          <a:off x="324326"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The Reverse Journal Batch window captures optional batch-level reversal information.</a:t>
          </a:r>
        </a:p>
      </dsp:txBody>
      <dsp:txXfrm>
        <a:off x="378614" y="886531"/>
        <a:ext cx="2810360" cy="1744948"/>
      </dsp:txXfrm>
    </dsp:sp>
    <dsp:sp modelId="{07C049B9-6CE3-4C2D-B4CA-020875C6054D}">
      <dsp:nvSpPr>
        <dsp:cNvPr id="0" name=""/>
        <dsp:cNvSpPr/>
      </dsp:nvSpPr>
      <dsp:spPr>
        <a:xfrm>
          <a:off x="3567588"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1BF710-03D0-4331-ACAF-260006AA6666}">
      <dsp:nvSpPr>
        <dsp:cNvPr id="0" name=""/>
        <dsp:cNvSpPr/>
      </dsp:nvSpPr>
      <dsp:spPr>
        <a:xfrm>
          <a:off x="3891915"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Batch-level values override anything defined at the journal level.</a:t>
          </a:r>
        </a:p>
      </dsp:txBody>
      <dsp:txXfrm>
        <a:off x="3946203" y="886531"/>
        <a:ext cx="2810360" cy="1744948"/>
      </dsp:txXfrm>
    </dsp:sp>
    <dsp:sp modelId="{9814C4FC-8C60-43BD-9C75-0A3197852776}">
      <dsp:nvSpPr>
        <dsp:cNvPr id="0" name=""/>
        <dsp:cNvSpPr/>
      </dsp:nvSpPr>
      <dsp:spPr>
        <a:xfrm>
          <a:off x="7135177"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43E09A-7B6D-4C4F-8C4B-F8964DE718B8}">
      <dsp:nvSpPr>
        <dsp:cNvPr id="0" name=""/>
        <dsp:cNvSpPr/>
      </dsp:nvSpPr>
      <dsp:spPr>
        <a:xfrm>
          <a:off x="7459503"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Two fields must be completed: Reversal Period and Reversal Method.</a:t>
          </a:r>
        </a:p>
      </dsp:txBody>
      <dsp:txXfrm>
        <a:off x="7513791" y="886531"/>
        <a:ext cx="2810360" cy="174494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4797A9-E473-4905-911F-614B33CBD80B}">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0C4D13-A838-44F4-AE85-E6771A661875}">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The Confirmation message states that the process was submitted.</a:t>
          </a:r>
        </a:p>
      </dsp:txBody>
      <dsp:txXfrm>
        <a:off x="696297" y="538547"/>
        <a:ext cx="4171627" cy="2590157"/>
      </dsp:txXfrm>
    </dsp:sp>
    <dsp:sp modelId="{BBD545D7-5040-4299-811F-6075C9AB32F7}">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439C90-20BB-4A3B-93E1-7B7368B9D3E1}">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The reversal runs as a scheduled process and generates the reversal journal in the selected period</a:t>
          </a:r>
        </a:p>
      </dsp:txBody>
      <dsp:txXfrm>
        <a:off x="5991936" y="538547"/>
        <a:ext cx="4171627" cy="2590157"/>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69BD9B-721A-44F2-83C6-B30B405681A9}">
      <dsp:nvSpPr>
        <dsp:cNvPr id="0" name=""/>
        <dsp:cNvSpPr/>
      </dsp:nvSpPr>
      <dsp:spPr>
        <a:xfrm>
          <a:off x="0"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63DC0B-79B3-4EF0-8970-192B29390905}">
      <dsp:nvSpPr>
        <dsp:cNvPr id="0" name=""/>
        <dsp:cNvSpPr/>
      </dsp:nvSpPr>
      <dsp:spPr>
        <a:xfrm>
          <a:off x="324326"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Search Accounting Period Mar-26 and click Search.</a:t>
          </a:r>
        </a:p>
      </dsp:txBody>
      <dsp:txXfrm>
        <a:off x="378614" y="886531"/>
        <a:ext cx="2810360" cy="1744948"/>
      </dsp:txXfrm>
    </dsp:sp>
    <dsp:sp modelId="{9FC3A3ED-61BD-4DA0-85F3-5B7E717C965B}">
      <dsp:nvSpPr>
        <dsp:cNvPr id="0" name=""/>
        <dsp:cNvSpPr/>
      </dsp:nvSpPr>
      <dsp:spPr>
        <a:xfrm>
          <a:off x="3567588"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CDA0EA-833F-447F-BBEC-003F6623F2D3}">
      <dsp:nvSpPr>
        <dsp:cNvPr id="0" name=""/>
        <dsp:cNvSpPr/>
      </dsp:nvSpPr>
      <dsp:spPr>
        <a:xfrm>
          <a:off x="3891915"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The system-generated journal, named "Reverses Journal 1 …", appears with 80,000.00 EGP debit and credit.</a:t>
          </a:r>
        </a:p>
      </dsp:txBody>
      <dsp:txXfrm>
        <a:off x="3946203" y="886531"/>
        <a:ext cx="2810360" cy="1744948"/>
      </dsp:txXfrm>
    </dsp:sp>
    <dsp:sp modelId="{49DF724E-2826-476D-93F4-DF431D3336EB}">
      <dsp:nvSpPr>
        <dsp:cNvPr id="0" name=""/>
        <dsp:cNvSpPr/>
      </dsp:nvSpPr>
      <dsp:spPr>
        <a:xfrm>
          <a:off x="7135177"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67BF3B-C006-43BD-8A02-E2E5719CC18B}">
      <dsp:nvSpPr>
        <dsp:cNvPr id="0" name=""/>
        <dsp:cNvSpPr/>
      </dsp:nvSpPr>
      <dsp:spPr>
        <a:xfrm>
          <a:off x="7459503"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Its Batch Status is Unposted; post the batch to complete the reversal</a:t>
          </a:r>
        </a:p>
      </dsp:txBody>
      <dsp:txXfrm>
        <a:off x="7513791" y="886531"/>
        <a:ext cx="2810360" cy="1744948"/>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D6521C-E479-49FA-AFB6-6E18DC7CD67B}">
      <dsp:nvSpPr>
        <dsp:cNvPr id="0" name=""/>
        <dsp:cNvSpPr/>
      </dsp:nvSpPr>
      <dsp:spPr>
        <a:xfrm>
          <a:off x="134291" y="612"/>
          <a:ext cx="4332795" cy="2751325"/>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194150-5694-48E8-BDBB-015CB7AC1C8C}">
      <dsp:nvSpPr>
        <dsp:cNvPr id="0" name=""/>
        <dsp:cNvSpPr/>
      </dsp:nvSpPr>
      <dsp:spPr>
        <a:xfrm>
          <a:off x="615713" y="457963"/>
          <a:ext cx="4332795" cy="2751325"/>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Open Settings and Actions and select Setup and Maintenance.</a:t>
          </a:r>
        </a:p>
      </dsp:txBody>
      <dsp:txXfrm>
        <a:off x="696297" y="538547"/>
        <a:ext cx="4171627" cy="2590157"/>
      </dsp:txXfrm>
    </dsp:sp>
    <dsp:sp modelId="{CACE7D2D-829E-488B-B93F-EF8D71CE6443}">
      <dsp:nvSpPr>
        <dsp:cNvPr id="0" name=""/>
        <dsp:cNvSpPr/>
      </dsp:nvSpPr>
      <dsp:spPr>
        <a:xfrm>
          <a:off x="5429930" y="612"/>
          <a:ext cx="4332795" cy="2751325"/>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BA646D-7BD6-40B7-9CEA-029523860992}">
      <dsp:nvSpPr>
        <dsp:cNvPr id="0" name=""/>
        <dsp:cNvSpPr/>
      </dsp:nvSpPr>
      <dsp:spPr>
        <a:xfrm>
          <a:off x="5911352" y="457963"/>
          <a:ext cx="4332795" cy="2751325"/>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This launches the Functional Setup Manager for the Financials offering.</a:t>
          </a:r>
        </a:p>
      </dsp:txBody>
      <dsp:txXfrm>
        <a:off x="5991936" y="538547"/>
        <a:ext cx="4171627" cy="2590157"/>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8192D8-5A9E-4752-B41F-88CC1089D41C}">
      <dsp:nvSpPr>
        <dsp:cNvPr id="0" name=""/>
        <dsp:cNvSpPr/>
      </dsp:nvSpPr>
      <dsp:spPr>
        <a:xfrm>
          <a:off x="1333" y="1064333"/>
          <a:ext cx="3121474" cy="156073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a:t>Select the Intercompany functional area in Setup: Financials.</a:t>
          </a:r>
        </a:p>
      </dsp:txBody>
      <dsp:txXfrm>
        <a:off x="47045" y="1110045"/>
        <a:ext cx="3030050" cy="1469313"/>
      </dsp:txXfrm>
    </dsp:sp>
    <dsp:sp modelId="{932DCB15-816D-414A-A18A-8E5342434267}">
      <dsp:nvSpPr>
        <dsp:cNvPr id="0" name=""/>
        <dsp:cNvSpPr/>
      </dsp:nvSpPr>
      <dsp:spPr>
        <a:xfrm>
          <a:off x="3903177" y="1064333"/>
          <a:ext cx="3121474" cy="156073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a:t>The task list includes Manage Intercompany Organizations and Manage Intercompany Organization Data Access for Users.</a:t>
          </a:r>
        </a:p>
      </dsp:txBody>
      <dsp:txXfrm>
        <a:off x="3948889" y="1110045"/>
        <a:ext cx="3030050" cy="1469313"/>
      </dsp:txXfrm>
    </dsp:sp>
    <dsp:sp modelId="{566E7B63-858A-4DB4-BFC7-C72D9BC67C3F}">
      <dsp:nvSpPr>
        <dsp:cNvPr id="0" name=""/>
        <dsp:cNvSpPr/>
      </dsp:nvSpPr>
      <dsp:spPr>
        <a:xfrm>
          <a:off x="7805020" y="1064333"/>
          <a:ext cx="3121474" cy="156073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a:t>Open Manage Intercompany Balancing Rules.</a:t>
          </a:r>
        </a:p>
      </dsp:txBody>
      <dsp:txXfrm>
        <a:off x="7850732" y="1110045"/>
        <a:ext cx="3030050" cy="1469313"/>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488571-FC54-4C12-A7B4-E629881D8AAD}">
      <dsp:nvSpPr>
        <dsp:cNvPr id="0" name=""/>
        <dsp:cNvSpPr/>
      </dsp:nvSpPr>
      <dsp:spPr>
        <a:xfrm>
          <a:off x="1333"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520AEB-74CC-4745-85BC-7505C79D9204}">
      <dsp:nvSpPr>
        <dsp:cNvPr id="0" name=""/>
        <dsp:cNvSpPr/>
      </dsp:nvSpPr>
      <dsp:spPr>
        <a:xfrm>
          <a:off x="521579"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t>Both rules (10 to 20 and 20 to 10) are listed under Primary Segment Rules with a Start Date of 1/1/26.</a:t>
          </a:r>
        </a:p>
      </dsp:txBody>
      <dsp:txXfrm>
        <a:off x="608661" y="692298"/>
        <a:ext cx="4508047" cy="2799040"/>
      </dsp:txXfrm>
    </dsp:sp>
    <dsp:sp modelId="{E98F443A-B29D-4BCB-A3DB-DC4B007E2696}">
      <dsp:nvSpPr>
        <dsp:cNvPr id="0" name=""/>
        <dsp:cNvSpPr/>
      </dsp:nvSpPr>
      <dsp:spPr>
        <a:xfrm>
          <a:off x="5724037"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07D979-1EB4-4FE6-8911-6EA75E813298}">
      <dsp:nvSpPr>
        <dsp:cNvPr id="0" name=""/>
        <dsp:cNvSpPr/>
      </dsp:nvSpPr>
      <dsp:spPr>
        <a:xfrm>
          <a:off x="6244283"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t>The receivables account of one rule is the payables account of its reciprocal rule.</a:t>
          </a:r>
        </a:p>
      </dsp:txBody>
      <dsp:txXfrm>
        <a:off x="6331365" y="692298"/>
        <a:ext cx="4508047" cy="279904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4E9C-FB18-41B4-9427-C3153CCFAAC5}">
      <dsp:nvSpPr>
        <dsp:cNvPr id="0" name=""/>
        <dsp:cNvSpPr/>
      </dsp:nvSpPr>
      <dsp:spPr>
        <a:xfrm>
          <a:off x="1333" y="882495"/>
          <a:ext cx="4855627" cy="2427813"/>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44450" rIns="66675" bIns="44450" numCol="1" spcCol="1270" anchor="ctr" anchorCtr="0">
          <a:noAutofit/>
        </a:bodyPr>
        <a:lstStyle/>
        <a:p>
          <a:pPr marL="0" lvl="0" indent="0" algn="ctr" defTabSz="1555750">
            <a:lnSpc>
              <a:spcPct val="90000"/>
            </a:lnSpc>
            <a:spcBef>
              <a:spcPct val="0"/>
            </a:spcBef>
            <a:spcAft>
              <a:spcPct val="35000"/>
            </a:spcAft>
            <a:buNone/>
          </a:pPr>
          <a:r>
            <a:rPr lang="en-US" sz="3500" kern="1200"/>
            <a:t>Click Post to submit the posting process; the Confirmation message returns the process ID.</a:t>
          </a:r>
        </a:p>
      </dsp:txBody>
      <dsp:txXfrm>
        <a:off x="72441" y="953603"/>
        <a:ext cx="4713411" cy="2285597"/>
      </dsp:txXfrm>
    </dsp:sp>
    <dsp:sp modelId="{40EF473E-1C62-4F8A-962F-3A4937CB57B6}">
      <dsp:nvSpPr>
        <dsp:cNvPr id="0" name=""/>
        <dsp:cNvSpPr/>
      </dsp:nvSpPr>
      <dsp:spPr>
        <a:xfrm>
          <a:off x="6070867" y="882495"/>
          <a:ext cx="4855627" cy="2427813"/>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44450" rIns="66675" bIns="44450" numCol="1" spcCol="1270" anchor="ctr" anchorCtr="0">
          <a:noAutofit/>
        </a:bodyPr>
        <a:lstStyle/>
        <a:p>
          <a:pPr marL="0" lvl="0" indent="0" algn="ctr" defTabSz="1555750">
            <a:lnSpc>
              <a:spcPct val="90000"/>
            </a:lnSpc>
            <a:spcBef>
              <a:spcPct val="0"/>
            </a:spcBef>
            <a:spcAft>
              <a:spcPct val="35000"/>
            </a:spcAft>
            <a:buNone/>
          </a:pPr>
          <a:r>
            <a:rPr lang="en-US" sz="3500" kern="1200"/>
            <a:t>The Batch Status is Selected for posting and the Completion Status is Complete.</a:t>
          </a:r>
        </a:p>
      </dsp:txBody>
      <dsp:txXfrm>
        <a:off x="6141975" y="953603"/>
        <a:ext cx="4713411" cy="2285597"/>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747009-E1C8-412B-BD08-8B20896DC8DD}">
      <dsp:nvSpPr>
        <dsp:cNvPr id="0" name=""/>
        <dsp:cNvSpPr/>
      </dsp:nvSpPr>
      <dsp:spPr>
        <a:xfrm>
          <a:off x="0" y="682"/>
          <a:ext cx="6245265" cy="159656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310428-23ED-4D38-BA7D-3C61B4820431}">
      <dsp:nvSpPr>
        <dsp:cNvPr id="0" name=""/>
        <dsp:cNvSpPr/>
      </dsp:nvSpPr>
      <dsp:spPr>
        <a:xfrm>
          <a:off x="482961" y="359909"/>
          <a:ext cx="878111" cy="87811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6C68838-466D-4498-A31E-0A2D1A7CE14D}">
      <dsp:nvSpPr>
        <dsp:cNvPr id="0" name=""/>
        <dsp:cNvSpPr/>
      </dsp:nvSpPr>
      <dsp:spPr>
        <a:xfrm>
          <a:off x="1844034" y="682"/>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800100">
            <a:lnSpc>
              <a:spcPct val="90000"/>
            </a:lnSpc>
            <a:spcBef>
              <a:spcPct val="0"/>
            </a:spcBef>
            <a:spcAft>
              <a:spcPct val="35000"/>
            </a:spcAft>
            <a:buNone/>
          </a:pPr>
          <a:r>
            <a:rPr lang="en-US" sz="1800" kern="1200"/>
            <a:t>Search Accounting Period Apr-26 and click Search.</a:t>
          </a:r>
        </a:p>
      </dsp:txBody>
      <dsp:txXfrm>
        <a:off x="1844034" y="682"/>
        <a:ext cx="4401230" cy="1596566"/>
      </dsp:txXfrm>
    </dsp:sp>
    <dsp:sp modelId="{BD424F9F-4CFE-4388-A544-758FB35845CC}">
      <dsp:nvSpPr>
        <dsp:cNvPr id="0" name=""/>
        <dsp:cNvSpPr/>
      </dsp:nvSpPr>
      <dsp:spPr>
        <a:xfrm>
          <a:off x="0" y="1996390"/>
          <a:ext cx="6245265" cy="159656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59619A-5A35-4194-8DD0-8EA4101968A3}">
      <dsp:nvSpPr>
        <dsp:cNvPr id="0" name=""/>
        <dsp:cNvSpPr/>
      </dsp:nvSpPr>
      <dsp:spPr>
        <a:xfrm>
          <a:off x="482961" y="2355617"/>
          <a:ext cx="878111" cy="87811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6E8135-4C5E-4332-A61D-74AD600EFD89}">
      <dsp:nvSpPr>
        <dsp:cNvPr id="0" name=""/>
        <dsp:cNvSpPr/>
      </dsp:nvSpPr>
      <dsp:spPr>
        <a:xfrm>
          <a:off x="1844034" y="1996390"/>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800100">
            <a:lnSpc>
              <a:spcPct val="90000"/>
            </a:lnSpc>
            <a:spcBef>
              <a:spcPct val="0"/>
            </a:spcBef>
            <a:spcAft>
              <a:spcPct val="35000"/>
            </a:spcAft>
            <a:buNone/>
          </a:pPr>
          <a:r>
            <a:rPr lang="en-US" sz="1800" kern="1200"/>
            <a:t>The Batch Status is Posted.</a:t>
          </a:r>
        </a:p>
      </dsp:txBody>
      <dsp:txXfrm>
        <a:off x="1844034" y="1996390"/>
        <a:ext cx="4401230" cy="1596566"/>
      </dsp:txXfrm>
    </dsp:sp>
    <dsp:sp modelId="{7F8D1323-C006-4C3F-9081-56FE943ECA32}">
      <dsp:nvSpPr>
        <dsp:cNvPr id="0" name=""/>
        <dsp:cNvSpPr/>
      </dsp:nvSpPr>
      <dsp:spPr>
        <a:xfrm>
          <a:off x="0" y="3992098"/>
          <a:ext cx="6245265" cy="159656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7C6428-419A-4F22-B738-C6E36CD7CB34}">
      <dsp:nvSpPr>
        <dsp:cNvPr id="0" name=""/>
        <dsp:cNvSpPr/>
      </dsp:nvSpPr>
      <dsp:spPr>
        <a:xfrm>
          <a:off x="482961" y="4351325"/>
          <a:ext cx="878111" cy="87811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0F191E-D057-4648-AFDF-AAD0342BBFD4}">
      <dsp:nvSpPr>
        <dsp:cNvPr id="0" name=""/>
        <dsp:cNvSpPr/>
      </dsp:nvSpPr>
      <dsp:spPr>
        <a:xfrm>
          <a:off x="1844034" y="3992098"/>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800100">
            <a:lnSpc>
              <a:spcPct val="90000"/>
            </a:lnSpc>
            <a:spcBef>
              <a:spcPct val="0"/>
            </a:spcBef>
            <a:spcAft>
              <a:spcPct val="35000"/>
            </a:spcAft>
            <a:buNone/>
          </a:pPr>
          <a:r>
            <a:rPr lang="en-US" sz="1800" kern="1200"/>
            <a:t>Journal Entered Debit and Credit show 140,000.00 EGP, double the 70,000.00 entered, because the posting process added the balancing lines.</a:t>
          </a:r>
        </a:p>
      </dsp:txBody>
      <dsp:txXfrm>
        <a:off x="1844034" y="3992098"/>
        <a:ext cx="4401230" cy="1596566"/>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5B5570-8101-459D-8D26-3CEDA7F6A283}">
      <dsp:nvSpPr>
        <dsp:cNvPr id="0" name=""/>
        <dsp:cNvSpPr/>
      </dsp:nvSpPr>
      <dsp:spPr>
        <a:xfrm>
          <a:off x="1333" y="110983"/>
          <a:ext cx="4682211" cy="297320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EB8015-49D3-4F7D-BF5C-DD86FB83FB37}">
      <dsp:nvSpPr>
        <dsp:cNvPr id="0" name=""/>
        <dsp:cNvSpPr/>
      </dsp:nvSpPr>
      <dsp:spPr>
        <a:xfrm>
          <a:off x="521579" y="605216"/>
          <a:ext cx="4682211" cy="297320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In the Intercompany functional area, switch Show to All Tasks.</a:t>
          </a:r>
        </a:p>
      </dsp:txBody>
      <dsp:txXfrm>
        <a:off x="608661" y="692298"/>
        <a:ext cx="4508047" cy="2799040"/>
      </dsp:txXfrm>
    </dsp:sp>
    <dsp:sp modelId="{7E947DD5-44EE-45F6-BD77-E38D4671EA85}">
      <dsp:nvSpPr>
        <dsp:cNvPr id="0" name=""/>
        <dsp:cNvSpPr/>
      </dsp:nvSpPr>
      <dsp:spPr>
        <a:xfrm>
          <a:off x="5724037" y="110983"/>
          <a:ext cx="4682211" cy="297320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356F1F-5B26-43B8-BA95-A541247D9376}">
      <dsp:nvSpPr>
        <dsp:cNvPr id="0" name=""/>
        <dsp:cNvSpPr/>
      </dsp:nvSpPr>
      <dsp:spPr>
        <a:xfrm>
          <a:off x="6244283" y="605216"/>
          <a:ext cx="4682211" cy="297320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Open Manage Additional Intercompany Balancing and Clearing Options, listed below Manage Intercompany Balancing Rules.</a:t>
          </a:r>
        </a:p>
      </dsp:txBody>
      <dsp:txXfrm>
        <a:off x="6331365" y="692298"/>
        <a:ext cx="4508047" cy="2799040"/>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31A933-A1A0-4B1D-8363-4659498048E0}">
      <dsp:nvSpPr>
        <dsp:cNvPr id="0" name=""/>
        <dsp:cNvSpPr/>
      </dsp:nvSpPr>
      <dsp:spPr>
        <a:xfrm>
          <a:off x="134291" y="612"/>
          <a:ext cx="4332795" cy="2751325"/>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239256-1868-4BD9-95EB-A331423403E4}">
      <dsp:nvSpPr>
        <dsp:cNvPr id="0" name=""/>
        <dsp:cNvSpPr/>
      </dsp:nvSpPr>
      <dsp:spPr>
        <a:xfrm>
          <a:off x="615713" y="457963"/>
          <a:ext cx="4332795" cy="2751325"/>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Open Settings and Actions and select Setup and Maintenance.</a:t>
          </a:r>
        </a:p>
      </dsp:txBody>
      <dsp:txXfrm>
        <a:off x="696297" y="538547"/>
        <a:ext cx="4171627" cy="2590157"/>
      </dsp:txXfrm>
    </dsp:sp>
    <dsp:sp modelId="{CC5BBD85-C779-46C8-A1C1-92DEBA48ADBC}">
      <dsp:nvSpPr>
        <dsp:cNvPr id="0" name=""/>
        <dsp:cNvSpPr/>
      </dsp:nvSpPr>
      <dsp:spPr>
        <a:xfrm>
          <a:off x="5429930" y="612"/>
          <a:ext cx="4332795" cy="2751325"/>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E86207-D389-4DF2-96AF-0BF24F2DCF1F}">
      <dsp:nvSpPr>
        <dsp:cNvPr id="0" name=""/>
        <dsp:cNvSpPr/>
      </dsp:nvSpPr>
      <dsp:spPr>
        <a:xfrm>
          <a:off x="5911352" y="457963"/>
          <a:ext cx="4332795" cy="2751325"/>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This opens the Functional Setup Manager.</a:t>
          </a:r>
        </a:p>
      </dsp:txBody>
      <dsp:txXfrm>
        <a:off x="5991936" y="538547"/>
        <a:ext cx="4171627" cy="2590157"/>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584319-0766-4C8D-A927-0CD3A7C4B133}">
      <dsp:nvSpPr>
        <dsp:cNvPr id="0" name=""/>
        <dsp:cNvSpPr/>
      </dsp:nvSpPr>
      <dsp:spPr>
        <a:xfrm>
          <a:off x="0" y="426289"/>
          <a:ext cx="6666833" cy="225459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Select the Financial Reporting Structures functional area and set Show to All Tasks.</a:t>
          </a:r>
        </a:p>
      </dsp:txBody>
      <dsp:txXfrm>
        <a:off x="110060" y="536349"/>
        <a:ext cx="6446713" cy="2034470"/>
      </dsp:txXfrm>
    </dsp:sp>
    <dsp:sp modelId="{42884D6C-9E7D-4ABF-B79C-3CFBC75AC6BF}">
      <dsp:nvSpPr>
        <dsp:cNvPr id="0" name=""/>
        <dsp:cNvSpPr/>
      </dsp:nvSpPr>
      <dsp:spPr>
        <a:xfrm>
          <a:off x="0" y="2773040"/>
          <a:ext cx="6666833" cy="225459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Open Manage Cross-Validation Rules, listed near Manage Segment Value Security Rules and Manage Chart of Accounts Mappings.</a:t>
          </a:r>
        </a:p>
      </dsp:txBody>
      <dsp:txXfrm>
        <a:off x="110060" y="2883100"/>
        <a:ext cx="6446713" cy="2034470"/>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9F7D8B-DDCC-4762-8881-BAC2A6281165}">
      <dsp:nvSpPr>
        <dsp:cNvPr id="0" name=""/>
        <dsp:cNvSpPr/>
      </dsp:nvSpPr>
      <dsp:spPr>
        <a:xfrm>
          <a:off x="0"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49D0C5-8073-4C2A-B79D-C1455600E143}">
      <dsp:nvSpPr>
        <dsp:cNvPr id="0" name=""/>
        <dsp:cNvSpPr/>
      </dsp:nvSpPr>
      <dsp:spPr>
        <a:xfrm>
          <a:off x="341494"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In the Details region, click the Condition Filter icon to open the filter dialog.</a:t>
          </a:r>
        </a:p>
      </dsp:txBody>
      <dsp:txXfrm>
        <a:off x="398656" y="1088253"/>
        <a:ext cx="2959127" cy="1837317"/>
      </dsp:txXfrm>
    </dsp:sp>
    <dsp:sp modelId="{08169B55-6E7E-4401-B1D8-5448EAC69998}">
      <dsp:nvSpPr>
        <dsp:cNvPr id="0" name=""/>
        <dsp:cNvSpPr/>
      </dsp:nvSpPr>
      <dsp:spPr>
        <a:xfrm>
          <a:off x="3756441"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655505-59D0-4406-BB46-6DF3037946F8}">
      <dsp:nvSpPr>
        <dsp:cNvPr id="0" name=""/>
        <dsp:cNvSpPr/>
      </dsp:nvSpPr>
      <dsp:spPr>
        <a:xfrm>
          <a:off x="4097935"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The dialog initially shows No search fields added.</a:t>
          </a:r>
        </a:p>
      </dsp:txBody>
      <dsp:txXfrm>
        <a:off x="4155097" y="1088253"/>
        <a:ext cx="2959127" cy="1837317"/>
      </dsp:txXfrm>
    </dsp:sp>
    <dsp:sp modelId="{2FD64EAF-E10A-4026-8B61-7E9943C28370}">
      <dsp:nvSpPr>
        <dsp:cNvPr id="0" name=""/>
        <dsp:cNvSpPr/>
      </dsp:nvSpPr>
      <dsp:spPr>
        <a:xfrm>
          <a:off x="7512882"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22FF64-7F08-43BC-A7CA-4DE9276153EB}">
      <dsp:nvSpPr>
        <dsp:cNvPr id="0" name=""/>
        <dsp:cNvSpPr/>
      </dsp:nvSpPr>
      <dsp:spPr>
        <a:xfrm>
          <a:off x="7854377"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Use Add Fields to select the segments (for example, Department and Account) to filter on.</a:t>
          </a:r>
        </a:p>
      </dsp:txBody>
      <dsp:txXfrm>
        <a:off x="7911539" y="1088253"/>
        <a:ext cx="2959127" cy="1837317"/>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DB9D57-8DF2-44EF-BF50-81A14EEF4884}">
      <dsp:nvSpPr>
        <dsp:cNvPr id="0" name=""/>
        <dsp:cNvSpPr/>
      </dsp:nvSpPr>
      <dsp:spPr>
        <a:xfrm>
          <a:off x="1142" y="326335"/>
          <a:ext cx="3741529" cy="3741529"/>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a:t>Initial configuration of the Oracle environment to handle Multi-Currency Transactions by verifying the activation of the target foreign currencies.</a:t>
          </a:r>
        </a:p>
      </dsp:txBody>
      <dsp:txXfrm>
        <a:off x="549076" y="874269"/>
        <a:ext cx="2645661" cy="2645661"/>
      </dsp:txXfrm>
    </dsp:sp>
    <dsp:sp modelId="{124260FF-1F9F-4BE1-B5FE-8EC2042729C0}">
      <dsp:nvSpPr>
        <dsp:cNvPr id="0" name=""/>
        <dsp:cNvSpPr/>
      </dsp:nvSpPr>
      <dsp:spPr>
        <a:xfrm rot="5400000">
          <a:off x="4051347" y="1701347"/>
          <a:ext cx="1309535" cy="991505"/>
        </a:xfrm>
        <a:prstGeom prst="triangl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0E5B9A0-7F1B-4B35-9FD1-506A5156AA89}">
      <dsp:nvSpPr>
        <dsp:cNvPr id="0" name=""/>
        <dsp:cNvSpPr/>
      </dsp:nvSpPr>
      <dsp:spPr>
        <a:xfrm>
          <a:off x="5613435" y="326335"/>
          <a:ext cx="3741529" cy="3741529"/>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a:t>• As a primary and essential step for processing foreign currencies, navigate to the Setup and Maintenance screen from the user's main menu.</a:t>
          </a:r>
        </a:p>
      </dsp:txBody>
      <dsp:txXfrm>
        <a:off x="6161369" y="874269"/>
        <a:ext cx="2645661" cy="2645661"/>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78E248-4E2C-45F6-9114-21460340B395}">
      <dsp:nvSpPr>
        <dsp:cNvPr id="0" name=""/>
        <dsp:cNvSpPr/>
      </dsp:nvSpPr>
      <dsp:spPr>
        <a:xfrm>
          <a:off x="0" y="378270"/>
          <a:ext cx="10515600" cy="176139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Activating the currency is an essential prerequisite prior to defining Daily Rates or entering Journals, as the system strictly prohibits accepting any financial transaction in an inactive currency. </a:t>
          </a:r>
        </a:p>
      </dsp:txBody>
      <dsp:txXfrm>
        <a:off x="85984" y="464254"/>
        <a:ext cx="10343632" cy="1589430"/>
      </dsp:txXfrm>
    </dsp:sp>
    <dsp:sp modelId="{60147014-8D33-4697-895D-AD20EB0986E3}">
      <dsp:nvSpPr>
        <dsp:cNvPr id="0" name=""/>
        <dsp:cNvSpPr/>
      </dsp:nvSpPr>
      <dsp:spPr>
        <a:xfrm>
          <a:off x="0" y="2211669"/>
          <a:ext cx="10515600" cy="176139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It is also advisable to review the Start Date and End Date fields available on the same screen, to ensure the currency is valid for use within open accounting periods, thereby avoiding any future errors during period close.</a:t>
          </a:r>
          <a:br>
            <a:rPr lang="en-US" sz="2500" kern="1200"/>
          </a:br>
          <a:endParaRPr lang="en-US" sz="2500" kern="1200"/>
        </a:p>
      </dsp:txBody>
      <dsp:txXfrm>
        <a:off x="85984" y="2297653"/>
        <a:ext cx="10343632" cy="1589430"/>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BEFBF8-8332-4F93-B32F-683F248DCC98}">
      <dsp:nvSpPr>
        <dsp:cNvPr id="0" name=""/>
        <dsp:cNvSpPr/>
      </dsp:nvSpPr>
      <dsp:spPr>
        <a:xfrm>
          <a:off x="0" y="708097"/>
          <a:ext cx="10515600" cy="1307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DA5AA-9DAD-4A79-BDA5-4B6BF705CEA1}">
      <dsp:nvSpPr>
        <dsp:cNvPr id="0" name=""/>
        <dsp:cNvSpPr/>
      </dsp:nvSpPr>
      <dsp:spPr>
        <a:xfrm>
          <a:off x="395445" y="1002230"/>
          <a:ext cx="718991" cy="7189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EE1171-D4BF-4FC7-8BFD-D76FF4AE59D4}">
      <dsp:nvSpPr>
        <dsp:cNvPr id="0" name=""/>
        <dsp:cNvSpPr/>
      </dsp:nvSpPr>
      <dsp:spPr>
        <a:xfrm>
          <a:off x="1509882" y="708097"/>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933450">
            <a:lnSpc>
              <a:spcPct val="90000"/>
            </a:lnSpc>
            <a:spcBef>
              <a:spcPct val="0"/>
            </a:spcBef>
            <a:spcAft>
              <a:spcPct val="35000"/>
            </a:spcAft>
            <a:buNone/>
          </a:pPr>
          <a:r>
            <a:rPr lang="en-US" sz="2100" kern="1200"/>
            <a:t>Creating and classifying Conversion Rate Types and designating a Default type to organize multi-currency transactions, thereby facilitating and accelerating Journal entries through the automatic retrieval of this type.</a:t>
          </a:r>
        </a:p>
      </dsp:txBody>
      <dsp:txXfrm>
        <a:off x="1509882" y="708097"/>
        <a:ext cx="9005717" cy="1307257"/>
      </dsp:txXfrm>
    </dsp:sp>
    <dsp:sp modelId="{802C45EE-386C-4075-A1E1-21063FDD87D8}">
      <dsp:nvSpPr>
        <dsp:cNvPr id="0" name=""/>
        <dsp:cNvSpPr/>
      </dsp:nvSpPr>
      <dsp:spPr>
        <a:xfrm>
          <a:off x="0" y="2342169"/>
          <a:ext cx="10515600" cy="13072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4790BC-81E8-44DD-B523-6B2BCF074A49}">
      <dsp:nvSpPr>
        <dsp:cNvPr id="0" name=""/>
        <dsp:cNvSpPr/>
      </dsp:nvSpPr>
      <dsp:spPr>
        <a:xfrm>
          <a:off x="395445" y="2636302"/>
          <a:ext cx="718991" cy="7189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F3CE0B-4827-47DE-8C14-3F71E65E5276}">
      <dsp:nvSpPr>
        <dsp:cNvPr id="0" name=""/>
        <dsp:cNvSpPr/>
      </dsp:nvSpPr>
      <dsp:spPr>
        <a:xfrm>
          <a:off x="1509882" y="2342169"/>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933450">
            <a:lnSpc>
              <a:spcPct val="90000"/>
            </a:lnSpc>
            <a:spcBef>
              <a:spcPct val="0"/>
            </a:spcBef>
            <a:spcAft>
              <a:spcPct val="35000"/>
            </a:spcAft>
            <a:buNone/>
          </a:pPr>
          <a:r>
            <a:rPr lang="en-US" sz="2100" kern="1200"/>
            <a:t>Within the Financial Reporting Structures menu, select the Manage Conversion Rate Types task</a:t>
          </a:r>
        </a:p>
      </dsp:txBody>
      <dsp:txXfrm>
        <a:off x="1509882" y="2342169"/>
        <a:ext cx="9005717" cy="1307257"/>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F415BF-E104-4165-916D-A3AB62DE8123}">
      <dsp:nvSpPr>
        <dsp:cNvPr id="0" name=""/>
        <dsp:cNvSpPr/>
      </dsp:nvSpPr>
      <dsp:spPr>
        <a:xfrm>
          <a:off x="1333"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B59346-EC99-4D3F-900F-16DB0C20DDD2}">
      <dsp:nvSpPr>
        <dsp:cNvPr id="0" name=""/>
        <dsp:cNvSpPr/>
      </dsp:nvSpPr>
      <dsp:spPr>
        <a:xfrm>
          <a:off x="521579"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Designating the Default Rate Type is considered a best practice to mitigate human errors, as the system will automatically suggest this type to users when entering Journals or Payables and Receivables invoices. </a:t>
          </a:r>
          <a:endParaRPr lang="en-US" sz="1900" kern="1200"/>
        </a:p>
      </dsp:txBody>
      <dsp:txXfrm>
        <a:off x="608661" y="692298"/>
        <a:ext cx="4508047" cy="2799040"/>
      </dsp:txXfrm>
    </dsp:sp>
    <dsp:sp modelId="{BA8EA7B8-C21C-4820-AE36-564008C1B211}">
      <dsp:nvSpPr>
        <dsp:cNvPr id="0" name=""/>
        <dsp:cNvSpPr/>
      </dsp:nvSpPr>
      <dsp:spPr>
        <a:xfrm>
          <a:off x="5724037"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36D5BE-AADA-4606-99B0-220E630F2971}">
      <dsp:nvSpPr>
        <dsp:cNvPr id="0" name=""/>
        <dsp:cNvSpPr/>
      </dsp:nvSpPr>
      <dsp:spPr>
        <a:xfrm>
          <a:off x="6244283"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Selecting the Enforce Inverse Relationship option ensures that the system calculates the inverse exchange rate automatically and with mathematical precision. For instance, if the USD to SAR conversion rate is entered, the system will automatically calculate and store the SAR to USD conversion rate.</a:t>
          </a:r>
          <a:endParaRPr lang="en-US" sz="1900" kern="1200"/>
        </a:p>
      </dsp:txBody>
      <dsp:txXfrm>
        <a:off x="6331365" y="692298"/>
        <a:ext cx="4508047" cy="2799040"/>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77D2A8-1651-4BE2-A8CA-25CCD0A5C7FB}">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8BFDF9-1AA6-4466-8C62-04288CEDB7DC}">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Utilizing the ADF tool is the Standard Practice in Oracle Enterprise Implementations for uploading exchange rate data, particularly when the company deals with multiple currencies subject to daily fluctuations, as this approach optimizes time and prevents manual entry errors.</a:t>
          </a:r>
        </a:p>
      </dsp:txBody>
      <dsp:txXfrm>
        <a:off x="696297" y="538547"/>
        <a:ext cx="4171627" cy="2590157"/>
      </dsp:txXfrm>
    </dsp:sp>
    <dsp:sp modelId="{41761644-E5EF-4DBF-B3EE-290310D0A4FE}">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FBA271E-125D-462F-A09D-17B226E43D7F}">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Automated mass entry and uploading of Daily Rates utilizing the ADF tool, and updating system tables with the conversion rates between foreign currencies and the Functional Currency for application to financial transactions.</a:t>
          </a:r>
        </a:p>
      </dsp:txBody>
      <dsp:txXfrm>
        <a:off x="5991936" y="538547"/>
        <a:ext cx="4171627" cy="2590157"/>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965EEE-0541-4B9E-AC42-A4272C02E2AD}">
      <dsp:nvSpPr>
        <dsp:cNvPr id="0" name=""/>
        <dsp:cNvSpPr/>
      </dsp:nvSpPr>
      <dsp:spPr>
        <a:xfrm>
          <a:off x="0" y="707092"/>
          <a:ext cx="10515600" cy="130540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42D5FD-ED61-421C-A206-C5D8C8B5D526}">
      <dsp:nvSpPr>
        <dsp:cNvPr id="0" name=""/>
        <dsp:cNvSpPr/>
      </dsp:nvSpPr>
      <dsp:spPr>
        <a:xfrm>
          <a:off x="394883" y="1000807"/>
          <a:ext cx="717970" cy="7179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0E346D-6DE3-4985-A816-610390CD5883}">
      <dsp:nvSpPr>
        <dsp:cNvPr id="0" name=""/>
        <dsp:cNvSpPr/>
      </dsp:nvSpPr>
      <dsp:spPr>
        <a:xfrm>
          <a:off x="1507738" y="707092"/>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022350">
            <a:lnSpc>
              <a:spcPct val="90000"/>
            </a:lnSpc>
            <a:spcBef>
              <a:spcPct val="0"/>
            </a:spcBef>
            <a:spcAft>
              <a:spcPct val="35000"/>
            </a:spcAft>
            <a:buNone/>
          </a:pPr>
          <a:r>
            <a:rPr lang="en-US" sz="2300" kern="1200"/>
            <a:t>The From/To Conversion Date is entered, followed by the Conversion Rate. Given that the "Inverse Relationship" feature was previously enabled, the system will calculate the Inverse Rate automatically. </a:t>
          </a:r>
        </a:p>
      </dsp:txBody>
      <dsp:txXfrm>
        <a:off x="1507738" y="707092"/>
        <a:ext cx="9007861" cy="1305401"/>
      </dsp:txXfrm>
    </dsp:sp>
    <dsp:sp modelId="{EDA7CC3C-9CE5-43FE-A47D-74EB57AD97C4}">
      <dsp:nvSpPr>
        <dsp:cNvPr id="0" name=""/>
        <dsp:cNvSpPr/>
      </dsp:nvSpPr>
      <dsp:spPr>
        <a:xfrm>
          <a:off x="0" y="2338844"/>
          <a:ext cx="10515600" cy="130540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D135AA-8FE7-4CCE-BD67-892B6763F2AC}">
      <dsp:nvSpPr>
        <dsp:cNvPr id="0" name=""/>
        <dsp:cNvSpPr/>
      </dsp:nvSpPr>
      <dsp:spPr>
        <a:xfrm>
          <a:off x="394883" y="2632559"/>
          <a:ext cx="717970" cy="7179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F97D51-116C-4C03-8AD4-4CCD2001E26B}">
      <dsp:nvSpPr>
        <dsp:cNvPr id="0" name=""/>
        <dsp:cNvSpPr/>
      </dsp:nvSpPr>
      <dsp:spPr>
        <a:xfrm>
          <a:off x="1507738" y="2338844"/>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022350">
            <a:lnSpc>
              <a:spcPct val="90000"/>
            </a:lnSpc>
            <a:spcBef>
              <a:spcPct val="0"/>
            </a:spcBef>
            <a:spcAft>
              <a:spcPct val="35000"/>
            </a:spcAft>
            <a:buNone/>
          </a:pPr>
          <a:r>
            <a:rPr lang="en-US" sz="2300" kern="1200"/>
            <a:t>Upon completing the data entry, click the Submit option.</a:t>
          </a:r>
        </a:p>
      </dsp:txBody>
      <dsp:txXfrm>
        <a:off x="1507738" y="2338844"/>
        <a:ext cx="9007861" cy="1305401"/>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B67A5D-EB8F-435F-88BD-4E8AA575AD87}">
      <dsp:nvSpPr>
        <dsp:cNvPr id="0" name=""/>
        <dsp:cNvSpPr/>
      </dsp:nvSpPr>
      <dsp:spPr>
        <a:xfrm>
          <a:off x="282221" y="1410409"/>
          <a:ext cx="1371985" cy="13719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FE3C47-BB8C-4700-9C47-6BBD3EBD5F82}">
      <dsp:nvSpPr>
        <dsp:cNvPr id="0" name=""/>
        <dsp:cNvSpPr/>
      </dsp:nvSpPr>
      <dsp:spPr>
        <a:xfrm>
          <a:off x="570337" y="1698526"/>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AE9191-0C67-490E-990B-74AD5FC01D31}">
      <dsp:nvSpPr>
        <dsp:cNvPr id="0" name=""/>
        <dsp:cNvSpPr/>
      </dsp:nvSpPr>
      <dsp:spPr>
        <a:xfrm>
          <a:off x="1948202" y="141040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A Budget in Oracle Fusion General Ledger (GL) is a financial plan that estimates a company's expected income and expenses over a specific period, usually a fiscal year.</a:t>
          </a:r>
        </a:p>
      </dsp:txBody>
      <dsp:txXfrm>
        <a:off x="1948202" y="1410409"/>
        <a:ext cx="3233964" cy="1371985"/>
      </dsp:txXfrm>
    </dsp:sp>
    <dsp:sp modelId="{17108F2F-B26A-4E81-B9D8-7AA0CB34FA2E}">
      <dsp:nvSpPr>
        <dsp:cNvPr id="0" name=""/>
        <dsp:cNvSpPr/>
      </dsp:nvSpPr>
      <dsp:spPr>
        <a:xfrm>
          <a:off x="5745661" y="1410409"/>
          <a:ext cx="1371985" cy="13719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176A60-8027-49C7-993B-25F041DB37BA}">
      <dsp:nvSpPr>
        <dsp:cNvPr id="0" name=""/>
        <dsp:cNvSpPr/>
      </dsp:nvSpPr>
      <dsp:spPr>
        <a:xfrm>
          <a:off x="6033778" y="1698526"/>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A4939D-D7A7-4494-8313-8C19164BBAC7}">
      <dsp:nvSpPr>
        <dsp:cNvPr id="0" name=""/>
        <dsp:cNvSpPr/>
      </dsp:nvSpPr>
      <dsp:spPr>
        <a:xfrm>
          <a:off x="7411643" y="141040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It helps organizations plan how their financial resources will be allocated across different accounts and departments, monitor spending, and compare planned amounts with actual financial results.</a:t>
          </a:r>
        </a:p>
      </dsp:txBody>
      <dsp:txXfrm>
        <a:off x="7411643" y="1410409"/>
        <a:ext cx="3233964" cy="1371985"/>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4EF5D9-C36F-4B7A-B6D6-3525C73DD026}">
      <dsp:nvSpPr>
        <dsp:cNvPr id="0" name=""/>
        <dsp:cNvSpPr/>
      </dsp:nvSpPr>
      <dsp:spPr>
        <a:xfrm>
          <a:off x="2250914" y="296402"/>
          <a:ext cx="2196000" cy="2196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11C210-F92A-45B6-8D17-658F7AB30367}">
      <dsp:nvSpPr>
        <dsp:cNvPr id="0" name=""/>
        <dsp:cNvSpPr/>
      </dsp:nvSpPr>
      <dsp:spPr>
        <a:xfrm>
          <a:off x="2718914" y="764402"/>
          <a:ext cx="1260000" cy="126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AE2B67-39C3-4E65-B195-1C121DD8267A}">
      <dsp:nvSpPr>
        <dsp:cNvPr id="0" name=""/>
        <dsp:cNvSpPr/>
      </dsp:nvSpPr>
      <dsp:spPr>
        <a:xfrm>
          <a:off x="1548914" y="3176402"/>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On the chart of account, we added company department, account, product, and project </a:t>
          </a:r>
        </a:p>
      </dsp:txBody>
      <dsp:txXfrm>
        <a:off x="1548914" y="3176402"/>
        <a:ext cx="3600000" cy="720000"/>
      </dsp:txXfrm>
    </dsp:sp>
    <dsp:sp modelId="{E68BC142-4526-4D00-86D9-41609EDB46BA}">
      <dsp:nvSpPr>
        <dsp:cNvPr id="0" name=""/>
        <dsp:cNvSpPr/>
      </dsp:nvSpPr>
      <dsp:spPr>
        <a:xfrm>
          <a:off x="6480914" y="296402"/>
          <a:ext cx="2196000" cy="2196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43A359-D5FA-4630-A072-DB4B33F1D854}">
      <dsp:nvSpPr>
        <dsp:cNvPr id="0" name=""/>
        <dsp:cNvSpPr/>
      </dsp:nvSpPr>
      <dsp:spPr>
        <a:xfrm>
          <a:off x="6948914" y="764402"/>
          <a:ext cx="1260000" cy="126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86686B-495C-4FDB-8C06-FA57F62DF65F}">
      <dsp:nvSpPr>
        <dsp:cNvPr id="0" name=""/>
        <dsp:cNvSpPr/>
      </dsp:nvSpPr>
      <dsp:spPr>
        <a:xfrm>
          <a:off x="5778914" y="3176402"/>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Click save then save and close.</a:t>
          </a:r>
        </a:p>
      </dsp:txBody>
      <dsp:txXfrm>
        <a:off x="5778914" y="3176402"/>
        <a:ext cx="360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1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5.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9044E-BD46-0E57-0E37-67CC0B95EE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1840D66-BAF7-388F-9A8E-261BB463BA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70EB60C-4102-B1A9-0154-BE90EEE28859}"/>
              </a:ext>
            </a:extLst>
          </p:cNvPr>
          <p:cNvSpPr>
            <a:spLocks noGrp="1"/>
          </p:cNvSpPr>
          <p:nvPr>
            <p:ph type="dt" sz="half" idx="10"/>
          </p:nvPr>
        </p:nvSpPr>
        <p:spPr/>
        <p:txBody>
          <a:bodyPr/>
          <a:lstStyle/>
          <a:p>
            <a:fld id="{930319DB-D4A9-4739-8FBE-9AA92CE3FC7B}" type="datetimeFigureOut">
              <a:rPr lang="en-US" smtClean="0"/>
              <a:t>10/27/2026</a:t>
            </a:fld>
            <a:endParaRPr lang="en-US"/>
          </a:p>
        </p:txBody>
      </p:sp>
      <p:sp>
        <p:nvSpPr>
          <p:cNvPr id="5" name="Footer Placeholder 4">
            <a:extLst>
              <a:ext uri="{FF2B5EF4-FFF2-40B4-BE49-F238E27FC236}">
                <a16:creationId xmlns:a16="http://schemas.microsoft.com/office/drawing/2014/main" id="{45EEC369-B365-8701-E256-F296A8D85B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687A55-7C12-2960-E3DE-2F4BDDB8B827}"/>
              </a:ext>
            </a:extLst>
          </p:cNvPr>
          <p:cNvSpPr>
            <a:spLocks noGrp="1"/>
          </p:cNvSpPr>
          <p:nvPr>
            <p:ph type="sldNum" sz="quarter" idx="12"/>
          </p:nvPr>
        </p:nvSpPr>
        <p:spPr/>
        <p:txBody>
          <a:bodyPr/>
          <a:lstStyle/>
          <a:p>
            <a:fld id="{296FD84B-3D92-44E0-8FC5-6F51C9AEB030}" type="slidenum">
              <a:rPr lang="en-US" smtClean="0"/>
              <a:t>‹#›</a:t>
            </a:fld>
            <a:endParaRPr lang="en-US"/>
          </a:p>
        </p:txBody>
      </p:sp>
    </p:spTree>
    <p:extLst>
      <p:ext uri="{BB962C8B-B14F-4D97-AF65-F5344CB8AC3E}">
        <p14:creationId xmlns:p14="http://schemas.microsoft.com/office/powerpoint/2010/main" val="2395235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4E65-5A44-A6D9-22B6-2E6E1FB0CE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FE247D-ECDF-23EF-2461-036731554D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D7ED6B-C861-6CDE-1B94-B782786FC5DC}"/>
              </a:ext>
            </a:extLst>
          </p:cNvPr>
          <p:cNvSpPr>
            <a:spLocks noGrp="1"/>
          </p:cNvSpPr>
          <p:nvPr>
            <p:ph type="dt" sz="half" idx="10"/>
          </p:nvPr>
        </p:nvSpPr>
        <p:spPr/>
        <p:txBody>
          <a:bodyPr/>
          <a:lstStyle/>
          <a:p>
            <a:fld id="{930319DB-D4A9-4739-8FBE-9AA92CE3FC7B}" type="datetimeFigureOut">
              <a:rPr lang="en-US" smtClean="0"/>
              <a:t>10/27/2026</a:t>
            </a:fld>
            <a:endParaRPr lang="en-US"/>
          </a:p>
        </p:txBody>
      </p:sp>
      <p:sp>
        <p:nvSpPr>
          <p:cNvPr id="5" name="Footer Placeholder 4">
            <a:extLst>
              <a:ext uri="{FF2B5EF4-FFF2-40B4-BE49-F238E27FC236}">
                <a16:creationId xmlns:a16="http://schemas.microsoft.com/office/drawing/2014/main" id="{C114B3B8-0900-E81F-1367-D2E3D2360E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5B67A1-139A-AD26-3D27-8AE633F9DF3F}"/>
              </a:ext>
            </a:extLst>
          </p:cNvPr>
          <p:cNvSpPr>
            <a:spLocks noGrp="1"/>
          </p:cNvSpPr>
          <p:nvPr>
            <p:ph type="sldNum" sz="quarter" idx="12"/>
          </p:nvPr>
        </p:nvSpPr>
        <p:spPr/>
        <p:txBody>
          <a:bodyPr/>
          <a:lstStyle/>
          <a:p>
            <a:fld id="{296FD84B-3D92-44E0-8FC5-6F51C9AEB030}" type="slidenum">
              <a:rPr lang="en-US" smtClean="0"/>
              <a:t>‹#›</a:t>
            </a:fld>
            <a:endParaRPr lang="en-US"/>
          </a:p>
        </p:txBody>
      </p:sp>
    </p:spTree>
    <p:extLst>
      <p:ext uri="{BB962C8B-B14F-4D97-AF65-F5344CB8AC3E}">
        <p14:creationId xmlns:p14="http://schemas.microsoft.com/office/powerpoint/2010/main" val="317028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4AD2-DB8A-475C-C783-570829A739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B8A598-781A-0FCE-ABAA-7EBAE7F674A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5C470F-7CF0-3D05-4830-0DC16B26C3B9}"/>
              </a:ext>
            </a:extLst>
          </p:cNvPr>
          <p:cNvSpPr>
            <a:spLocks noGrp="1"/>
          </p:cNvSpPr>
          <p:nvPr>
            <p:ph type="dt" sz="half" idx="10"/>
          </p:nvPr>
        </p:nvSpPr>
        <p:spPr/>
        <p:txBody>
          <a:bodyPr/>
          <a:lstStyle/>
          <a:p>
            <a:fld id="{930319DB-D4A9-4739-8FBE-9AA92CE3FC7B}" type="datetimeFigureOut">
              <a:rPr lang="en-US" smtClean="0"/>
              <a:t>10/27/2026</a:t>
            </a:fld>
            <a:endParaRPr lang="en-US"/>
          </a:p>
        </p:txBody>
      </p:sp>
      <p:sp>
        <p:nvSpPr>
          <p:cNvPr id="5" name="Footer Placeholder 4">
            <a:extLst>
              <a:ext uri="{FF2B5EF4-FFF2-40B4-BE49-F238E27FC236}">
                <a16:creationId xmlns:a16="http://schemas.microsoft.com/office/drawing/2014/main" id="{A2E54155-286E-C13F-079D-87F1687D6C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7CFAF0-5F58-C312-34CB-E0EA5459B2F2}"/>
              </a:ext>
            </a:extLst>
          </p:cNvPr>
          <p:cNvSpPr>
            <a:spLocks noGrp="1"/>
          </p:cNvSpPr>
          <p:nvPr>
            <p:ph type="sldNum" sz="quarter" idx="12"/>
          </p:nvPr>
        </p:nvSpPr>
        <p:spPr/>
        <p:txBody>
          <a:bodyPr/>
          <a:lstStyle/>
          <a:p>
            <a:fld id="{296FD84B-3D92-44E0-8FC5-6F51C9AEB030}" type="slidenum">
              <a:rPr lang="en-US" smtClean="0"/>
              <a:t>‹#›</a:t>
            </a:fld>
            <a:endParaRPr lang="en-US"/>
          </a:p>
        </p:txBody>
      </p:sp>
    </p:spTree>
    <p:extLst>
      <p:ext uri="{BB962C8B-B14F-4D97-AF65-F5344CB8AC3E}">
        <p14:creationId xmlns:p14="http://schemas.microsoft.com/office/powerpoint/2010/main" val="2421975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98E7B-B290-0F87-D137-9FEEE6563E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834A0D-3D67-E4A1-8649-C860E2547D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751414-FD88-C1CC-DF65-725CD9A167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C68B10E-B5A1-5203-E9DC-DE1DEC6D4D12}"/>
              </a:ext>
            </a:extLst>
          </p:cNvPr>
          <p:cNvSpPr>
            <a:spLocks noGrp="1"/>
          </p:cNvSpPr>
          <p:nvPr>
            <p:ph type="dt" sz="half" idx="10"/>
          </p:nvPr>
        </p:nvSpPr>
        <p:spPr/>
        <p:txBody>
          <a:bodyPr/>
          <a:lstStyle/>
          <a:p>
            <a:fld id="{930319DB-D4A9-4739-8FBE-9AA92CE3FC7B}" type="datetimeFigureOut">
              <a:rPr lang="en-US" smtClean="0"/>
              <a:t>10/27/2026</a:t>
            </a:fld>
            <a:endParaRPr lang="en-US"/>
          </a:p>
        </p:txBody>
      </p:sp>
      <p:sp>
        <p:nvSpPr>
          <p:cNvPr id="6" name="Footer Placeholder 5">
            <a:extLst>
              <a:ext uri="{FF2B5EF4-FFF2-40B4-BE49-F238E27FC236}">
                <a16:creationId xmlns:a16="http://schemas.microsoft.com/office/drawing/2014/main" id="{BD94A864-BCF6-0FB0-3A17-8C6D67BF14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EC2FB3-9CED-AD18-8259-92DA0C926B31}"/>
              </a:ext>
            </a:extLst>
          </p:cNvPr>
          <p:cNvSpPr>
            <a:spLocks noGrp="1"/>
          </p:cNvSpPr>
          <p:nvPr>
            <p:ph type="sldNum" sz="quarter" idx="12"/>
          </p:nvPr>
        </p:nvSpPr>
        <p:spPr/>
        <p:txBody>
          <a:bodyPr/>
          <a:lstStyle/>
          <a:p>
            <a:fld id="{296FD84B-3D92-44E0-8FC5-6F51C9AEB030}" type="slidenum">
              <a:rPr lang="en-US" smtClean="0"/>
              <a:t>‹#›</a:t>
            </a:fld>
            <a:endParaRPr lang="en-US"/>
          </a:p>
        </p:txBody>
      </p:sp>
    </p:spTree>
    <p:extLst>
      <p:ext uri="{BB962C8B-B14F-4D97-AF65-F5344CB8AC3E}">
        <p14:creationId xmlns:p14="http://schemas.microsoft.com/office/powerpoint/2010/main" val="902371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54D4E-182B-5755-3963-82F577FF6CE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E202CD-9BFA-BEFF-A835-605C7C77D2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B5E4E4-4000-AA21-1DB8-0072556995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D8297D-BF1A-0C15-D86E-EDCBAA1FE0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335EAA-D494-F896-E3D1-40BDC72F15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2160C1E-4C75-5DD8-D6D1-1E61B7F54C13}"/>
              </a:ext>
            </a:extLst>
          </p:cNvPr>
          <p:cNvSpPr>
            <a:spLocks noGrp="1"/>
          </p:cNvSpPr>
          <p:nvPr>
            <p:ph type="dt" sz="half" idx="10"/>
          </p:nvPr>
        </p:nvSpPr>
        <p:spPr/>
        <p:txBody>
          <a:bodyPr/>
          <a:lstStyle/>
          <a:p>
            <a:fld id="{930319DB-D4A9-4739-8FBE-9AA92CE3FC7B}" type="datetimeFigureOut">
              <a:rPr lang="en-US" smtClean="0"/>
              <a:t>10/27/2026</a:t>
            </a:fld>
            <a:endParaRPr lang="en-US"/>
          </a:p>
        </p:txBody>
      </p:sp>
      <p:sp>
        <p:nvSpPr>
          <p:cNvPr id="8" name="Footer Placeholder 7">
            <a:extLst>
              <a:ext uri="{FF2B5EF4-FFF2-40B4-BE49-F238E27FC236}">
                <a16:creationId xmlns:a16="http://schemas.microsoft.com/office/drawing/2014/main" id="{CBFE6EE7-F7CB-3B8D-6450-275503E6AB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A88AC52-6B8B-90BA-4D11-468D6F78BA24}"/>
              </a:ext>
            </a:extLst>
          </p:cNvPr>
          <p:cNvSpPr>
            <a:spLocks noGrp="1"/>
          </p:cNvSpPr>
          <p:nvPr>
            <p:ph type="sldNum" sz="quarter" idx="12"/>
          </p:nvPr>
        </p:nvSpPr>
        <p:spPr/>
        <p:txBody>
          <a:bodyPr/>
          <a:lstStyle/>
          <a:p>
            <a:fld id="{296FD84B-3D92-44E0-8FC5-6F51C9AEB030}" type="slidenum">
              <a:rPr lang="en-US" smtClean="0"/>
              <a:t>‹#›</a:t>
            </a:fld>
            <a:endParaRPr lang="en-US"/>
          </a:p>
        </p:txBody>
      </p:sp>
    </p:spTree>
    <p:extLst>
      <p:ext uri="{BB962C8B-B14F-4D97-AF65-F5344CB8AC3E}">
        <p14:creationId xmlns:p14="http://schemas.microsoft.com/office/powerpoint/2010/main" val="378458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F5C02-F4AF-E57F-700A-58BBEB4EC6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FEC834-AEB4-1F70-0415-1684488BE259}"/>
              </a:ext>
            </a:extLst>
          </p:cNvPr>
          <p:cNvSpPr>
            <a:spLocks noGrp="1"/>
          </p:cNvSpPr>
          <p:nvPr>
            <p:ph type="dt" sz="half" idx="10"/>
          </p:nvPr>
        </p:nvSpPr>
        <p:spPr/>
        <p:txBody>
          <a:bodyPr/>
          <a:lstStyle/>
          <a:p>
            <a:fld id="{930319DB-D4A9-4739-8FBE-9AA92CE3FC7B}" type="datetimeFigureOut">
              <a:rPr lang="en-US" smtClean="0"/>
              <a:t>10/27/2026</a:t>
            </a:fld>
            <a:endParaRPr lang="en-US"/>
          </a:p>
        </p:txBody>
      </p:sp>
      <p:sp>
        <p:nvSpPr>
          <p:cNvPr id="4" name="Footer Placeholder 3">
            <a:extLst>
              <a:ext uri="{FF2B5EF4-FFF2-40B4-BE49-F238E27FC236}">
                <a16:creationId xmlns:a16="http://schemas.microsoft.com/office/drawing/2014/main" id="{BB9DBB9C-DC25-B70B-2397-DB70084C0C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D8A155A-0FBF-1B42-19B1-2D046D912E23}"/>
              </a:ext>
            </a:extLst>
          </p:cNvPr>
          <p:cNvSpPr>
            <a:spLocks noGrp="1"/>
          </p:cNvSpPr>
          <p:nvPr>
            <p:ph type="sldNum" sz="quarter" idx="12"/>
          </p:nvPr>
        </p:nvSpPr>
        <p:spPr/>
        <p:txBody>
          <a:bodyPr/>
          <a:lstStyle/>
          <a:p>
            <a:fld id="{296FD84B-3D92-44E0-8FC5-6F51C9AEB030}" type="slidenum">
              <a:rPr lang="en-US" smtClean="0"/>
              <a:t>‹#›</a:t>
            </a:fld>
            <a:endParaRPr lang="en-US"/>
          </a:p>
        </p:txBody>
      </p:sp>
    </p:spTree>
    <p:extLst>
      <p:ext uri="{BB962C8B-B14F-4D97-AF65-F5344CB8AC3E}">
        <p14:creationId xmlns:p14="http://schemas.microsoft.com/office/powerpoint/2010/main" val="2914688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EC3609-D634-05C1-1D3C-1274B023A8A5}"/>
              </a:ext>
            </a:extLst>
          </p:cNvPr>
          <p:cNvSpPr>
            <a:spLocks noGrp="1"/>
          </p:cNvSpPr>
          <p:nvPr>
            <p:ph type="dt" sz="half" idx="10"/>
          </p:nvPr>
        </p:nvSpPr>
        <p:spPr/>
        <p:txBody>
          <a:bodyPr/>
          <a:lstStyle/>
          <a:p>
            <a:fld id="{930319DB-D4A9-4739-8FBE-9AA92CE3FC7B}" type="datetimeFigureOut">
              <a:rPr lang="en-US" smtClean="0"/>
              <a:t>10/27/2026</a:t>
            </a:fld>
            <a:endParaRPr lang="en-US"/>
          </a:p>
        </p:txBody>
      </p:sp>
      <p:sp>
        <p:nvSpPr>
          <p:cNvPr id="3" name="Footer Placeholder 2">
            <a:extLst>
              <a:ext uri="{FF2B5EF4-FFF2-40B4-BE49-F238E27FC236}">
                <a16:creationId xmlns:a16="http://schemas.microsoft.com/office/drawing/2014/main" id="{D68B087C-1985-AB80-1634-4CBC0B3E96B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85425C-4489-8089-A0C0-33813F2090F9}"/>
              </a:ext>
            </a:extLst>
          </p:cNvPr>
          <p:cNvSpPr>
            <a:spLocks noGrp="1"/>
          </p:cNvSpPr>
          <p:nvPr>
            <p:ph type="sldNum" sz="quarter" idx="12"/>
          </p:nvPr>
        </p:nvSpPr>
        <p:spPr/>
        <p:txBody>
          <a:bodyPr/>
          <a:lstStyle/>
          <a:p>
            <a:fld id="{296FD84B-3D92-44E0-8FC5-6F51C9AEB030}" type="slidenum">
              <a:rPr lang="en-US" smtClean="0"/>
              <a:t>‹#›</a:t>
            </a:fld>
            <a:endParaRPr lang="en-US"/>
          </a:p>
        </p:txBody>
      </p:sp>
    </p:spTree>
    <p:extLst>
      <p:ext uri="{BB962C8B-B14F-4D97-AF65-F5344CB8AC3E}">
        <p14:creationId xmlns:p14="http://schemas.microsoft.com/office/powerpoint/2010/main" val="3108141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B4D5F-7BBB-5BF3-CF93-F03878DC65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53C2F18-194B-E577-8996-6C83E397A3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9C312C-3E54-A338-5FA2-C33B626B63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252227-0270-6C7A-5BFC-62513166A4F0}"/>
              </a:ext>
            </a:extLst>
          </p:cNvPr>
          <p:cNvSpPr>
            <a:spLocks noGrp="1"/>
          </p:cNvSpPr>
          <p:nvPr>
            <p:ph type="dt" sz="half" idx="10"/>
          </p:nvPr>
        </p:nvSpPr>
        <p:spPr/>
        <p:txBody>
          <a:bodyPr/>
          <a:lstStyle/>
          <a:p>
            <a:fld id="{930319DB-D4A9-4739-8FBE-9AA92CE3FC7B}" type="datetimeFigureOut">
              <a:rPr lang="en-US" smtClean="0"/>
              <a:t>10/27/2026</a:t>
            </a:fld>
            <a:endParaRPr lang="en-US"/>
          </a:p>
        </p:txBody>
      </p:sp>
      <p:sp>
        <p:nvSpPr>
          <p:cNvPr id="6" name="Footer Placeholder 5">
            <a:extLst>
              <a:ext uri="{FF2B5EF4-FFF2-40B4-BE49-F238E27FC236}">
                <a16:creationId xmlns:a16="http://schemas.microsoft.com/office/drawing/2014/main" id="{317E260C-435D-2AF4-0CF9-0C3CD2870B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96917A-E4A5-DC6F-D8B5-87078A7E6BFF}"/>
              </a:ext>
            </a:extLst>
          </p:cNvPr>
          <p:cNvSpPr>
            <a:spLocks noGrp="1"/>
          </p:cNvSpPr>
          <p:nvPr>
            <p:ph type="sldNum" sz="quarter" idx="12"/>
          </p:nvPr>
        </p:nvSpPr>
        <p:spPr/>
        <p:txBody>
          <a:bodyPr/>
          <a:lstStyle/>
          <a:p>
            <a:fld id="{296FD84B-3D92-44E0-8FC5-6F51C9AEB030}" type="slidenum">
              <a:rPr lang="en-US" smtClean="0"/>
              <a:t>‹#›</a:t>
            </a:fld>
            <a:endParaRPr lang="en-US"/>
          </a:p>
        </p:txBody>
      </p:sp>
    </p:spTree>
    <p:extLst>
      <p:ext uri="{BB962C8B-B14F-4D97-AF65-F5344CB8AC3E}">
        <p14:creationId xmlns:p14="http://schemas.microsoft.com/office/powerpoint/2010/main" val="1472593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57353-DBF5-7D9A-CEAF-1DF037881F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CBFE60-8616-4E14-4847-13C64C37E11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C3D4BF-1739-81B6-ECA1-2B1248B51B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E0888D-C578-7419-6D95-9ABFA876519C}"/>
              </a:ext>
            </a:extLst>
          </p:cNvPr>
          <p:cNvSpPr>
            <a:spLocks noGrp="1"/>
          </p:cNvSpPr>
          <p:nvPr>
            <p:ph type="dt" sz="half" idx="10"/>
          </p:nvPr>
        </p:nvSpPr>
        <p:spPr/>
        <p:txBody>
          <a:bodyPr/>
          <a:lstStyle/>
          <a:p>
            <a:fld id="{930319DB-D4A9-4739-8FBE-9AA92CE3FC7B}" type="datetimeFigureOut">
              <a:rPr lang="en-US" smtClean="0"/>
              <a:t>10/27/2026</a:t>
            </a:fld>
            <a:endParaRPr lang="en-US"/>
          </a:p>
        </p:txBody>
      </p:sp>
      <p:sp>
        <p:nvSpPr>
          <p:cNvPr id="6" name="Footer Placeholder 5">
            <a:extLst>
              <a:ext uri="{FF2B5EF4-FFF2-40B4-BE49-F238E27FC236}">
                <a16:creationId xmlns:a16="http://schemas.microsoft.com/office/drawing/2014/main" id="{DAAD7916-2F7E-C145-4757-82810AEAD3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3D35BA-7548-61EC-15CF-C3A20246D6F2}"/>
              </a:ext>
            </a:extLst>
          </p:cNvPr>
          <p:cNvSpPr>
            <a:spLocks noGrp="1"/>
          </p:cNvSpPr>
          <p:nvPr>
            <p:ph type="sldNum" sz="quarter" idx="12"/>
          </p:nvPr>
        </p:nvSpPr>
        <p:spPr/>
        <p:txBody>
          <a:bodyPr/>
          <a:lstStyle/>
          <a:p>
            <a:fld id="{296FD84B-3D92-44E0-8FC5-6F51C9AEB030}" type="slidenum">
              <a:rPr lang="en-US" smtClean="0"/>
              <a:t>‹#›</a:t>
            </a:fld>
            <a:endParaRPr lang="en-US"/>
          </a:p>
        </p:txBody>
      </p:sp>
    </p:spTree>
    <p:extLst>
      <p:ext uri="{BB962C8B-B14F-4D97-AF65-F5344CB8AC3E}">
        <p14:creationId xmlns:p14="http://schemas.microsoft.com/office/powerpoint/2010/main" val="3359061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42052-09CB-B376-E97E-B6F7EAB7D1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432328-3BA3-0718-7A2C-D06EF7B943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5BF40-4EED-9A4B-ED6C-D09078DD74CC}"/>
              </a:ext>
            </a:extLst>
          </p:cNvPr>
          <p:cNvSpPr>
            <a:spLocks noGrp="1"/>
          </p:cNvSpPr>
          <p:nvPr>
            <p:ph type="dt" sz="half" idx="10"/>
          </p:nvPr>
        </p:nvSpPr>
        <p:spPr/>
        <p:txBody>
          <a:bodyPr/>
          <a:lstStyle/>
          <a:p>
            <a:fld id="{930319DB-D4A9-4739-8FBE-9AA92CE3FC7B}" type="datetimeFigureOut">
              <a:rPr lang="en-US" smtClean="0"/>
              <a:t>10/27/2026</a:t>
            </a:fld>
            <a:endParaRPr lang="en-US"/>
          </a:p>
        </p:txBody>
      </p:sp>
      <p:sp>
        <p:nvSpPr>
          <p:cNvPr id="5" name="Footer Placeholder 4">
            <a:extLst>
              <a:ext uri="{FF2B5EF4-FFF2-40B4-BE49-F238E27FC236}">
                <a16:creationId xmlns:a16="http://schemas.microsoft.com/office/drawing/2014/main" id="{D47590E1-6C4B-5E30-E42A-8797B51F00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95A9BA-61CB-2E60-7807-9E7647F1EEF2}"/>
              </a:ext>
            </a:extLst>
          </p:cNvPr>
          <p:cNvSpPr>
            <a:spLocks noGrp="1"/>
          </p:cNvSpPr>
          <p:nvPr>
            <p:ph type="sldNum" sz="quarter" idx="12"/>
          </p:nvPr>
        </p:nvSpPr>
        <p:spPr/>
        <p:txBody>
          <a:bodyPr/>
          <a:lstStyle/>
          <a:p>
            <a:fld id="{296FD84B-3D92-44E0-8FC5-6F51C9AEB030}" type="slidenum">
              <a:rPr lang="en-US" smtClean="0"/>
              <a:t>‹#›</a:t>
            </a:fld>
            <a:endParaRPr lang="en-US"/>
          </a:p>
        </p:txBody>
      </p:sp>
    </p:spTree>
    <p:extLst>
      <p:ext uri="{BB962C8B-B14F-4D97-AF65-F5344CB8AC3E}">
        <p14:creationId xmlns:p14="http://schemas.microsoft.com/office/powerpoint/2010/main" val="2661708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17306C-07AE-2DB9-B4E3-0AE67187D85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1FC2E45-4EF0-4DCF-6476-42CBF5C821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A71FCC-5850-8E98-D0C8-FBC60EE48AB0}"/>
              </a:ext>
            </a:extLst>
          </p:cNvPr>
          <p:cNvSpPr>
            <a:spLocks noGrp="1"/>
          </p:cNvSpPr>
          <p:nvPr>
            <p:ph type="dt" sz="half" idx="10"/>
          </p:nvPr>
        </p:nvSpPr>
        <p:spPr/>
        <p:txBody>
          <a:bodyPr/>
          <a:lstStyle/>
          <a:p>
            <a:fld id="{930319DB-D4A9-4739-8FBE-9AA92CE3FC7B}" type="datetimeFigureOut">
              <a:rPr lang="en-US" smtClean="0"/>
              <a:t>10/27/2026</a:t>
            </a:fld>
            <a:endParaRPr lang="en-US"/>
          </a:p>
        </p:txBody>
      </p:sp>
      <p:sp>
        <p:nvSpPr>
          <p:cNvPr id="5" name="Footer Placeholder 4">
            <a:extLst>
              <a:ext uri="{FF2B5EF4-FFF2-40B4-BE49-F238E27FC236}">
                <a16:creationId xmlns:a16="http://schemas.microsoft.com/office/drawing/2014/main" id="{7CB0B41F-FC34-ABBC-EEDB-1668B15565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15DC85-4E55-4364-F03B-E7E38E7DE78D}"/>
              </a:ext>
            </a:extLst>
          </p:cNvPr>
          <p:cNvSpPr>
            <a:spLocks noGrp="1"/>
          </p:cNvSpPr>
          <p:nvPr>
            <p:ph type="sldNum" sz="quarter" idx="12"/>
          </p:nvPr>
        </p:nvSpPr>
        <p:spPr/>
        <p:txBody>
          <a:bodyPr/>
          <a:lstStyle/>
          <a:p>
            <a:fld id="{296FD84B-3D92-44E0-8FC5-6F51C9AEB030}" type="slidenum">
              <a:rPr lang="en-US" smtClean="0"/>
              <a:t>‹#›</a:t>
            </a:fld>
            <a:endParaRPr lang="en-US"/>
          </a:p>
        </p:txBody>
      </p:sp>
    </p:spTree>
    <p:extLst>
      <p:ext uri="{BB962C8B-B14F-4D97-AF65-F5344CB8AC3E}">
        <p14:creationId xmlns:p14="http://schemas.microsoft.com/office/powerpoint/2010/main" val="1778855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EC3275-693B-5756-FD15-C64B39A42A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1A1B13-12D4-1242-9EE5-80B74D151B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2B6AD9-EA02-7FB2-61AD-4FDAD3FB66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319DB-D4A9-4739-8FBE-9AA92CE3FC7B}" type="datetimeFigureOut">
              <a:rPr lang="en-US" smtClean="0"/>
              <a:t>10/27/2026</a:t>
            </a:fld>
            <a:endParaRPr lang="en-US"/>
          </a:p>
        </p:txBody>
      </p:sp>
      <p:sp>
        <p:nvSpPr>
          <p:cNvPr id="5" name="Footer Placeholder 4">
            <a:extLst>
              <a:ext uri="{FF2B5EF4-FFF2-40B4-BE49-F238E27FC236}">
                <a16:creationId xmlns:a16="http://schemas.microsoft.com/office/drawing/2014/main" id="{E5DF7308-248A-3275-2F09-CA7FAFE92F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07932A-BDB9-EF87-EC30-7A4B6CCB37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96FD84B-3D92-44E0-8FC5-6F51C9AEB030}" type="slidenum">
              <a:rPr lang="en-US" smtClean="0"/>
              <a:t>‹#›</a:t>
            </a:fld>
            <a:endParaRPr lang="en-US"/>
          </a:p>
        </p:txBody>
      </p:sp>
    </p:spTree>
    <p:extLst>
      <p:ext uri="{BB962C8B-B14F-4D97-AF65-F5344CB8AC3E}">
        <p14:creationId xmlns:p14="http://schemas.microsoft.com/office/powerpoint/2010/main" val="35789192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4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5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6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6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7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7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7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7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8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8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9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10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104.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10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diagramLayout" Target="../diagrams/layout31.xml"/><Relationship Id="rId2" Type="http://schemas.openxmlformats.org/officeDocument/2006/relationships/diagramData" Target="../diagrams/data31.xml"/><Relationship Id="rId1" Type="http://schemas.openxmlformats.org/officeDocument/2006/relationships/slideLayout" Target="../slideLayouts/slideLayout2.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11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diagramLayout" Target="../diagrams/layout33.xml"/><Relationship Id="rId2" Type="http://schemas.openxmlformats.org/officeDocument/2006/relationships/diagramData" Target="../diagrams/data33.xml"/><Relationship Id="rId1" Type="http://schemas.openxmlformats.org/officeDocument/2006/relationships/slideLayout" Target="../slideLayouts/slideLayout2.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11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2.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108.jfif"/><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110.jfif"/><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111.jfif"/><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112.jpe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115.jpe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diagramLayout" Target="../diagrams/layout35.xml"/><Relationship Id="rId2" Type="http://schemas.openxmlformats.org/officeDocument/2006/relationships/diagramData" Target="../diagrams/data35.xml"/><Relationship Id="rId1" Type="http://schemas.openxmlformats.org/officeDocument/2006/relationships/slideLayout" Target="../slideLayouts/slideLayout2.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170.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120.jpe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121.jpe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122.jfif"/><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124.jfif"/><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125.jfif"/><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131.jpe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139.jpe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140.jpe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141.jpe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142.jpe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image" Target="../media/image141.jpe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2C92889-2E97-ECE9-15E7-F411710B4FA0}"/>
              </a:ext>
            </a:extLst>
          </p:cNvPr>
          <p:cNvSpPr>
            <a:spLocks noGrp="1"/>
          </p:cNvSpPr>
          <p:nvPr>
            <p:ph type="ctrTitle"/>
          </p:nvPr>
        </p:nvSpPr>
        <p:spPr>
          <a:xfrm>
            <a:off x="1226353" y="1197380"/>
            <a:ext cx="6596245" cy="1080144"/>
          </a:xfrm>
        </p:spPr>
        <p:txBody>
          <a:bodyPr>
            <a:normAutofit/>
          </a:bodyPr>
          <a:lstStyle/>
          <a:p>
            <a:pPr algn="r"/>
            <a:r>
              <a:rPr lang="en-US" sz="4800" dirty="0">
                <a:solidFill>
                  <a:srgbClr val="FFFFFF"/>
                </a:solidFill>
              </a:rPr>
              <a:t>Oracle fusion financial</a:t>
            </a: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A39541C2-2332-78A9-989C-A37E3BDC84BC}"/>
              </a:ext>
            </a:extLst>
          </p:cNvPr>
          <p:cNvSpPr>
            <a:spLocks noGrp="1"/>
          </p:cNvSpPr>
          <p:nvPr>
            <p:ph type="subTitle" idx="1"/>
          </p:nvPr>
        </p:nvSpPr>
        <p:spPr>
          <a:xfrm>
            <a:off x="1771362" y="2509963"/>
            <a:ext cx="6051236" cy="425052"/>
          </a:xfrm>
        </p:spPr>
        <p:txBody>
          <a:bodyPr>
            <a:normAutofit/>
          </a:bodyPr>
          <a:lstStyle/>
          <a:p>
            <a:pPr algn="r"/>
            <a:r>
              <a:rPr lang="en-US" dirty="0">
                <a:solidFill>
                  <a:srgbClr val="FFFFFF"/>
                </a:solidFill>
              </a:rPr>
              <a:t>General ledger module</a:t>
            </a: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title 2">
            <a:extLst>
              <a:ext uri="{FF2B5EF4-FFF2-40B4-BE49-F238E27FC236}">
                <a16:creationId xmlns:a16="http://schemas.microsoft.com/office/drawing/2014/main" id="{EB30A236-2F87-7B95-BA87-CD35A7A26EA5}"/>
              </a:ext>
            </a:extLst>
          </p:cNvPr>
          <p:cNvSpPr txBox="1">
            <a:spLocks/>
          </p:cNvSpPr>
          <p:nvPr/>
        </p:nvSpPr>
        <p:spPr>
          <a:xfrm>
            <a:off x="1869371" y="5004135"/>
            <a:ext cx="6051236" cy="1241828"/>
          </a:xfrm>
          <a:prstGeom prst="rect">
            <a:avLst/>
          </a:prstGeom>
        </p:spPr>
        <p:txBody>
          <a:bodyPr vert="horz" lIns="91440" tIns="45720" rIns="91440" bIns="45720" rtlCol="0">
            <a:normAutofit fontScale="7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600" b="1" dirty="0">
                <a:solidFill>
                  <a:srgbClr val="FFFFFF"/>
                </a:solidFill>
              </a:rPr>
              <a:t>Prepared and presented by</a:t>
            </a:r>
            <a:endParaRPr lang="ar-EG" sz="2600" b="1" dirty="0">
              <a:solidFill>
                <a:srgbClr val="FFFFFF"/>
              </a:solidFill>
            </a:endParaRPr>
          </a:p>
          <a:p>
            <a:r>
              <a:rPr lang="en-US" sz="2300" dirty="0">
                <a:solidFill>
                  <a:srgbClr val="FFFFFF"/>
                </a:solidFill>
              </a:rPr>
              <a:t>Shaimaa Sayed Husein Yousef </a:t>
            </a:r>
          </a:p>
          <a:p>
            <a:r>
              <a:rPr lang="en-US" sz="2300" dirty="0">
                <a:solidFill>
                  <a:srgbClr val="FFFFFF"/>
                </a:solidFill>
              </a:rPr>
              <a:t>Ahmed Mohamed Elsayed Elsheikh</a:t>
            </a:r>
          </a:p>
          <a:p>
            <a:r>
              <a:rPr lang="en-US" sz="2300" dirty="0">
                <a:solidFill>
                  <a:srgbClr val="FFFFFF"/>
                </a:solidFill>
              </a:rPr>
              <a:t>Mai </a:t>
            </a:r>
            <a:r>
              <a:rPr lang="en-US" sz="2300" dirty="0" err="1">
                <a:solidFill>
                  <a:srgbClr val="FFFFFF"/>
                </a:solidFill>
              </a:rPr>
              <a:t>Moamen</a:t>
            </a:r>
            <a:r>
              <a:rPr lang="en-US" sz="2300" dirty="0">
                <a:solidFill>
                  <a:srgbClr val="FFFFFF"/>
                </a:solidFill>
              </a:rPr>
              <a:t> Mohamed Moneeb</a:t>
            </a:r>
            <a:endParaRPr lang="en-US" dirty="0">
              <a:solidFill>
                <a:srgbClr val="FFFFFF"/>
              </a:solidFill>
            </a:endParaRPr>
          </a:p>
        </p:txBody>
      </p:sp>
    </p:spTree>
    <p:extLst>
      <p:ext uri="{BB962C8B-B14F-4D97-AF65-F5344CB8AC3E}">
        <p14:creationId xmlns:p14="http://schemas.microsoft.com/office/powerpoint/2010/main" val="2121995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000"/>
                                  </p:stCondLst>
                                  <p:iterate>
                                    <p:tmPct val="10000"/>
                                  </p:iterate>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700"/>
                                        <p:tgtEl>
                                          <p:spTgt spid="4">
                                            <p:txEl>
                                              <p:pRg st="0" end="0"/>
                                            </p:txEl>
                                          </p:spTgt>
                                        </p:tgtEl>
                                      </p:cBhvr>
                                    </p:animEffect>
                                  </p:childTnLst>
                                </p:cTn>
                              </p:par>
                              <p:par>
                                <p:cTn id="14" presetID="10" presetClass="entr" presetSubtype="0" fill="hold" grpId="0" nodeType="withEffect">
                                  <p:stCondLst>
                                    <p:cond delay="1000"/>
                                  </p:stCondLst>
                                  <p:iterate>
                                    <p:tmPct val="10000"/>
                                  </p:iterate>
                                  <p:childTnLst>
                                    <p:set>
                                      <p:cBhvr>
                                        <p:cTn id="15" dur="1" fill="hold">
                                          <p:stCondLst>
                                            <p:cond delay="0"/>
                                          </p:stCondLst>
                                        </p:cTn>
                                        <p:tgtEl>
                                          <p:spTgt spid="4">
                                            <p:txEl>
                                              <p:pRg st="1" end="1"/>
                                            </p:txEl>
                                          </p:spTgt>
                                        </p:tgtEl>
                                        <p:attrNameLst>
                                          <p:attrName>style.visibility</p:attrName>
                                        </p:attrNameLst>
                                      </p:cBhvr>
                                      <p:to>
                                        <p:strVal val="visible"/>
                                      </p:to>
                                    </p:set>
                                    <p:animEffect transition="in" filter="fade">
                                      <p:cBhvr>
                                        <p:cTn id="16" dur="700"/>
                                        <p:tgtEl>
                                          <p:spTgt spid="4">
                                            <p:txEl>
                                              <p:pRg st="1" end="1"/>
                                            </p:txEl>
                                          </p:spTgt>
                                        </p:tgtEl>
                                      </p:cBhvr>
                                    </p:animEffect>
                                  </p:childTnLst>
                                </p:cTn>
                              </p:par>
                              <p:par>
                                <p:cTn id="17" presetID="10" presetClass="entr" presetSubtype="0" fill="hold" grpId="0" nodeType="withEffect">
                                  <p:stCondLst>
                                    <p:cond delay="1000"/>
                                  </p:stCondLst>
                                  <p:iterate>
                                    <p:tmPct val="10000"/>
                                  </p:iterate>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700"/>
                                        <p:tgtEl>
                                          <p:spTgt spid="4">
                                            <p:txEl>
                                              <p:pRg st="2" end="2"/>
                                            </p:txEl>
                                          </p:spTgt>
                                        </p:tgtEl>
                                      </p:cBhvr>
                                    </p:animEffect>
                                  </p:childTnLst>
                                </p:cTn>
                              </p:par>
                              <p:par>
                                <p:cTn id="20" presetID="10" presetClass="entr" presetSubtype="0" fill="hold" grpId="0" nodeType="withEffect">
                                  <p:stCondLst>
                                    <p:cond delay="1000"/>
                                  </p:stCondLst>
                                  <p:iterate>
                                    <p:tmPct val="10000"/>
                                  </p:iterate>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7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38F5530-DA31-4B62-8DF9-56A1A3B6B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AEFAF95-013F-4375-AAF4-033AC93F5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68735E28-7236-42D8-A5E1-A0F302FE87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9" name="Oval 28">
              <a:extLst>
                <a:ext uri="{FF2B5EF4-FFF2-40B4-BE49-F238E27FC236}">
                  <a16:creationId xmlns:a16="http://schemas.microsoft.com/office/drawing/2014/main" id="{F3642881-D4B2-4CC2-A287-0FA0006F3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901C50C6-CC43-4D9E-B2AB-F373712E43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26E7187D-0938-461D-BFC5-89EEF35062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34C951A-9754-438B-9D57-E6B93B6E4C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FCCC8FCE-0563-4147-B2A2-7C81702EBE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5E68FC26-41A9-4C82-BE7F-E9344CDC4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FBB336D1-2562-4680-B29B-E22C603C0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9EED3885-4010-4FBE-A045-DC59CAE782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3" name="Straight Connector 22">
              <a:extLst>
                <a:ext uri="{FF2B5EF4-FFF2-40B4-BE49-F238E27FC236}">
                  <a16:creationId xmlns:a16="http://schemas.microsoft.com/office/drawing/2014/main" id="{C3D74F45-ED22-46E8-8A8C-85550ED981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F675583-78ED-4BEC-8424-37068227E8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9BD9726-207D-4725-AA6E-5147080D5B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1A43941-4783-4A0B-9385-1952F9F89D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8" name="Rectangle 27">
            <a:extLst>
              <a:ext uri="{FF2B5EF4-FFF2-40B4-BE49-F238E27FC236}">
                <a16:creationId xmlns:a16="http://schemas.microsoft.com/office/drawing/2014/main" id="{B4806F9C-3233-4FC3-B300-D5AA58A5CD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70E3F9FC-BB7B-433D-8A4F-1BCFA582E0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1" name="Straight Connector 30">
              <a:extLst>
                <a:ext uri="{FF2B5EF4-FFF2-40B4-BE49-F238E27FC236}">
                  <a16:creationId xmlns:a16="http://schemas.microsoft.com/office/drawing/2014/main" id="{1406F394-9D6F-4986-A3AF-6EF16DEDE6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4F98CF1-0C8F-435D-846B-D3C506378F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781ACDD-4A0F-4369-A468-3FEC355F8E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BB34D61-E762-4862-9DA8-702D97A362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AEAE9922-844F-6A65-E5B2-BED19AE609E3}"/>
              </a:ext>
            </a:extLst>
          </p:cNvPr>
          <p:cNvSpPr>
            <a:spLocks noGrp="1"/>
          </p:cNvSpPr>
          <p:nvPr>
            <p:ph type="title"/>
          </p:nvPr>
        </p:nvSpPr>
        <p:spPr>
          <a:xfrm>
            <a:off x="630936" y="630936"/>
            <a:ext cx="5465064" cy="5626947"/>
          </a:xfrm>
          <a:noFill/>
        </p:spPr>
        <p:txBody>
          <a:bodyPr anchor="ctr">
            <a:normAutofit/>
          </a:bodyPr>
          <a:lstStyle/>
          <a:p>
            <a:pPr algn="ctr"/>
            <a:r>
              <a:rPr lang="en-US" sz="4800">
                <a:solidFill>
                  <a:schemeClr val="bg1"/>
                </a:solidFill>
              </a:rPr>
              <a:t>Topics Covered in the Project:</a:t>
            </a:r>
          </a:p>
        </p:txBody>
      </p:sp>
      <p:sp>
        <p:nvSpPr>
          <p:cNvPr id="3" name="Content Placeholder 2">
            <a:extLst>
              <a:ext uri="{FF2B5EF4-FFF2-40B4-BE49-F238E27FC236}">
                <a16:creationId xmlns:a16="http://schemas.microsoft.com/office/drawing/2014/main" id="{2E55BBE3-843B-8CCD-875E-8990AD5551A3}"/>
              </a:ext>
            </a:extLst>
          </p:cNvPr>
          <p:cNvSpPr>
            <a:spLocks noGrp="1"/>
          </p:cNvSpPr>
          <p:nvPr>
            <p:ph idx="1"/>
          </p:nvPr>
        </p:nvSpPr>
        <p:spPr>
          <a:xfrm>
            <a:off x="6502152" y="630936"/>
            <a:ext cx="4978592" cy="5626957"/>
          </a:xfrm>
          <a:noFill/>
        </p:spPr>
        <p:txBody>
          <a:bodyPr anchor="ctr">
            <a:normAutofit/>
          </a:bodyPr>
          <a:lstStyle/>
          <a:p>
            <a:r>
              <a:rPr lang="en-US" sz="1500" u="sng">
                <a:solidFill>
                  <a:schemeClr val="bg1"/>
                </a:solidFill>
              </a:rPr>
              <a:t>Part 1</a:t>
            </a:r>
            <a:endParaRPr lang="en-US" sz="1500">
              <a:solidFill>
                <a:schemeClr val="bg1"/>
              </a:solidFill>
            </a:endParaRPr>
          </a:p>
          <a:p>
            <a:pPr lvl="0"/>
            <a:r>
              <a:rPr lang="en-US" sz="1500">
                <a:solidFill>
                  <a:schemeClr val="bg1"/>
                </a:solidFill>
              </a:rPr>
              <a:t>Create Journal Category &amp; Sequence</a:t>
            </a:r>
          </a:p>
          <a:p>
            <a:pPr lvl="0"/>
            <a:r>
              <a:rPr lang="en-US" sz="1500">
                <a:solidFill>
                  <a:schemeClr val="bg1"/>
                </a:solidFill>
              </a:rPr>
              <a:t>Create Batch With Many Journals</a:t>
            </a:r>
          </a:p>
          <a:p>
            <a:pPr lvl="0"/>
            <a:r>
              <a:rPr lang="en-US" sz="1500">
                <a:solidFill>
                  <a:schemeClr val="bg1"/>
                </a:solidFill>
              </a:rPr>
              <a:t>Reverse Journal (Switch DR/CR Or Change Sign)</a:t>
            </a:r>
          </a:p>
          <a:p>
            <a:pPr lvl="0"/>
            <a:r>
              <a:rPr lang="en-US" sz="1500">
                <a:solidFill>
                  <a:schemeClr val="bg1"/>
                </a:solidFill>
              </a:rPr>
              <a:t>Intercompany</a:t>
            </a:r>
          </a:p>
          <a:p>
            <a:pPr lvl="0"/>
            <a:r>
              <a:rPr lang="en-US" sz="1500">
                <a:solidFill>
                  <a:schemeClr val="bg1"/>
                </a:solidFill>
              </a:rPr>
              <a:t>Cross Validation Rule</a:t>
            </a:r>
          </a:p>
          <a:p>
            <a:r>
              <a:rPr lang="en-US" sz="1500" u="sng">
                <a:solidFill>
                  <a:schemeClr val="bg1"/>
                </a:solidFill>
              </a:rPr>
              <a:t>Part 2</a:t>
            </a:r>
            <a:endParaRPr lang="en-US" sz="1500">
              <a:solidFill>
                <a:schemeClr val="bg1"/>
              </a:solidFill>
            </a:endParaRPr>
          </a:p>
          <a:p>
            <a:pPr lvl="0"/>
            <a:r>
              <a:rPr lang="en-US" sz="1500">
                <a:solidFill>
                  <a:schemeClr val="bg1"/>
                </a:solidFill>
              </a:rPr>
              <a:t>Create Conversion Rate Type</a:t>
            </a:r>
          </a:p>
          <a:p>
            <a:pPr lvl="0"/>
            <a:r>
              <a:rPr lang="en-US" sz="1500">
                <a:solidFill>
                  <a:schemeClr val="bg1"/>
                </a:solidFill>
              </a:rPr>
              <a:t>Create Currency Rate</a:t>
            </a:r>
          </a:p>
          <a:p>
            <a:pPr lvl="0"/>
            <a:r>
              <a:rPr lang="en-US" sz="1500">
                <a:solidFill>
                  <a:schemeClr val="bg1"/>
                </a:solidFill>
              </a:rPr>
              <a:t>Create Journal With Functional &amp; Foreign Currency</a:t>
            </a:r>
          </a:p>
          <a:p>
            <a:pPr lvl="0"/>
            <a:r>
              <a:rPr lang="en-US" sz="1500">
                <a:solidFill>
                  <a:schemeClr val="bg1"/>
                </a:solidFill>
              </a:rPr>
              <a:t>Revaluation</a:t>
            </a:r>
          </a:p>
          <a:p>
            <a:pPr lvl="0"/>
            <a:r>
              <a:rPr lang="en-US" sz="1500">
                <a:solidFill>
                  <a:schemeClr val="bg1"/>
                </a:solidFill>
              </a:rPr>
              <a:t>Translation</a:t>
            </a:r>
          </a:p>
          <a:p>
            <a:r>
              <a:rPr lang="en-US" sz="1500" u="sng">
                <a:solidFill>
                  <a:schemeClr val="bg1"/>
                </a:solidFill>
              </a:rPr>
              <a:t>Part 3</a:t>
            </a:r>
            <a:endParaRPr lang="en-US" sz="1500">
              <a:solidFill>
                <a:schemeClr val="bg1"/>
              </a:solidFill>
            </a:endParaRPr>
          </a:p>
          <a:p>
            <a:pPr lvl="0"/>
            <a:r>
              <a:rPr lang="en-US" sz="1500">
                <a:solidFill>
                  <a:schemeClr val="bg1"/>
                </a:solidFill>
              </a:rPr>
              <a:t>Create Budget</a:t>
            </a:r>
          </a:p>
          <a:p>
            <a:pPr lvl="0"/>
            <a:r>
              <a:rPr lang="en-US" sz="1500">
                <a:solidFill>
                  <a:schemeClr val="bg1"/>
                </a:solidFill>
              </a:rPr>
              <a:t>Create Increase &amp; Transfer</a:t>
            </a:r>
          </a:p>
          <a:p>
            <a:pPr lvl="0"/>
            <a:r>
              <a:rPr lang="en-US" sz="1500">
                <a:solidFill>
                  <a:schemeClr val="bg1"/>
                </a:solidFill>
              </a:rPr>
              <a:t>Create Journal With Check Fund &amp; Reserve Fund</a:t>
            </a:r>
          </a:p>
          <a:p>
            <a:endParaRPr lang="en-US" sz="1500">
              <a:solidFill>
                <a:schemeClr val="bg1"/>
              </a:solidFill>
            </a:endParaRPr>
          </a:p>
        </p:txBody>
      </p:sp>
    </p:spTree>
    <p:extLst>
      <p:ext uri="{BB962C8B-B14F-4D97-AF65-F5344CB8AC3E}">
        <p14:creationId xmlns:p14="http://schemas.microsoft.com/office/powerpoint/2010/main" val="3483726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18B7B7-683C-4D88-9557-7B90B1BCEBBB}"/>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184D9E-188A-09D8-4AA6-369A20453193}"/>
              </a:ext>
            </a:extLst>
          </p:cNvPr>
          <p:cNvSpPr>
            <a:spLocks noGrp="1"/>
          </p:cNvSpPr>
          <p:nvPr>
            <p:ph type="ctrTitle"/>
          </p:nvPr>
        </p:nvSpPr>
        <p:spPr>
          <a:xfrm>
            <a:off x="2026693" y="1030406"/>
            <a:ext cx="8147713" cy="3081242"/>
          </a:xfrm>
        </p:spPr>
        <p:txBody>
          <a:bodyPr anchor="ctr">
            <a:normAutofit/>
          </a:bodyPr>
          <a:lstStyle/>
          <a:p>
            <a:r>
              <a:rPr lang="en-US" sz="4800" b="1">
                <a:solidFill>
                  <a:srgbClr val="FFFFFF"/>
                </a:solidFill>
              </a:rPr>
              <a:t>Journal Setup and Processing Steps</a:t>
            </a:r>
            <a:endParaRPr lang="en-US" sz="4800">
              <a:solidFill>
                <a:srgbClr val="FFFFFF"/>
              </a:solidFill>
            </a:endParaRPr>
          </a:p>
        </p:txBody>
      </p:sp>
    </p:spTree>
    <p:extLst>
      <p:ext uri="{BB962C8B-B14F-4D97-AF65-F5344CB8AC3E}">
        <p14:creationId xmlns:p14="http://schemas.microsoft.com/office/powerpoint/2010/main" val="1186101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7A7D4B-7C61-B976-9785-C36A043B7618}"/>
              </a:ext>
            </a:extLst>
          </p:cNvPr>
          <p:cNvSpPr>
            <a:spLocks noGrp="1"/>
          </p:cNvSpPr>
          <p:nvPr>
            <p:ph type="title"/>
          </p:nvPr>
        </p:nvSpPr>
        <p:spPr>
          <a:xfrm>
            <a:off x="761803" y="350196"/>
            <a:ext cx="4646904" cy="1624520"/>
          </a:xfrm>
        </p:spPr>
        <p:txBody>
          <a:bodyPr anchor="ctr">
            <a:normAutofit/>
          </a:bodyPr>
          <a:lstStyle/>
          <a:p>
            <a:r>
              <a:rPr lang="en-US" sz="4000" b="1"/>
              <a:t>Part 1: Create Journal Category</a:t>
            </a:r>
            <a:endParaRPr lang="en-US" sz="4000"/>
          </a:p>
        </p:txBody>
      </p:sp>
      <p:sp>
        <p:nvSpPr>
          <p:cNvPr id="3" name="Content Placeholder 2">
            <a:extLst>
              <a:ext uri="{FF2B5EF4-FFF2-40B4-BE49-F238E27FC236}">
                <a16:creationId xmlns:a16="http://schemas.microsoft.com/office/drawing/2014/main" id="{DE465751-FC4C-EA27-5E68-5FE1DC3D58BD}"/>
              </a:ext>
            </a:extLst>
          </p:cNvPr>
          <p:cNvSpPr>
            <a:spLocks noGrp="1"/>
          </p:cNvSpPr>
          <p:nvPr>
            <p:ph idx="1"/>
          </p:nvPr>
        </p:nvSpPr>
        <p:spPr>
          <a:xfrm>
            <a:off x="761802" y="2428240"/>
            <a:ext cx="4646905" cy="3928109"/>
          </a:xfrm>
        </p:spPr>
        <p:txBody>
          <a:bodyPr anchor="ctr">
            <a:normAutofit/>
          </a:bodyPr>
          <a:lstStyle/>
          <a:p>
            <a:pPr marL="0" indent="0">
              <a:buNone/>
            </a:pPr>
            <a:r>
              <a:rPr lang="en-US" sz="1900" b="1" i="1" dirty="0"/>
              <a:t>Overview</a:t>
            </a:r>
            <a:endParaRPr lang="en-US" sz="1900" dirty="0"/>
          </a:p>
          <a:p>
            <a:pPr lvl="0"/>
            <a:r>
              <a:rPr lang="en-US" sz="1900" dirty="0"/>
              <a:t>Journal categories classify journal entries by business purpose (for example, </a:t>
            </a:r>
            <a:r>
              <a:rPr lang="en-US" sz="1900" b="1" dirty="0"/>
              <a:t>Accrual</a:t>
            </a:r>
            <a:r>
              <a:rPr lang="en-US" sz="1900" dirty="0"/>
              <a:t> or </a:t>
            </a:r>
            <a:r>
              <a:rPr lang="en-US" sz="1900" b="1" dirty="0"/>
              <a:t>Adjustment</a:t>
            </a:r>
            <a:r>
              <a:rPr lang="en-US" sz="1900" dirty="0"/>
              <a:t>) and are mandatory on every journal.</a:t>
            </a:r>
          </a:p>
          <a:p>
            <a:pPr lvl="0"/>
            <a:r>
              <a:rPr lang="en-US" sz="1900" dirty="0"/>
              <a:t>Categories are defined once in the </a:t>
            </a:r>
            <a:r>
              <a:rPr lang="en-US" sz="1900" b="1" dirty="0"/>
              <a:t>General Ledger</a:t>
            </a:r>
            <a:r>
              <a:rPr lang="en-US" sz="1900" dirty="0"/>
              <a:t> functional area and are available across ledgers.</a:t>
            </a:r>
          </a:p>
          <a:p>
            <a:pPr lvl="0"/>
            <a:r>
              <a:rPr lang="en-US" sz="1900" dirty="0"/>
              <a:t>The category created here (</a:t>
            </a:r>
            <a:r>
              <a:rPr lang="en-US" sz="1900" b="1" dirty="0" err="1"/>
              <a:t>NSS_Category</a:t>
            </a:r>
            <a:r>
              <a:rPr lang="en-US" sz="1900" dirty="0"/>
              <a:t>) is later used as a control attribute in the journal sequencing assignment (Part 2).</a:t>
            </a:r>
          </a:p>
          <a:p>
            <a:endParaRPr lang="en-US" sz="1900" dirty="0"/>
          </a:p>
        </p:txBody>
      </p:sp>
      <p:pic>
        <p:nvPicPr>
          <p:cNvPr id="5" name="Picture 4">
            <a:extLst>
              <a:ext uri="{FF2B5EF4-FFF2-40B4-BE49-F238E27FC236}">
                <a16:creationId xmlns:a16="http://schemas.microsoft.com/office/drawing/2014/main" id="{DA44CD55-5320-32E9-5992-2437F94EF51B}"/>
              </a:ext>
            </a:extLst>
          </p:cNvPr>
          <p:cNvPicPr>
            <a:picLocks noChangeAspect="1"/>
          </p:cNvPicPr>
          <p:nvPr/>
        </p:nvPicPr>
        <p:blipFill>
          <a:blip r:embed="rId2"/>
          <a:srcRect l="14606" r="18652"/>
          <a:stretch>
            <a:fillRect/>
          </a:stretch>
        </p:blipFill>
        <p:spPr>
          <a:xfrm>
            <a:off x="6096000" y="1"/>
            <a:ext cx="6102825" cy="6858000"/>
          </a:xfrm>
          <a:prstGeom prst="rect">
            <a:avLst/>
          </a:prstGeom>
        </p:spPr>
      </p:pic>
    </p:spTree>
    <p:extLst>
      <p:ext uri="{BB962C8B-B14F-4D97-AF65-F5344CB8AC3E}">
        <p14:creationId xmlns:p14="http://schemas.microsoft.com/office/powerpoint/2010/main" val="3627163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6CBA66-7327-D840-0228-F24416326C24}"/>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b="1" u="sng" kern="1200">
                <a:solidFill>
                  <a:srgbClr val="FFFFFF"/>
                </a:solidFill>
                <a:latin typeface="+mj-lt"/>
                <a:ea typeface="+mj-ea"/>
                <a:cs typeface="+mj-cs"/>
              </a:rPr>
              <a:t>Step 1: Setup and Maintenance</a:t>
            </a:r>
            <a:endParaRPr lang="en-US" sz="4000" kern="1200">
              <a:solidFill>
                <a:srgbClr val="FFFFFF"/>
              </a:solidFill>
              <a:latin typeface="+mj-lt"/>
              <a:ea typeface="+mj-ea"/>
              <a:cs typeface="+mj-cs"/>
            </a:endParaRPr>
          </a:p>
        </p:txBody>
      </p:sp>
      <p:pic>
        <p:nvPicPr>
          <p:cNvPr id="4" name="Setup and Maintenance" descr="Setup and Maintenance" title="Setup and Maintenance">
            <a:extLst>
              <a:ext uri="{FF2B5EF4-FFF2-40B4-BE49-F238E27FC236}">
                <a16:creationId xmlns:a16="http://schemas.microsoft.com/office/drawing/2014/main" id="{5449221C-A69A-64A9-475D-2ADEA1FD632A}"/>
              </a:ext>
            </a:extLst>
          </p:cNvPr>
          <p:cNvPicPr>
            <a:picLocks noGrp="1" noChangeAspect="1"/>
          </p:cNvPicPr>
          <p:nvPr>
            <p:ph idx="1"/>
          </p:nvPr>
        </p:nvPicPr>
        <p:blipFill>
          <a:blip r:embed="rId2"/>
          <a:stretch>
            <a:fillRect/>
          </a:stretch>
        </p:blipFill>
        <p:spPr bwMode="auto">
          <a:xfrm>
            <a:off x="1621466" y="1966293"/>
            <a:ext cx="8949066" cy="4452160"/>
          </a:xfrm>
          <a:prstGeom prst="rect">
            <a:avLst/>
          </a:prstGeom>
        </p:spPr>
      </p:pic>
    </p:spTree>
    <p:extLst>
      <p:ext uri="{BB962C8B-B14F-4D97-AF65-F5344CB8AC3E}">
        <p14:creationId xmlns:p14="http://schemas.microsoft.com/office/powerpoint/2010/main" val="2337331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31F4B-F975-37B7-F7E3-635D59827A38}"/>
              </a:ext>
            </a:extLst>
          </p:cNvPr>
          <p:cNvSpPr>
            <a:spLocks noGrp="1"/>
          </p:cNvSpPr>
          <p:nvPr>
            <p:ph type="title"/>
          </p:nvPr>
        </p:nvSpPr>
        <p:spPr/>
        <p:txBody>
          <a:bodyPr/>
          <a:lstStyle/>
          <a:p>
            <a:r>
              <a:rPr lang="en-US" b="1" u="sng" dirty="0"/>
              <a:t>Step 1: Setup and Maintenance</a:t>
            </a:r>
            <a:endParaRPr lang="en-US" dirty="0"/>
          </a:p>
        </p:txBody>
      </p:sp>
      <p:graphicFrame>
        <p:nvGraphicFramePr>
          <p:cNvPr id="5" name="Content Placeholder 2">
            <a:extLst>
              <a:ext uri="{FF2B5EF4-FFF2-40B4-BE49-F238E27FC236}">
                <a16:creationId xmlns:a16="http://schemas.microsoft.com/office/drawing/2014/main" id="{33CF9749-90B9-9A54-9CA0-F01FDDF212A8}"/>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95890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48E467-5A12-2C03-06BC-AD0A6FE68654}"/>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b="1" kern="1200">
                <a:solidFill>
                  <a:srgbClr val="FFFFFF"/>
                </a:solidFill>
                <a:latin typeface="+mj-lt"/>
                <a:ea typeface="+mj-ea"/>
                <a:cs typeface="+mj-cs"/>
              </a:rPr>
              <a:t>Step 2: General Ledger</a:t>
            </a:r>
            <a:endParaRPr lang="en-US" sz="4000" kern="1200">
              <a:solidFill>
                <a:srgbClr val="FFFFFF"/>
              </a:solidFill>
              <a:latin typeface="+mj-lt"/>
              <a:ea typeface="+mj-ea"/>
              <a:cs typeface="+mj-cs"/>
            </a:endParaRPr>
          </a:p>
        </p:txBody>
      </p:sp>
      <p:pic>
        <p:nvPicPr>
          <p:cNvPr id="4" name="General Ledger" descr="General Ledger" title="General Ledger">
            <a:extLst>
              <a:ext uri="{FF2B5EF4-FFF2-40B4-BE49-F238E27FC236}">
                <a16:creationId xmlns:a16="http://schemas.microsoft.com/office/drawing/2014/main" id="{5085FF9D-923A-5C9E-0263-312B6D820532}"/>
              </a:ext>
            </a:extLst>
          </p:cNvPr>
          <p:cNvPicPr>
            <a:picLocks noGrp="1" noChangeAspect="1"/>
          </p:cNvPicPr>
          <p:nvPr>
            <p:ph idx="1"/>
          </p:nvPr>
        </p:nvPicPr>
        <p:blipFill>
          <a:blip r:embed="rId2"/>
          <a:stretch>
            <a:fillRect/>
          </a:stretch>
        </p:blipFill>
        <p:spPr bwMode="auto">
          <a:xfrm>
            <a:off x="1308887" y="1655276"/>
            <a:ext cx="9574226" cy="4763177"/>
          </a:xfrm>
          <a:prstGeom prst="rect">
            <a:avLst/>
          </a:prstGeom>
        </p:spPr>
      </p:pic>
    </p:spTree>
    <p:extLst>
      <p:ext uri="{BB962C8B-B14F-4D97-AF65-F5344CB8AC3E}">
        <p14:creationId xmlns:p14="http://schemas.microsoft.com/office/powerpoint/2010/main" val="828967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F39670C-7C0C-0FDD-8A1C-A92F98DAC1EF}"/>
              </a:ext>
            </a:extLst>
          </p:cNvPr>
          <p:cNvSpPr>
            <a:spLocks noGrp="1"/>
          </p:cNvSpPr>
          <p:nvPr>
            <p:ph type="title"/>
          </p:nvPr>
        </p:nvSpPr>
        <p:spPr>
          <a:xfrm>
            <a:off x="1383564" y="348865"/>
            <a:ext cx="9718111" cy="1576446"/>
          </a:xfrm>
        </p:spPr>
        <p:txBody>
          <a:bodyPr anchor="ctr">
            <a:normAutofit/>
          </a:bodyPr>
          <a:lstStyle/>
          <a:p>
            <a:r>
              <a:rPr lang="en-US" sz="4000" b="1">
                <a:solidFill>
                  <a:srgbClr val="FFFFFF"/>
                </a:solidFill>
              </a:rPr>
              <a:t>Step 2: General Ledger</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D87DEBBB-672E-F5DC-21B5-4DBABAA18AFB}"/>
              </a:ext>
            </a:extLst>
          </p:cNvPr>
          <p:cNvGraphicFramePr>
            <a:graphicFrameLocks noGrp="1"/>
          </p:cNvGraphicFramePr>
          <p:nvPr>
            <p:ph idx="1"/>
            <p:extLst>
              <p:ext uri="{D42A27DB-BD31-4B8C-83A1-F6EECF244321}">
                <p14:modId xmlns:p14="http://schemas.microsoft.com/office/powerpoint/2010/main" val="207465109"/>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69529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88E41D2-1931-4143-667C-CABF8D3BF47E}"/>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2500" b="1" kern="1200">
                <a:solidFill>
                  <a:schemeClr val="tx1"/>
                </a:solidFill>
                <a:latin typeface="+mj-lt"/>
                <a:ea typeface="+mj-ea"/>
                <a:cs typeface="+mj-cs"/>
              </a:rPr>
              <a:t>Step 3: Manage Journal Categories</a:t>
            </a:r>
            <a:br>
              <a:rPr lang="en-US" sz="2500" kern="1200">
                <a:solidFill>
                  <a:schemeClr val="tx1"/>
                </a:solidFill>
                <a:latin typeface="+mj-lt"/>
                <a:ea typeface="+mj-ea"/>
                <a:cs typeface="+mj-cs"/>
              </a:rPr>
            </a:br>
            <a:endParaRPr lang="en-US" sz="2500" kern="1200">
              <a:solidFill>
                <a:schemeClr val="tx1"/>
              </a:solidFill>
              <a:latin typeface="+mj-lt"/>
              <a:ea typeface="+mj-ea"/>
              <a:cs typeface="+mj-cs"/>
            </a:endParaRPr>
          </a:p>
        </p:txBody>
      </p:sp>
      <p:pic>
        <p:nvPicPr>
          <p:cNvPr id="4" name="Manage Journal Categories" descr="Manage Journal Categories" title="Manage Journal Categories">
            <a:extLst>
              <a:ext uri="{FF2B5EF4-FFF2-40B4-BE49-F238E27FC236}">
                <a16:creationId xmlns:a16="http://schemas.microsoft.com/office/drawing/2014/main" id="{16BC6179-8BD4-E7E5-65F4-CF50C2AD2A7E}"/>
              </a:ext>
            </a:extLst>
          </p:cNvPr>
          <p:cNvPicPr>
            <a:picLocks noGrp="1" noChangeAspect="1"/>
          </p:cNvPicPr>
          <p:nvPr>
            <p:ph idx="1"/>
          </p:nvPr>
        </p:nvPicPr>
        <p:blipFill>
          <a:blip r:embed="rId2"/>
          <a:stretch>
            <a:fillRect/>
          </a:stretch>
        </p:blipFill>
        <p:spPr bwMode="auto">
          <a:xfrm>
            <a:off x="1324297" y="1615742"/>
            <a:ext cx="9543406" cy="4747844"/>
          </a:xfrm>
          <a:prstGeom prst="rect">
            <a:avLst/>
          </a:prstGeom>
        </p:spPr>
      </p:pic>
    </p:spTree>
    <p:extLst>
      <p:ext uri="{BB962C8B-B14F-4D97-AF65-F5344CB8AC3E}">
        <p14:creationId xmlns:p14="http://schemas.microsoft.com/office/powerpoint/2010/main" val="991956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172738A-06DA-FCEC-3C8B-09E3701FF212}"/>
              </a:ext>
            </a:extLst>
          </p:cNvPr>
          <p:cNvSpPr>
            <a:spLocks noGrp="1"/>
          </p:cNvSpPr>
          <p:nvPr>
            <p:ph type="title"/>
          </p:nvPr>
        </p:nvSpPr>
        <p:spPr>
          <a:xfrm>
            <a:off x="1383564" y="348865"/>
            <a:ext cx="9718111" cy="1576446"/>
          </a:xfrm>
        </p:spPr>
        <p:txBody>
          <a:bodyPr anchor="ctr">
            <a:normAutofit/>
          </a:bodyPr>
          <a:lstStyle/>
          <a:p>
            <a:r>
              <a:rPr lang="en-US" sz="4000" b="1">
                <a:solidFill>
                  <a:srgbClr val="FFFFFF"/>
                </a:solidFill>
              </a:rPr>
              <a:t>Step 3: Manage Journal Categories</a:t>
            </a:r>
            <a:br>
              <a:rPr lang="en-US" sz="4000">
                <a:solidFill>
                  <a:srgbClr val="FFFFFF"/>
                </a:solidFill>
              </a:rPr>
            </a:b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2739FDB1-393E-DEA2-7AF3-D36F061496D6}"/>
              </a:ext>
            </a:extLst>
          </p:cNvPr>
          <p:cNvGraphicFramePr>
            <a:graphicFrameLocks noGrp="1"/>
          </p:cNvGraphicFramePr>
          <p:nvPr>
            <p:ph idx="1"/>
            <p:extLst>
              <p:ext uri="{D42A27DB-BD31-4B8C-83A1-F6EECF244321}">
                <p14:modId xmlns:p14="http://schemas.microsoft.com/office/powerpoint/2010/main" val="2974313739"/>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65174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521BBC-7F56-FC36-4445-51366E0CFAB9}"/>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b="1" kern="1200">
                <a:solidFill>
                  <a:srgbClr val="FFFFFF"/>
                </a:solidFill>
                <a:latin typeface="+mj-lt"/>
                <a:ea typeface="+mj-ea"/>
                <a:cs typeface="+mj-cs"/>
              </a:rPr>
              <a:t>Step 4: Creating Category</a:t>
            </a:r>
            <a:br>
              <a:rPr lang="en-US" sz="3700" kern="1200">
                <a:solidFill>
                  <a:srgbClr val="FFFFFF"/>
                </a:solidFill>
                <a:latin typeface="+mj-lt"/>
                <a:ea typeface="+mj-ea"/>
                <a:cs typeface="+mj-cs"/>
              </a:rPr>
            </a:br>
            <a:endParaRPr lang="en-US" sz="3700" kern="1200">
              <a:solidFill>
                <a:srgbClr val="FFFFFF"/>
              </a:solidFill>
              <a:latin typeface="+mj-lt"/>
              <a:ea typeface="+mj-ea"/>
              <a:cs typeface="+mj-cs"/>
            </a:endParaRPr>
          </a:p>
        </p:txBody>
      </p:sp>
      <p:pic>
        <p:nvPicPr>
          <p:cNvPr id="4" name="Creating Category" descr="Creating Category" title="Creating Category">
            <a:extLst>
              <a:ext uri="{FF2B5EF4-FFF2-40B4-BE49-F238E27FC236}">
                <a16:creationId xmlns:a16="http://schemas.microsoft.com/office/drawing/2014/main" id="{C665978F-19F3-DFA2-70AC-404945CF9796}"/>
              </a:ext>
            </a:extLst>
          </p:cNvPr>
          <p:cNvPicPr>
            <a:picLocks noGrp="1" noChangeAspect="1"/>
          </p:cNvPicPr>
          <p:nvPr>
            <p:ph idx="1"/>
          </p:nvPr>
        </p:nvPicPr>
        <p:blipFill>
          <a:blip r:embed="rId2"/>
          <a:stretch>
            <a:fillRect/>
          </a:stretch>
        </p:blipFill>
        <p:spPr bwMode="auto">
          <a:xfrm>
            <a:off x="1621466" y="1966293"/>
            <a:ext cx="8949066" cy="4452160"/>
          </a:xfrm>
          <a:prstGeom prst="rect">
            <a:avLst/>
          </a:prstGeom>
        </p:spPr>
      </p:pic>
    </p:spTree>
    <p:extLst>
      <p:ext uri="{BB962C8B-B14F-4D97-AF65-F5344CB8AC3E}">
        <p14:creationId xmlns:p14="http://schemas.microsoft.com/office/powerpoint/2010/main" val="2113896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EF5B53-DE0A-76AB-4968-0B6783B365D5}"/>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rPr>
              <a:t>Step 4: Creating Category</a:t>
            </a:r>
            <a:br>
              <a:rPr lang="en-US" sz="4000">
                <a:solidFill>
                  <a:srgbClr val="FFFFFF"/>
                </a:solidFill>
              </a:rPr>
            </a:br>
            <a:endParaRPr lang="en-US" sz="4000">
              <a:solidFill>
                <a:srgbClr val="FFFFFF"/>
              </a:solidFill>
            </a:endParaRPr>
          </a:p>
        </p:txBody>
      </p:sp>
      <p:sp>
        <p:nvSpPr>
          <p:cNvPr id="3" name="Content Placeholder 2">
            <a:extLst>
              <a:ext uri="{FF2B5EF4-FFF2-40B4-BE49-F238E27FC236}">
                <a16:creationId xmlns:a16="http://schemas.microsoft.com/office/drawing/2014/main" id="{2ACD672E-E8CD-E3CF-9485-6EEB38B89BB0}"/>
              </a:ext>
            </a:extLst>
          </p:cNvPr>
          <p:cNvSpPr>
            <a:spLocks noGrp="1"/>
          </p:cNvSpPr>
          <p:nvPr>
            <p:ph idx="1"/>
          </p:nvPr>
        </p:nvSpPr>
        <p:spPr>
          <a:xfrm>
            <a:off x="4810259" y="649480"/>
            <a:ext cx="6555347" cy="5546047"/>
          </a:xfrm>
        </p:spPr>
        <p:txBody>
          <a:bodyPr anchor="ctr">
            <a:normAutofit/>
          </a:bodyPr>
          <a:lstStyle/>
          <a:p>
            <a:pPr lvl="0"/>
            <a:r>
              <a:rPr lang="en-US" dirty="0"/>
              <a:t>Click </a:t>
            </a:r>
            <a:r>
              <a:rPr lang="en-US" b="1" dirty="0"/>
              <a:t>Add Row (+)</a:t>
            </a:r>
            <a:r>
              <a:rPr lang="en-US" dirty="0"/>
              <a:t> to create a new category line.</a:t>
            </a:r>
          </a:p>
          <a:p>
            <a:pPr lvl="0"/>
            <a:r>
              <a:rPr lang="en-US" dirty="0"/>
              <a:t>Enter </a:t>
            </a:r>
            <a:r>
              <a:rPr lang="en-US" b="1" dirty="0"/>
              <a:t>Name</a:t>
            </a:r>
            <a:r>
              <a:rPr lang="en-US" dirty="0"/>
              <a:t>, </a:t>
            </a:r>
            <a:r>
              <a:rPr lang="en-US" b="1" dirty="0"/>
              <a:t>Category Key</a:t>
            </a:r>
            <a:r>
              <a:rPr lang="en-US" dirty="0"/>
              <a:t> and </a:t>
            </a:r>
            <a:r>
              <a:rPr lang="en-US" b="1" dirty="0"/>
              <a:t>Description</a:t>
            </a:r>
            <a:r>
              <a:rPr lang="en-US" dirty="0"/>
              <a:t> as </a:t>
            </a:r>
            <a:r>
              <a:rPr lang="en-US" dirty="0" err="1"/>
              <a:t>NSS_Category</a:t>
            </a:r>
            <a:r>
              <a:rPr lang="en-US" dirty="0"/>
              <a:t>; the Name is mandatory.</a:t>
            </a:r>
          </a:p>
          <a:p>
            <a:pPr lvl="0"/>
            <a:r>
              <a:rPr lang="en-US" dirty="0"/>
              <a:t>Leave </a:t>
            </a:r>
            <a:r>
              <a:rPr lang="en-US" b="1" dirty="0"/>
              <a:t>Exclude from Manual Journal Entry</a:t>
            </a:r>
            <a:r>
              <a:rPr lang="en-US" dirty="0"/>
              <a:t> cleared so the category can be used on manually entered journals.</a:t>
            </a:r>
          </a:p>
          <a:p>
            <a:pPr lvl="0"/>
            <a:r>
              <a:rPr lang="en-US" dirty="0"/>
              <a:t>Click </a:t>
            </a:r>
            <a:r>
              <a:rPr lang="en-US" b="1" dirty="0"/>
              <a:t>Save and Close</a:t>
            </a:r>
            <a:r>
              <a:rPr lang="en-US" dirty="0"/>
              <a:t> to commit the new category</a:t>
            </a:r>
            <a:r>
              <a:rPr lang="en-US" sz="2000" dirty="0"/>
              <a:t>.</a:t>
            </a:r>
          </a:p>
          <a:p>
            <a:endParaRPr lang="en-US" sz="2000" dirty="0"/>
          </a:p>
        </p:txBody>
      </p:sp>
    </p:spTree>
    <p:extLst>
      <p:ext uri="{BB962C8B-B14F-4D97-AF65-F5344CB8AC3E}">
        <p14:creationId xmlns:p14="http://schemas.microsoft.com/office/powerpoint/2010/main" val="1874772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75E24C-5951-0758-E493-33347EE71945}"/>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rPr>
              <a:t>Part 2: Create Journal Sequence</a:t>
            </a:r>
            <a:endParaRPr lang="en-US" sz="4000">
              <a:solidFill>
                <a:srgbClr val="FFFFFF"/>
              </a:solidFill>
            </a:endParaRPr>
          </a:p>
        </p:txBody>
      </p:sp>
      <p:sp>
        <p:nvSpPr>
          <p:cNvPr id="3" name="Content Placeholder 2">
            <a:extLst>
              <a:ext uri="{FF2B5EF4-FFF2-40B4-BE49-F238E27FC236}">
                <a16:creationId xmlns:a16="http://schemas.microsoft.com/office/drawing/2014/main" id="{99EE2FEF-EA42-5834-6BF0-676EE53846FD}"/>
              </a:ext>
            </a:extLst>
          </p:cNvPr>
          <p:cNvSpPr>
            <a:spLocks noGrp="1"/>
          </p:cNvSpPr>
          <p:nvPr>
            <p:ph idx="1"/>
          </p:nvPr>
        </p:nvSpPr>
        <p:spPr>
          <a:xfrm>
            <a:off x="4810259" y="649480"/>
            <a:ext cx="6555347" cy="5546047"/>
          </a:xfrm>
        </p:spPr>
        <p:txBody>
          <a:bodyPr anchor="ctr">
            <a:normAutofit/>
          </a:bodyPr>
          <a:lstStyle/>
          <a:p>
            <a:pPr marL="0" indent="0">
              <a:buNone/>
            </a:pPr>
            <a:r>
              <a:rPr lang="en-US" b="1" i="1" dirty="0"/>
              <a:t>Overview</a:t>
            </a:r>
            <a:endParaRPr lang="en-US" dirty="0"/>
          </a:p>
          <a:p>
            <a:pPr lvl="0"/>
            <a:r>
              <a:rPr lang="en-US" dirty="0"/>
              <a:t>Accounting and reporting sequences assign unique, sequential numbers to journals to support audit and statutory requirements.</a:t>
            </a:r>
          </a:p>
          <a:p>
            <a:pPr lvl="0"/>
            <a:r>
              <a:rPr lang="en-US" dirty="0"/>
              <a:t>The setup has two stages: define the </a:t>
            </a:r>
            <a:r>
              <a:rPr lang="en-US" b="1" dirty="0"/>
              <a:t>Sequence</a:t>
            </a:r>
            <a:r>
              <a:rPr lang="en-US" dirty="0"/>
              <a:t> (with a version), then link it through a </a:t>
            </a:r>
            <a:r>
              <a:rPr lang="en-US" b="1" dirty="0"/>
              <a:t>Sequencing Assignment</a:t>
            </a:r>
            <a:r>
              <a:rPr lang="en-US" dirty="0"/>
              <a:t>.</a:t>
            </a:r>
          </a:p>
          <a:p>
            <a:pPr lvl="0"/>
            <a:r>
              <a:rPr lang="en-US" dirty="0"/>
              <a:t>Both are maintained in the </a:t>
            </a:r>
            <a:r>
              <a:rPr lang="en-US" b="1" dirty="0"/>
              <a:t>Manage Accounting and Reporting Sequences</a:t>
            </a:r>
            <a:r>
              <a:rPr lang="en-US" dirty="0"/>
              <a:t> task.</a:t>
            </a:r>
          </a:p>
        </p:txBody>
      </p:sp>
    </p:spTree>
    <p:extLst>
      <p:ext uri="{BB962C8B-B14F-4D97-AF65-F5344CB8AC3E}">
        <p14:creationId xmlns:p14="http://schemas.microsoft.com/office/powerpoint/2010/main" val="558402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A1F4656-FFDA-4BA3-8516-90E58C01A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CB018903-3549-4A3B-A9DF-B26757CAA9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2" name="Rectangle 11">
              <a:extLst>
                <a:ext uri="{FF2B5EF4-FFF2-40B4-BE49-F238E27FC236}">
                  <a16:creationId xmlns:a16="http://schemas.microsoft.com/office/drawing/2014/main" id="{9E5D3F77-D07F-4F7D-97A2-E366830206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C6F5A2D-56A0-4ED7-A3E2-3CF67608FC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78C263B-5850-5145-DDC1-D84991041BE5}"/>
              </a:ext>
            </a:extLst>
          </p:cNvPr>
          <p:cNvSpPr>
            <a:spLocks noGrp="1"/>
          </p:cNvSpPr>
          <p:nvPr>
            <p:ph type="title"/>
          </p:nvPr>
        </p:nvSpPr>
        <p:spPr>
          <a:xfrm>
            <a:off x="549277" y="458033"/>
            <a:ext cx="5257798" cy="726224"/>
          </a:xfrm>
        </p:spPr>
        <p:txBody>
          <a:bodyPr vert="horz" wrap="square" lIns="91440" tIns="45720" rIns="91440" bIns="45720" rtlCol="0" anchor="ctr">
            <a:normAutofit/>
          </a:bodyPr>
          <a:lstStyle/>
          <a:p>
            <a:r>
              <a:rPr lang="en-US" sz="2200" b="1" kern="1200">
                <a:solidFill>
                  <a:schemeClr val="tx1"/>
                </a:solidFill>
                <a:latin typeface="+mj-lt"/>
                <a:ea typeface="+mj-ea"/>
                <a:cs typeface="+mj-cs"/>
              </a:rPr>
              <a:t>Step 1: Setup and Maintenance</a:t>
            </a:r>
            <a:br>
              <a:rPr lang="en-US" sz="2200" kern="1200">
                <a:solidFill>
                  <a:schemeClr val="tx1"/>
                </a:solidFill>
                <a:latin typeface="+mj-lt"/>
                <a:ea typeface="+mj-ea"/>
                <a:cs typeface="+mj-cs"/>
              </a:rPr>
            </a:br>
            <a:endParaRPr lang="en-US" sz="2200" kern="1200">
              <a:solidFill>
                <a:schemeClr val="tx1"/>
              </a:solidFill>
              <a:latin typeface="+mj-lt"/>
              <a:ea typeface="+mj-ea"/>
              <a:cs typeface="+mj-cs"/>
            </a:endParaRPr>
          </a:p>
        </p:txBody>
      </p:sp>
      <p:pic>
        <p:nvPicPr>
          <p:cNvPr id="4" name="Setup and Maintenance" descr="Setup and Maintenance" title="Setup and Maintenance">
            <a:extLst>
              <a:ext uri="{FF2B5EF4-FFF2-40B4-BE49-F238E27FC236}">
                <a16:creationId xmlns:a16="http://schemas.microsoft.com/office/drawing/2014/main" id="{493936AE-5DBE-6FC5-2185-022DD47B20DE}"/>
              </a:ext>
            </a:extLst>
          </p:cNvPr>
          <p:cNvPicPr>
            <a:picLocks noGrp="1" noChangeAspect="1"/>
          </p:cNvPicPr>
          <p:nvPr>
            <p:ph idx="1"/>
          </p:nvPr>
        </p:nvPicPr>
        <p:blipFill>
          <a:blip r:embed="rId2"/>
          <a:stretch>
            <a:fillRect/>
          </a:stretch>
        </p:blipFill>
        <p:spPr bwMode="auto">
          <a:xfrm>
            <a:off x="945780" y="1184257"/>
            <a:ext cx="10300439" cy="5124468"/>
          </a:xfrm>
          <a:prstGeom prst="rect">
            <a:avLst/>
          </a:prstGeom>
          <a:effectLst>
            <a:outerShdw blurRad="508000" dist="101600" dir="5400000" algn="tl" rotWithShape="0">
              <a:prstClr val="black">
                <a:alpha val="10000"/>
              </a:prstClr>
            </a:outerShdw>
          </a:effectLst>
        </p:spPr>
      </p:pic>
    </p:spTree>
    <p:extLst>
      <p:ext uri="{BB962C8B-B14F-4D97-AF65-F5344CB8AC3E}">
        <p14:creationId xmlns:p14="http://schemas.microsoft.com/office/powerpoint/2010/main" val="921618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83829C-F8D4-6B91-3947-B7F4A0175113}"/>
              </a:ext>
            </a:extLst>
          </p:cNvPr>
          <p:cNvSpPr>
            <a:spLocks noGrp="1"/>
          </p:cNvSpPr>
          <p:nvPr>
            <p:ph type="title"/>
          </p:nvPr>
        </p:nvSpPr>
        <p:spPr>
          <a:xfrm>
            <a:off x="1383564" y="348865"/>
            <a:ext cx="9718111" cy="1576446"/>
          </a:xfrm>
        </p:spPr>
        <p:txBody>
          <a:bodyPr anchor="ctr">
            <a:normAutofit/>
          </a:bodyPr>
          <a:lstStyle/>
          <a:p>
            <a:r>
              <a:rPr lang="en-US" sz="4000" b="1">
                <a:solidFill>
                  <a:srgbClr val="FFFFFF"/>
                </a:solidFill>
              </a:rPr>
              <a:t>Step 1: Setup and Maintenance</a:t>
            </a:r>
            <a:br>
              <a:rPr lang="en-US" sz="4000">
                <a:solidFill>
                  <a:srgbClr val="FFFFFF"/>
                </a:solidFill>
              </a:rPr>
            </a:b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DD70EC25-4CA2-645B-4CE1-898D3C992284}"/>
              </a:ext>
            </a:extLst>
          </p:cNvPr>
          <p:cNvGraphicFramePr>
            <a:graphicFrameLocks noGrp="1"/>
          </p:cNvGraphicFramePr>
          <p:nvPr>
            <p:ph idx="1"/>
            <p:extLst>
              <p:ext uri="{D42A27DB-BD31-4B8C-83A1-F6EECF244321}">
                <p14:modId xmlns:p14="http://schemas.microsoft.com/office/powerpoint/2010/main" val="2920162748"/>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77374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536AFA-8DAF-3B30-9E2F-380AE8680852}"/>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2500" b="1" kern="1200">
                <a:solidFill>
                  <a:srgbClr val="FFFFFF"/>
                </a:solidFill>
                <a:latin typeface="+mj-lt"/>
                <a:ea typeface="+mj-ea"/>
                <a:cs typeface="+mj-cs"/>
              </a:rPr>
              <a:t>Step 2: General Ledger: Manage Accounting and Reporting Sequences</a:t>
            </a:r>
            <a:br>
              <a:rPr lang="en-US" sz="2500" kern="1200">
                <a:solidFill>
                  <a:srgbClr val="FFFFFF"/>
                </a:solidFill>
                <a:latin typeface="+mj-lt"/>
                <a:ea typeface="+mj-ea"/>
                <a:cs typeface="+mj-cs"/>
              </a:rPr>
            </a:br>
            <a:endParaRPr lang="en-US" sz="2500" kern="1200">
              <a:solidFill>
                <a:srgbClr val="FFFFFF"/>
              </a:solidFill>
              <a:latin typeface="+mj-lt"/>
              <a:ea typeface="+mj-ea"/>
              <a:cs typeface="+mj-cs"/>
            </a:endParaRPr>
          </a:p>
        </p:txBody>
      </p:sp>
      <p:pic>
        <p:nvPicPr>
          <p:cNvPr id="4" name="General Ledger: Manage Accounting and Reporting Sequences" descr="General Ledger: Manage Accounting and Reporting Sequences" title="General Ledger: Manage Accounting and Reporting Sequences">
            <a:extLst>
              <a:ext uri="{FF2B5EF4-FFF2-40B4-BE49-F238E27FC236}">
                <a16:creationId xmlns:a16="http://schemas.microsoft.com/office/drawing/2014/main" id="{B9F68AF9-7615-8337-9ABC-E9850E46027D}"/>
              </a:ext>
            </a:extLst>
          </p:cNvPr>
          <p:cNvPicPr>
            <a:picLocks noGrp="1" noChangeAspect="1"/>
          </p:cNvPicPr>
          <p:nvPr>
            <p:ph idx="1"/>
          </p:nvPr>
        </p:nvPicPr>
        <p:blipFill>
          <a:blip r:embed="rId2"/>
          <a:stretch>
            <a:fillRect/>
          </a:stretch>
        </p:blipFill>
        <p:spPr bwMode="auto">
          <a:xfrm>
            <a:off x="1621466" y="1655276"/>
            <a:ext cx="9574226" cy="4763177"/>
          </a:xfrm>
          <a:prstGeom prst="rect">
            <a:avLst/>
          </a:prstGeom>
        </p:spPr>
      </p:pic>
    </p:spTree>
    <p:extLst>
      <p:ext uri="{BB962C8B-B14F-4D97-AF65-F5344CB8AC3E}">
        <p14:creationId xmlns:p14="http://schemas.microsoft.com/office/powerpoint/2010/main" val="3711526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8774E7A-AA53-4BE0-05E7-7A298E75FFA5}"/>
              </a:ext>
            </a:extLst>
          </p:cNvPr>
          <p:cNvSpPr>
            <a:spLocks noGrp="1"/>
          </p:cNvSpPr>
          <p:nvPr>
            <p:ph type="title"/>
          </p:nvPr>
        </p:nvSpPr>
        <p:spPr>
          <a:xfrm>
            <a:off x="1371597" y="348865"/>
            <a:ext cx="10044023" cy="877729"/>
          </a:xfrm>
        </p:spPr>
        <p:txBody>
          <a:bodyPr anchor="ctr">
            <a:normAutofit/>
          </a:bodyPr>
          <a:lstStyle/>
          <a:p>
            <a:r>
              <a:rPr lang="en-US" sz="2500" b="1">
                <a:solidFill>
                  <a:srgbClr val="FFFFFF"/>
                </a:solidFill>
              </a:rPr>
              <a:t>Step 2: General Ledger: Manage Accounting and Reporting Sequences</a:t>
            </a:r>
            <a:br>
              <a:rPr lang="en-US" sz="2500">
                <a:solidFill>
                  <a:srgbClr val="FFFFFF"/>
                </a:solidFill>
              </a:rPr>
            </a:br>
            <a:endParaRPr lang="en-US" sz="2500">
              <a:solidFill>
                <a:srgbClr val="FFFFFF"/>
              </a:solidFill>
            </a:endParaRPr>
          </a:p>
        </p:txBody>
      </p:sp>
      <p:graphicFrame>
        <p:nvGraphicFramePr>
          <p:cNvPr id="5" name="Content Placeholder 2">
            <a:extLst>
              <a:ext uri="{FF2B5EF4-FFF2-40B4-BE49-F238E27FC236}">
                <a16:creationId xmlns:a16="http://schemas.microsoft.com/office/drawing/2014/main" id="{BA203163-7AFC-7840-5517-184874937FEA}"/>
              </a:ext>
            </a:extLst>
          </p:cNvPr>
          <p:cNvGraphicFramePr>
            <a:graphicFrameLocks noGrp="1"/>
          </p:cNvGraphicFramePr>
          <p:nvPr>
            <p:ph idx="1"/>
            <p:extLst>
              <p:ext uri="{D42A27DB-BD31-4B8C-83A1-F6EECF244321}">
                <p14:modId xmlns:p14="http://schemas.microsoft.com/office/powerpoint/2010/main" val="137432312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272364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A1F4656-FFDA-4BA3-8516-90E58C01A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CB018903-3549-4A3B-A9DF-B26757CAA9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2" name="Rectangle 11">
              <a:extLst>
                <a:ext uri="{FF2B5EF4-FFF2-40B4-BE49-F238E27FC236}">
                  <a16:creationId xmlns:a16="http://schemas.microsoft.com/office/drawing/2014/main" id="{9E5D3F77-D07F-4F7D-97A2-E366830206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C6F5A2D-56A0-4ED7-A3E2-3CF67608FC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5D2B57F0-B525-D28F-1682-97DED0A5F33F}"/>
              </a:ext>
            </a:extLst>
          </p:cNvPr>
          <p:cNvSpPr>
            <a:spLocks noGrp="1"/>
          </p:cNvSpPr>
          <p:nvPr>
            <p:ph type="title"/>
          </p:nvPr>
        </p:nvSpPr>
        <p:spPr>
          <a:xfrm>
            <a:off x="549277" y="458033"/>
            <a:ext cx="5257798" cy="726224"/>
          </a:xfrm>
        </p:spPr>
        <p:txBody>
          <a:bodyPr vert="horz" wrap="square" lIns="91440" tIns="45720" rIns="91440" bIns="45720" rtlCol="0" anchor="ctr">
            <a:normAutofit/>
          </a:bodyPr>
          <a:lstStyle/>
          <a:p>
            <a:r>
              <a:rPr lang="en-US" sz="2200" b="1" kern="1200">
                <a:solidFill>
                  <a:schemeClr val="tx1"/>
                </a:solidFill>
                <a:latin typeface="+mj-lt"/>
                <a:ea typeface="+mj-ea"/>
                <a:cs typeface="+mj-cs"/>
              </a:rPr>
              <a:t>Step 3: Create a New Sequence</a:t>
            </a:r>
            <a:br>
              <a:rPr lang="en-US" sz="2200" kern="1200">
                <a:solidFill>
                  <a:schemeClr val="tx1"/>
                </a:solidFill>
                <a:latin typeface="+mj-lt"/>
                <a:ea typeface="+mj-ea"/>
                <a:cs typeface="+mj-cs"/>
              </a:rPr>
            </a:br>
            <a:endParaRPr lang="en-US" sz="2200" kern="1200">
              <a:solidFill>
                <a:schemeClr val="tx1"/>
              </a:solidFill>
              <a:latin typeface="+mj-lt"/>
              <a:ea typeface="+mj-ea"/>
              <a:cs typeface="+mj-cs"/>
            </a:endParaRPr>
          </a:p>
        </p:txBody>
      </p:sp>
      <p:pic>
        <p:nvPicPr>
          <p:cNvPr id="4" name="Create a New Sequence" descr="Create a New Sequence" title="Create a New Sequence">
            <a:extLst>
              <a:ext uri="{FF2B5EF4-FFF2-40B4-BE49-F238E27FC236}">
                <a16:creationId xmlns:a16="http://schemas.microsoft.com/office/drawing/2014/main" id="{61F4D991-82D8-D4DE-4A60-3FE91875F3E7}"/>
              </a:ext>
            </a:extLst>
          </p:cNvPr>
          <p:cNvPicPr>
            <a:picLocks noGrp="1" noChangeAspect="1"/>
          </p:cNvPicPr>
          <p:nvPr>
            <p:ph idx="1"/>
          </p:nvPr>
        </p:nvPicPr>
        <p:blipFill>
          <a:blip r:embed="rId2"/>
          <a:stretch>
            <a:fillRect/>
          </a:stretch>
        </p:blipFill>
        <p:spPr bwMode="auto">
          <a:xfrm>
            <a:off x="858366" y="1056640"/>
            <a:ext cx="10475267" cy="5211445"/>
          </a:xfrm>
          <a:prstGeom prst="rect">
            <a:avLst/>
          </a:prstGeom>
          <a:effectLst>
            <a:outerShdw blurRad="508000" dist="101600" dir="5400000" algn="tl" rotWithShape="0">
              <a:prstClr val="black">
                <a:alpha val="10000"/>
              </a:prstClr>
            </a:outerShdw>
          </a:effectLst>
        </p:spPr>
      </p:pic>
    </p:spTree>
    <p:extLst>
      <p:ext uri="{BB962C8B-B14F-4D97-AF65-F5344CB8AC3E}">
        <p14:creationId xmlns:p14="http://schemas.microsoft.com/office/powerpoint/2010/main" val="196868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5A8A93D-7B57-1347-2440-B6DC069718A0}"/>
              </a:ext>
            </a:extLst>
          </p:cNvPr>
          <p:cNvSpPr>
            <a:spLocks noGrp="1"/>
          </p:cNvSpPr>
          <p:nvPr>
            <p:ph type="title"/>
          </p:nvPr>
        </p:nvSpPr>
        <p:spPr>
          <a:xfrm>
            <a:off x="1371597" y="348865"/>
            <a:ext cx="10044023" cy="877729"/>
          </a:xfrm>
        </p:spPr>
        <p:txBody>
          <a:bodyPr anchor="ctr">
            <a:normAutofit/>
          </a:bodyPr>
          <a:lstStyle/>
          <a:p>
            <a:r>
              <a:rPr lang="en-US" sz="2800" b="1">
                <a:solidFill>
                  <a:srgbClr val="FFFFFF"/>
                </a:solidFill>
              </a:rPr>
              <a:t>Step 3: Create a New Sequence</a:t>
            </a:r>
            <a:br>
              <a:rPr lang="en-US" sz="2800">
                <a:solidFill>
                  <a:srgbClr val="FFFFFF"/>
                </a:solidFill>
              </a:rPr>
            </a:br>
            <a:endParaRPr lang="en-US" sz="2800">
              <a:solidFill>
                <a:srgbClr val="FFFFFF"/>
              </a:solidFill>
            </a:endParaRPr>
          </a:p>
        </p:txBody>
      </p:sp>
      <p:graphicFrame>
        <p:nvGraphicFramePr>
          <p:cNvPr id="5" name="Content Placeholder 2">
            <a:extLst>
              <a:ext uri="{FF2B5EF4-FFF2-40B4-BE49-F238E27FC236}">
                <a16:creationId xmlns:a16="http://schemas.microsoft.com/office/drawing/2014/main" id="{15D1EADE-EBB5-F1B3-49E5-865EFF5800BC}"/>
              </a:ext>
            </a:extLst>
          </p:cNvPr>
          <p:cNvGraphicFramePr>
            <a:graphicFrameLocks noGrp="1"/>
          </p:cNvGraphicFramePr>
          <p:nvPr>
            <p:ph idx="1"/>
            <p:extLst>
              <p:ext uri="{D42A27DB-BD31-4B8C-83A1-F6EECF244321}">
                <p14:modId xmlns:p14="http://schemas.microsoft.com/office/powerpoint/2010/main" val="314370986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208097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39735A5-8688-E639-685C-9824EDABFFAE}"/>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2500" b="1" kern="1200">
                <a:solidFill>
                  <a:schemeClr val="tx1"/>
                </a:solidFill>
                <a:latin typeface="+mj-lt"/>
                <a:ea typeface="+mj-ea"/>
                <a:cs typeface="+mj-cs"/>
              </a:rPr>
              <a:t>Step 4: Create Sequence: Name and Version</a:t>
            </a:r>
            <a:br>
              <a:rPr lang="en-US" sz="2500" kern="1200">
                <a:solidFill>
                  <a:schemeClr val="tx1"/>
                </a:solidFill>
                <a:latin typeface="+mj-lt"/>
                <a:ea typeface="+mj-ea"/>
                <a:cs typeface="+mj-cs"/>
              </a:rPr>
            </a:br>
            <a:endParaRPr lang="en-US" sz="2500" kern="1200">
              <a:solidFill>
                <a:schemeClr val="tx1"/>
              </a:solidFill>
              <a:latin typeface="+mj-lt"/>
              <a:ea typeface="+mj-ea"/>
              <a:cs typeface="+mj-cs"/>
            </a:endParaRPr>
          </a:p>
        </p:txBody>
      </p:sp>
      <p:pic>
        <p:nvPicPr>
          <p:cNvPr id="4" name="Create Sequence: Name and Version" descr="Create Sequence: Name and Version" title="Create Sequence: Name and Version">
            <a:extLst>
              <a:ext uri="{FF2B5EF4-FFF2-40B4-BE49-F238E27FC236}">
                <a16:creationId xmlns:a16="http://schemas.microsoft.com/office/drawing/2014/main" id="{459AD4AB-0E32-3E08-E02F-7F98F86AC2DB}"/>
              </a:ext>
            </a:extLst>
          </p:cNvPr>
          <p:cNvPicPr>
            <a:picLocks noGrp="1" noChangeAspect="1"/>
          </p:cNvPicPr>
          <p:nvPr>
            <p:ph idx="1"/>
          </p:nvPr>
        </p:nvPicPr>
        <p:blipFill>
          <a:blip r:embed="rId2"/>
          <a:stretch>
            <a:fillRect/>
          </a:stretch>
        </p:blipFill>
        <p:spPr bwMode="auto">
          <a:xfrm>
            <a:off x="1447099" y="1605582"/>
            <a:ext cx="9563828" cy="4758004"/>
          </a:xfrm>
          <a:prstGeom prst="rect">
            <a:avLst/>
          </a:prstGeom>
        </p:spPr>
      </p:pic>
    </p:spTree>
    <p:extLst>
      <p:ext uri="{BB962C8B-B14F-4D97-AF65-F5344CB8AC3E}">
        <p14:creationId xmlns:p14="http://schemas.microsoft.com/office/powerpoint/2010/main" val="4015669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DF7A95-1C1B-7318-084B-9C0A9830B1D9}"/>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rPr>
              <a:t>Step 4: Create Sequence: Name and Version</a:t>
            </a:r>
            <a:br>
              <a:rPr lang="en-US" sz="4000">
                <a:solidFill>
                  <a:srgbClr val="FFFFFF"/>
                </a:solidFill>
              </a:rPr>
            </a:br>
            <a:endParaRPr lang="en-US" sz="4000">
              <a:solidFill>
                <a:srgbClr val="FFFFFF"/>
              </a:solidFill>
            </a:endParaRPr>
          </a:p>
        </p:txBody>
      </p:sp>
      <p:sp>
        <p:nvSpPr>
          <p:cNvPr id="3" name="Content Placeholder 2">
            <a:extLst>
              <a:ext uri="{FF2B5EF4-FFF2-40B4-BE49-F238E27FC236}">
                <a16:creationId xmlns:a16="http://schemas.microsoft.com/office/drawing/2014/main" id="{6F31C3C5-1779-43FF-CB9C-D3DA683667FE}"/>
              </a:ext>
            </a:extLst>
          </p:cNvPr>
          <p:cNvSpPr>
            <a:spLocks noGrp="1"/>
          </p:cNvSpPr>
          <p:nvPr>
            <p:ph idx="1"/>
          </p:nvPr>
        </p:nvSpPr>
        <p:spPr>
          <a:xfrm>
            <a:off x="4810259" y="649480"/>
            <a:ext cx="6555347" cy="5546047"/>
          </a:xfrm>
        </p:spPr>
        <p:txBody>
          <a:bodyPr anchor="ctr">
            <a:normAutofit/>
          </a:bodyPr>
          <a:lstStyle/>
          <a:p>
            <a:pPr lvl="0"/>
            <a:r>
              <a:rPr lang="en-US" sz="2000"/>
              <a:t>Enter the sequence </a:t>
            </a:r>
            <a:r>
              <a:rPr lang="en-US" sz="2000" b="1"/>
              <a:t>Name</a:t>
            </a:r>
            <a:r>
              <a:rPr lang="en-US" sz="2000"/>
              <a:t> and </a:t>
            </a:r>
            <a:r>
              <a:rPr lang="en-US" sz="2000" b="1"/>
              <a:t>Description</a:t>
            </a:r>
            <a:r>
              <a:rPr lang="en-US" sz="2000"/>
              <a:t> (NSS Sequence).</a:t>
            </a:r>
          </a:p>
          <a:p>
            <a:pPr lvl="0"/>
            <a:r>
              <a:rPr lang="en-US" sz="2000"/>
              <a:t>In </a:t>
            </a:r>
            <a:r>
              <a:rPr lang="en-US" sz="2000" b="1"/>
              <a:t>Sequence Versions</a:t>
            </a:r>
            <a:r>
              <a:rPr lang="en-US" sz="2000"/>
              <a:t>, define the version name, </a:t>
            </a:r>
            <a:r>
              <a:rPr lang="en-US" sz="2000" b="1"/>
              <a:t>Effective Start Date</a:t>
            </a:r>
            <a:r>
              <a:rPr lang="en-US" sz="2000"/>
              <a:t> (1/1/26) and </a:t>
            </a:r>
            <a:r>
              <a:rPr lang="en-US" sz="2000" b="1"/>
              <a:t>Initial Number</a:t>
            </a:r>
            <a:r>
              <a:rPr lang="en-US" sz="2000"/>
              <a:t> (7000).</a:t>
            </a:r>
          </a:p>
          <a:p>
            <a:pPr lvl="0"/>
            <a:r>
              <a:rPr lang="en-US" sz="2000"/>
              <a:t>The </a:t>
            </a:r>
            <a:r>
              <a:rPr lang="en-US" sz="2000" b="1"/>
              <a:t>Effective End Date</a:t>
            </a:r>
            <a:r>
              <a:rPr lang="en-US" sz="2000"/>
              <a:t> is left blank, keeping the version open-ended.</a:t>
            </a:r>
          </a:p>
          <a:p>
            <a:pPr lvl="0"/>
            <a:r>
              <a:rPr lang="en-US" sz="2000"/>
              <a:t>Click </a:t>
            </a:r>
            <a:r>
              <a:rPr lang="en-US" sz="2000" b="1"/>
              <a:t>Save and Close</a:t>
            </a:r>
            <a:r>
              <a:rPr lang="en-US" sz="2000"/>
              <a:t> to create the sequence.</a:t>
            </a:r>
          </a:p>
          <a:p>
            <a:endParaRPr lang="en-US" sz="2000"/>
          </a:p>
        </p:txBody>
      </p:sp>
    </p:spTree>
    <p:extLst>
      <p:ext uri="{BB962C8B-B14F-4D97-AF65-F5344CB8AC3E}">
        <p14:creationId xmlns:p14="http://schemas.microsoft.com/office/powerpoint/2010/main" val="12408094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3D09407-53BC-485E-B4CE-BC5E4FC4B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21DB988-49FC-4608-B0A2-E2F3A40190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46C74F-E2EC-41C7-1258-EE0378F81088}"/>
              </a:ext>
            </a:extLst>
          </p:cNvPr>
          <p:cNvSpPr>
            <a:spLocks noGrp="1"/>
          </p:cNvSpPr>
          <p:nvPr>
            <p:ph type="title"/>
          </p:nvPr>
        </p:nvSpPr>
        <p:spPr>
          <a:xfrm>
            <a:off x="755903" y="3399769"/>
            <a:ext cx="10640754" cy="775845"/>
          </a:xfrm>
        </p:spPr>
        <p:txBody>
          <a:bodyPr vert="horz" lIns="91440" tIns="45720" rIns="91440" bIns="45720" rtlCol="0" anchor="b">
            <a:normAutofit/>
          </a:bodyPr>
          <a:lstStyle/>
          <a:p>
            <a:pPr algn="ctr"/>
            <a:r>
              <a:rPr lang="en-US" sz="3100" b="1" kern="1200">
                <a:solidFill>
                  <a:schemeClr val="tx2"/>
                </a:solidFill>
                <a:latin typeface="+mj-lt"/>
                <a:ea typeface="+mj-ea"/>
                <a:cs typeface="+mj-cs"/>
              </a:rPr>
              <a:t>Step 5: Sequence Created: Open Sequencing Assignments</a:t>
            </a:r>
            <a:endParaRPr lang="en-US" sz="3100" kern="1200">
              <a:solidFill>
                <a:schemeClr val="tx2"/>
              </a:solidFill>
              <a:latin typeface="+mj-lt"/>
              <a:ea typeface="+mj-ea"/>
              <a:cs typeface="+mj-cs"/>
            </a:endParaRPr>
          </a:p>
        </p:txBody>
      </p:sp>
      <p:grpSp>
        <p:nvGrpSpPr>
          <p:cNvPr id="13" name="Group 12">
            <a:extLst>
              <a:ext uri="{FF2B5EF4-FFF2-40B4-BE49-F238E27FC236}">
                <a16:creationId xmlns:a16="http://schemas.microsoft.com/office/drawing/2014/main" id="{E9B930FD-8671-4C4C-ADCF-73AC1D0CD4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0"/>
            <a:ext cx="2514948" cy="2174333"/>
            <a:chOff x="-305" y="-4155"/>
            <a:chExt cx="2514948" cy="2174333"/>
          </a:xfrm>
        </p:grpSpPr>
        <p:sp>
          <p:nvSpPr>
            <p:cNvPr id="14" name="Freeform: Shape 13">
              <a:extLst>
                <a:ext uri="{FF2B5EF4-FFF2-40B4-BE49-F238E27FC236}">
                  <a16:creationId xmlns:a16="http://schemas.microsoft.com/office/drawing/2014/main" id="{C35B12C1-569C-4E37-AA33-7EF215F201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23E2660-7810-46F6-8752-187127C83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C991DC45-0378-45B3-B325-FB8F98545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7" name="Freeform: Shape 16">
              <a:extLst>
                <a:ext uri="{FF2B5EF4-FFF2-40B4-BE49-F238E27FC236}">
                  <a16:creationId xmlns:a16="http://schemas.microsoft.com/office/drawing/2014/main" id="{E228F5BA-5150-4554-B7EA-93F371F3B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Sequence Created: Open Sequencing Assignments" descr="Sequence Created: Open Sequencing Assignments" title="Sequence Created: Open Sequencing Assignments">
            <a:extLst>
              <a:ext uri="{FF2B5EF4-FFF2-40B4-BE49-F238E27FC236}">
                <a16:creationId xmlns:a16="http://schemas.microsoft.com/office/drawing/2014/main" id="{DDEAC529-2ED3-6523-9673-EBD246F179EC}"/>
              </a:ext>
            </a:extLst>
          </p:cNvPr>
          <p:cNvPicPr>
            <a:picLocks noGrp="1" noChangeAspect="1"/>
          </p:cNvPicPr>
          <p:nvPr>
            <p:ph idx="1"/>
          </p:nvPr>
        </p:nvPicPr>
        <p:blipFill>
          <a:blip r:embed="rId2"/>
          <a:stretch>
            <a:fillRect/>
          </a:stretch>
        </p:blipFill>
        <p:spPr bwMode="auto">
          <a:xfrm>
            <a:off x="302342" y="326596"/>
            <a:ext cx="11525864" cy="2823836"/>
          </a:xfrm>
          <a:prstGeom prst="rect">
            <a:avLst/>
          </a:prstGeom>
        </p:spPr>
      </p:pic>
      <p:grpSp>
        <p:nvGrpSpPr>
          <p:cNvPr id="19" name="Group 18">
            <a:extLst>
              <a:ext uri="{FF2B5EF4-FFF2-40B4-BE49-F238E27FC236}">
                <a16:creationId xmlns:a16="http://schemas.microsoft.com/office/drawing/2014/main" id="{383C2651-AE0C-4AE4-8725-E2F9414FE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305" y="4322879"/>
            <a:ext cx="3378428" cy="2535121"/>
            <a:chOff x="-305" y="-1"/>
            <a:chExt cx="3832880" cy="2876136"/>
          </a:xfrm>
        </p:grpSpPr>
        <p:sp>
          <p:nvSpPr>
            <p:cNvPr id="20" name="Freeform: Shape 19">
              <a:extLst>
                <a:ext uri="{FF2B5EF4-FFF2-40B4-BE49-F238E27FC236}">
                  <a16:creationId xmlns:a16="http://schemas.microsoft.com/office/drawing/2014/main" id="{CCE13265-B5D2-47B4-A199-E05F390D5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93EBD03-D832-462C-9304-7273698ED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0D53D3E2-805E-40D2-964F-352BF6D476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B7A9A916-A926-43E6-800F-432ABC3F2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425402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1E3B9E-9CEA-19E4-1762-F7E5679D3CD8}"/>
              </a:ext>
            </a:extLst>
          </p:cNvPr>
          <p:cNvSpPr>
            <a:spLocks noGrp="1"/>
          </p:cNvSpPr>
          <p:nvPr>
            <p:ph type="title"/>
          </p:nvPr>
        </p:nvSpPr>
        <p:spPr>
          <a:xfrm>
            <a:off x="1371599" y="294538"/>
            <a:ext cx="9895951" cy="1033669"/>
          </a:xfrm>
        </p:spPr>
        <p:txBody>
          <a:bodyPr>
            <a:normAutofit/>
          </a:bodyPr>
          <a:lstStyle/>
          <a:p>
            <a:r>
              <a:rPr lang="en-US" sz="3400" b="1">
                <a:solidFill>
                  <a:srgbClr val="FFFFFF"/>
                </a:solidFill>
              </a:rPr>
              <a:t>Step 5: Sequence Created: Open Sequencing Assignments</a:t>
            </a:r>
            <a:endParaRPr lang="en-US" sz="3400">
              <a:solidFill>
                <a:srgbClr val="FFFFFF"/>
              </a:solidFill>
            </a:endParaRPr>
          </a:p>
        </p:txBody>
      </p:sp>
      <p:sp>
        <p:nvSpPr>
          <p:cNvPr id="3" name="Content Placeholder 2">
            <a:extLst>
              <a:ext uri="{FF2B5EF4-FFF2-40B4-BE49-F238E27FC236}">
                <a16:creationId xmlns:a16="http://schemas.microsoft.com/office/drawing/2014/main" id="{07205FAE-F4A1-9629-D96E-E52543284369}"/>
              </a:ext>
            </a:extLst>
          </p:cNvPr>
          <p:cNvSpPr>
            <a:spLocks noGrp="1"/>
          </p:cNvSpPr>
          <p:nvPr>
            <p:ph idx="1"/>
          </p:nvPr>
        </p:nvSpPr>
        <p:spPr>
          <a:xfrm>
            <a:off x="1371599" y="2318197"/>
            <a:ext cx="9724031" cy="3683358"/>
          </a:xfrm>
        </p:spPr>
        <p:txBody>
          <a:bodyPr anchor="ctr">
            <a:normAutofit/>
          </a:bodyPr>
          <a:lstStyle/>
          <a:p>
            <a:pPr lvl="0"/>
            <a:r>
              <a:rPr lang="en-US" sz="3200" dirty="0"/>
              <a:t>The new </a:t>
            </a:r>
            <a:r>
              <a:rPr lang="en-US" sz="3200" b="1" dirty="0"/>
              <a:t>NSS Sequence</a:t>
            </a:r>
            <a:r>
              <a:rPr lang="en-US" sz="3200" dirty="0"/>
              <a:t> appears in the list with the status </a:t>
            </a:r>
            <a:r>
              <a:rPr lang="en-US" sz="3200" b="1" dirty="0"/>
              <a:t>Enabled</a:t>
            </a:r>
            <a:r>
              <a:rPr lang="en-US" sz="3200" dirty="0"/>
              <a:t>.</a:t>
            </a:r>
          </a:p>
          <a:p>
            <a:r>
              <a:rPr lang="en-US" sz="3200" dirty="0"/>
              <a:t>Open the </a:t>
            </a:r>
            <a:r>
              <a:rPr lang="en-US" sz="3200" b="1" dirty="0"/>
              <a:t>Sequencing Assignments</a:t>
            </a:r>
            <a:r>
              <a:rPr lang="en-US" sz="3200" dirty="0"/>
              <a:t> tab to link the sequence to a ledger and journal attributes</a:t>
            </a:r>
          </a:p>
        </p:txBody>
      </p:sp>
    </p:spTree>
    <p:extLst>
      <p:ext uri="{BB962C8B-B14F-4D97-AF65-F5344CB8AC3E}">
        <p14:creationId xmlns:p14="http://schemas.microsoft.com/office/powerpoint/2010/main" val="3378321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B8C0D1-B87B-1C14-1B09-D14CAB655BBE}"/>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b="1" kern="1200">
                <a:solidFill>
                  <a:srgbClr val="FFFFFF"/>
                </a:solidFill>
                <a:latin typeface="+mj-lt"/>
                <a:ea typeface="+mj-ea"/>
                <a:cs typeface="+mj-cs"/>
              </a:rPr>
              <a:t>Step 6: Sequencing Assignments: Create</a:t>
            </a:r>
            <a:endParaRPr lang="en-US" sz="3700" kern="1200">
              <a:solidFill>
                <a:srgbClr val="FFFFFF"/>
              </a:solidFill>
              <a:latin typeface="+mj-lt"/>
              <a:ea typeface="+mj-ea"/>
              <a:cs typeface="+mj-cs"/>
            </a:endParaRPr>
          </a:p>
        </p:txBody>
      </p:sp>
      <p:pic>
        <p:nvPicPr>
          <p:cNvPr id="4" name="Sequencing Assignments: Create" descr="Sequencing Assignments: Create" title="Sequencing Assignments: Create">
            <a:extLst>
              <a:ext uri="{FF2B5EF4-FFF2-40B4-BE49-F238E27FC236}">
                <a16:creationId xmlns:a16="http://schemas.microsoft.com/office/drawing/2014/main" id="{8B39B1DF-1D80-0588-E323-020FF3498795}"/>
              </a:ext>
            </a:extLst>
          </p:cNvPr>
          <p:cNvPicPr>
            <a:picLocks noGrp="1" noChangeAspect="1"/>
          </p:cNvPicPr>
          <p:nvPr>
            <p:ph idx="1"/>
          </p:nvPr>
        </p:nvPicPr>
        <p:blipFill>
          <a:blip r:embed="rId2"/>
          <a:stretch>
            <a:fillRect/>
          </a:stretch>
        </p:blipFill>
        <p:spPr bwMode="auto">
          <a:xfrm>
            <a:off x="432225" y="2818907"/>
            <a:ext cx="11327549" cy="2746931"/>
          </a:xfrm>
          <a:prstGeom prst="rect">
            <a:avLst/>
          </a:prstGeom>
        </p:spPr>
      </p:pic>
    </p:spTree>
    <p:extLst>
      <p:ext uri="{BB962C8B-B14F-4D97-AF65-F5344CB8AC3E}">
        <p14:creationId xmlns:p14="http://schemas.microsoft.com/office/powerpoint/2010/main" val="30512400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8D50492-A21C-F7E6-B518-CABD8897C537}"/>
              </a:ext>
            </a:extLst>
          </p:cNvPr>
          <p:cNvSpPr>
            <a:spLocks noGrp="1"/>
          </p:cNvSpPr>
          <p:nvPr>
            <p:ph type="title"/>
          </p:nvPr>
        </p:nvSpPr>
        <p:spPr>
          <a:xfrm>
            <a:off x="1383564" y="348865"/>
            <a:ext cx="9718111" cy="1576446"/>
          </a:xfrm>
        </p:spPr>
        <p:txBody>
          <a:bodyPr anchor="ctr">
            <a:normAutofit/>
          </a:bodyPr>
          <a:lstStyle/>
          <a:p>
            <a:r>
              <a:rPr lang="en-US" sz="4000" b="1">
                <a:solidFill>
                  <a:srgbClr val="FFFFFF"/>
                </a:solidFill>
              </a:rPr>
              <a:t>Step 6: Sequencing Assignments: Create</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545B7EAA-5573-4511-FBD2-69C4F78A80E8}"/>
              </a:ext>
            </a:extLst>
          </p:cNvPr>
          <p:cNvGraphicFramePr>
            <a:graphicFrameLocks noGrp="1"/>
          </p:cNvGraphicFramePr>
          <p:nvPr>
            <p:ph idx="1"/>
            <p:extLst>
              <p:ext uri="{D42A27DB-BD31-4B8C-83A1-F6EECF244321}">
                <p14:modId xmlns:p14="http://schemas.microsoft.com/office/powerpoint/2010/main" val="3503352723"/>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90862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reate Sequencing Assignment: Posting" descr="Create Sequencing Assignment: Posting" title="Create Sequencing Assignment: Posting">
            <a:extLst>
              <a:ext uri="{FF2B5EF4-FFF2-40B4-BE49-F238E27FC236}">
                <a16:creationId xmlns:a16="http://schemas.microsoft.com/office/drawing/2014/main" id="{EFCF4239-BCEE-26F6-99EC-1EFE035877B1}"/>
              </a:ext>
            </a:extLst>
          </p:cNvPr>
          <p:cNvPicPr>
            <a:picLocks noGrp="1" noChangeAspect="1"/>
          </p:cNvPicPr>
          <p:nvPr>
            <p:ph idx="1"/>
          </p:nvPr>
        </p:nvPicPr>
        <p:blipFill>
          <a:blip r:embed="rId2"/>
          <a:srcRect r="2674" b="-1"/>
          <a:stretch>
            <a:fillRect/>
          </a:stretch>
        </p:blipFill>
        <p:spPr bwMode="auto">
          <a:xfrm>
            <a:off x="640080" y="640080"/>
            <a:ext cx="10911840" cy="5577840"/>
          </a:xfrm>
          <a:prstGeom prst="rect">
            <a:avLst/>
          </a:prstGeom>
        </p:spPr>
      </p:pic>
      <p:sp useBgFill="1">
        <p:nvSpPr>
          <p:cNvPr id="22" name="Rectangle 21">
            <a:extLst>
              <a:ext uri="{FF2B5EF4-FFF2-40B4-BE49-F238E27FC236}">
                <a16:creationId xmlns:a16="http://schemas.microsoft.com/office/drawing/2014/main" id="{BE13943F-CFF4-4097-BBA8-20BDDF6E4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3108484"/>
            <a:ext cx="10911840" cy="640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29C7EC-3996-4FB9-DD67-F39CFB6365FD}"/>
              </a:ext>
            </a:extLst>
          </p:cNvPr>
          <p:cNvSpPr>
            <a:spLocks noGrp="1"/>
          </p:cNvSpPr>
          <p:nvPr>
            <p:ph type="title"/>
          </p:nvPr>
        </p:nvSpPr>
        <p:spPr>
          <a:xfrm>
            <a:off x="640080" y="3108483"/>
            <a:ext cx="10911840" cy="640081"/>
          </a:xfrm>
        </p:spPr>
        <p:txBody>
          <a:bodyPr vert="horz" lIns="91440" tIns="45720" rIns="91440" bIns="45720" rtlCol="0" anchor="ctr">
            <a:normAutofit/>
          </a:bodyPr>
          <a:lstStyle/>
          <a:p>
            <a:pPr algn="ctr"/>
            <a:r>
              <a:rPr lang="en-US" sz="3200" b="1">
                <a:solidFill>
                  <a:schemeClr val="tx1">
                    <a:lumMod val="85000"/>
                    <a:lumOff val="15000"/>
                  </a:schemeClr>
                </a:solidFill>
              </a:rPr>
              <a:t>Step 7: Create Sequencing Assignment: Posting</a:t>
            </a:r>
            <a:endParaRPr lang="en-US" sz="3200">
              <a:solidFill>
                <a:schemeClr val="tx1">
                  <a:lumMod val="85000"/>
                  <a:lumOff val="15000"/>
                </a:schemeClr>
              </a:solidFill>
            </a:endParaRPr>
          </a:p>
        </p:txBody>
      </p:sp>
    </p:spTree>
    <p:extLst>
      <p:ext uri="{BB962C8B-B14F-4D97-AF65-F5344CB8AC3E}">
        <p14:creationId xmlns:p14="http://schemas.microsoft.com/office/powerpoint/2010/main" val="24570673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9AEDC3-5678-A2F8-5CA9-E8FF950D3301}"/>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rPr>
              <a:t>Step 7: Create Sequencing Assignment: Posting</a:t>
            </a:r>
            <a:endParaRPr lang="en-US" sz="4000">
              <a:solidFill>
                <a:srgbClr val="FFFFFF"/>
              </a:solidFill>
            </a:endParaRPr>
          </a:p>
        </p:txBody>
      </p:sp>
      <p:sp>
        <p:nvSpPr>
          <p:cNvPr id="3" name="Content Placeholder 2">
            <a:extLst>
              <a:ext uri="{FF2B5EF4-FFF2-40B4-BE49-F238E27FC236}">
                <a16:creationId xmlns:a16="http://schemas.microsoft.com/office/drawing/2014/main" id="{29EC18C3-B7CB-58E3-D3A6-C4C6C3EF419B}"/>
              </a:ext>
            </a:extLst>
          </p:cNvPr>
          <p:cNvSpPr>
            <a:spLocks noGrp="1"/>
          </p:cNvSpPr>
          <p:nvPr>
            <p:ph idx="1"/>
          </p:nvPr>
        </p:nvSpPr>
        <p:spPr>
          <a:xfrm>
            <a:off x="4810259" y="649480"/>
            <a:ext cx="6555347" cy="5546047"/>
          </a:xfrm>
        </p:spPr>
        <p:txBody>
          <a:bodyPr anchor="ctr">
            <a:normAutofit/>
          </a:bodyPr>
          <a:lstStyle/>
          <a:p>
            <a:pPr lvl="0"/>
            <a:r>
              <a:rPr lang="en-US" sz="2000"/>
              <a:t>Set </a:t>
            </a:r>
            <a:r>
              <a:rPr lang="en-US" sz="2000" b="1"/>
              <a:t>Ledger</a:t>
            </a:r>
            <a:r>
              <a:rPr lang="en-US" sz="2000"/>
              <a:t> to NSS Primary Ledger EG, </a:t>
            </a:r>
            <a:r>
              <a:rPr lang="en-US" sz="2000" b="1"/>
              <a:t>Journal Entry Type</a:t>
            </a:r>
            <a:r>
              <a:rPr lang="en-US" sz="2000"/>
              <a:t> to General Ledger and </a:t>
            </a:r>
            <a:r>
              <a:rPr lang="en-US" sz="2000" b="1"/>
              <a:t>Sequencing Event</a:t>
            </a:r>
            <a:r>
              <a:rPr lang="en-US" sz="2000"/>
              <a:t> to </a:t>
            </a:r>
            <a:r>
              <a:rPr lang="en-US" sz="2000" b="1"/>
              <a:t>Posting</a:t>
            </a:r>
            <a:r>
              <a:rPr lang="en-US" sz="2000"/>
              <a:t>.</a:t>
            </a:r>
          </a:p>
          <a:p>
            <a:pPr lvl="0"/>
            <a:r>
              <a:rPr lang="en-US" sz="2000"/>
              <a:t>Keep </a:t>
            </a:r>
            <a:r>
              <a:rPr lang="en-US" sz="2000" b="1"/>
              <a:t>Sequence Validation Date</a:t>
            </a:r>
            <a:r>
              <a:rPr lang="en-US" sz="2000"/>
              <a:t> and </a:t>
            </a:r>
            <a:r>
              <a:rPr lang="en-US" sz="2000" b="1"/>
              <a:t>Journal Sorting Date</a:t>
            </a:r>
            <a:r>
              <a:rPr lang="en-US" sz="2000"/>
              <a:t> as </a:t>
            </a:r>
            <a:r>
              <a:rPr lang="en-US" sz="2000" b="1"/>
              <a:t>Accounting Date</a:t>
            </a:r>
            <a:r>
              <a:rPr lang="en-US" sz="2000"/>
              <a:t>; </a:t>
            </a:r>
            <a:r>
              <a:rPr lang="en-US" sz="2000" b="1"/>
              <a:t>Require Assignment for All Journals</a:t>
            </a:r>
            <a:r>
              <a:rPr lang="en-US" sz="2000"/>
              <a:t> is selected.</a:t>
            </a:r>
          </a:p>
          <a:p>
            <a:pPr lvl="0"/>
            <a:r>
              <a:rPr lang="en-US" sz="2000"/>
              <a:t>In the </a:t>
            </a:r>
            <a:r>
              <a:rPr lang="en-US" sz="2000" b="1"/>
              <a:t>Sequences</a:t>
            </a:r>
            <a:r>
              <a:rPr lang="en-US" sz="2000"/>
              <a:t> region, add an </a:t>
            </a:r>
            <a:r>
              <a:rPr lang="en-US" sz="2000" b="1"/>
              <a:t>Association</a:t>
            </a:r>
            <a:r>
              <a:rPr lang="en-US" sz="2000"/>
              <a:t> using NSS Sequence with a Start Date of 1/1/26.</a:t>
            </a:r>
          </a:p>
          <a:p>
            <a:pPr lvl="0"/>
            <a:r>
              <a:rPr lang="en-US" sz="2000"/>
              <a:t>Set the </a:t>
            </a:r>
            <a:r>
              <a:rPr lang="en-US" sz="2000" b="1"/>
              <a:t>Control Attributes</a:t>
            </a:r>
            <a:r>
              <a:rPr lang="en-US" sz="2000"/>
              <a:t>: </a:t>
            </a:r>
            <a:r>
              <a:rPr lang="en-US" sz="2000" b="1"/>
              <a:t>Journal Source</a:t>
            </a:r>
            <a:r>
              <a:rPr lang="en-US" sz="2000"/>
              <a:t> = All and </a:t>
            </a:r>
            <a:r>
              <a:rPr lang="en-US" sz="2000" b="1"/>
              <a:t>Journal Category</a:t>
            </a:r>
            <a:r>
              <a:rPr lang="en-US" sz="2000"/>
              <a:t> = NSS_Category.</a:t>
            </a:r>
          </a:p>
          <a:p>
            <a:endParaRPr lang="en-US" sz="2000"/>
          </a:p>
        </p:txBody>
      </p:sp>
    </p:spTree>
    <p:extLst>
      <p:ext uri="{BB962C8B-B14F-4D97-AF65-F5344CB8AC3E}">
        <p14:creationId xmlns:p14="http://schemas.microsoft.com/office/powerpoint/2010/main" val="26610038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054708-780B-8BAF-10E7-25C8C69ADAAD}"/>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2500" b="1" kern="1200">
                <a:solidFill>
                  <a:srgbClr val="FFFFFF"/>
                </a:solidFill>
                <a:latin typeface="+mj-lt"/>
                <a:ea typeface="+mj-ea"/>
                <a:cs typeface="+mj-cs"/>
              </a:rPr>
              <a:t>Step 8: Create Sequencing Assignment: Period Close</a:t>
            </a:r>
            <a:br>
              <a:rPr lang="en-US" sz="2500" kern="1200">
                <a:solidFill>
                  <a:srgbClr val="FFFFFF"/>
                </a:solidFill>
                <a:latin typeface="+mj-lt"/>
                <a:ea typeface="+mj-ea"/>
                <a:cs typeface="+mj-cs"/>
              </a:rPr>
            </a:br>
            <a:endParaRPr lang="en-US" sz="2500" kern="1200">
              <a:solidFill>
                <a:srgbClr val="FFFFFF"/>
              </a:solidFill>
              <a:latin typeface="+mj-lt"/>
              <a:ea typeface="+mj-ea"/>
              <a:cs typeface="+mj-cs"/>
            </a:endParaRPr>
          </a:p>
        </p:txBody>
      </p:sp>
      <p:pic>
        <p:nvPicPr>
          <p:cNvPr id="4" name="Create Sequencing Assignment: Period Close" descr="Create Sequencing Assignment: Period Close" title="Create Sequencing Assignment: Period Close">
            <a:extLst>
              <a:ext uri="{FF2B5EF4-FFF2-40B4-BE49-F238E27FC236}">
                <a16:creationId xmlns:a16="http://schemas.microsoft.com/office/drawing/2014/main" id="{15417402-67E6-6EE4-BEDC-967FCFF15A1A}"/>
              </a:ext>
            </a:extLst>
          </p:cNvPr>
          <p:cNvPicPr>
            <a:picLocks noGrp="1" noChangeAspect="1"/>
          </p:cNvPicPr>
          <p:nvPr>
            <p:ph idx="1"/>
          </p:nvPr>
        </p:nvPicPr>
        <p:blipFill>
          <a:blip r:embed="rId2"/>
          <a:stretch>
            <a:fillRect/>
          </a:stretch>
        </p:blipFill>
        <p:spPr bwMode="auto">
          <a:xfrm>
            <a:off x="1935102" y="1966293"/>
            <a:ext cx="8321794" cy="4452160"/>
          </a:xfrm>
          <a:prstGeom prst="rect">
            <a:avLst/>
          </a:prstGeom>
        </p:spPr>
      </p:pic>
    </p:spTree>
    <p:extLst>
      <p:ext uri="{BB962C8B-B14F-4D97-AF65-F5344CB8AC3E}">
        <p14:creationId xmlns:p14="http://schemas.microsoft.com/office/powerpoint/2010/main" val="8762595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74B52-AC9D-2519-5FBD-E8BB96759F7B}"/>
              </a:ext>
            </a:extLst>
          </p:cNvPr>
          <p:cNvSpPr>
            <a:spLocks noGrp="1"/>
          </p:cNvSpPr>
          <p:nvPr>
            <p:ph type="title"/>
          </p:nvPr>
        </p:nvSpPr>
        <p:spPr/>
        <p:txBody>
          <a:bodyPr>
            <a:normAutofit/>
          </a:bodyPr>
          <a:lstStyle/>
          <a:p>
            <a:r>
              <a:rPr lang="en-US" b="1" dirty="0"/>
              <a:t>Step 8: Create Sequencing Assignment: Period Close</a:t>
            </a:r>
            <a:endParaRPr lang="en-US" dirty="0"/>
          </a:p>
        </p:txBody>
      </p:sp>
      <p:graphicFrame>
        <p:nvGraphicFramePr>
          <p:cNvPr id="5" name="Content Placeholder 2">
            <a:extLst>
              <a:ext uri="{FF2B5EF4-FFF2-40B4-BE49-F238E27FC236}">
                <a16:creationId xmlns:a16="http://schemas.microsoft.com/office/drawing/2014/main" id="{D7DEDB69-4218-1968-D6C7-D80BC47BDB9A}"/>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553898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ABE326-F467-BDA2-AF03-AC40A2EC0995}"/>
              </a:ext>
            </a:extLst>
          </p:cNvPr>
          <p:cNvSpPr>
            <a:spLocks noGrp="1"/>
          </p:cNvSpPr>
          <p:nvPr>
            <p:ph type="title"/>
          </p:nvPr>
        </p:nvSpPr>
        <p:spPr>
          <a:xfrm>
            <a:off x="1371599" y="294538"/>
            <a:ext cx="9895951" cy="1033669"/>
          </a:xfrm>
        </p:spPr>
        <p:txBody>
          <a:bodyPr>
            <a:normAutofit/>
          </a:bodyPr>
          <a:lstStyle/>
          <a:p>
            <a:r>
              <a:rPr lang="en-US" sz="3400" b="1">
                <a:solidFill>
                  <a:srgbClr val="FFFFFF"/>
                </a:solidFill>
              </a:rPr>
              <a:t>Part 3: Create Batch with Many Journals</a:t>
            </a:r>
            <a:br>
              <a:rPr lang="en-US" sz="3400" b="1">
                <a:solidFill>
                  <a:srgbClr val="FFFFFF"/>
                </a:solidFill>
              </a:rPr>
            </a:br>
            <a:endParaRPr lang="en-US" sz="3400">
              <a:solidFill>
                <a:srgbClr val="FFFFFF"/>
              </a:solidFill>
            </a:endParaRPr>
          </a:p>
        </p:txBody>
      </p:sp>
      <p:sp>
        <p:nvSpPr>
          <p:cNvPr id="3" name="Content Placeholder 2">
            <a:extLst>
              <a:ext uri="{FF2B5EF4-FFF2-40B4-BE49-F238E27FC236}">
                <a16:creationId xmlns:a16="http://schemas.microsoft.com/office/drawing/2014/main" id="{E53ACC20-B92B-9743-16F2-C116C2F0E07A}"/>
              </a:ext>
            </a:extLst>
          </p:cNvPr>
          <p:cNvSpPr>
            <a:spLocks noGrp="1"/>
          </p:cNvSpPr>
          <p:nvPr>
            <p:ph idx="1"/>
          </p:nvPr>
        </p:nvSpPr>
        <p:spPr>
          <a:xfrm>
            <a:off x="1371599" y="2318197"/>
            <a:ext cx="9724031" cy="3683358"/>
          </a:xfrm>
        </p:spPr>
        <p:txBody>
          <a:bodyPr anchor="ctr">
            <a:normAutofit/>
          </a:bodyPr>
          <a:lstStyle/>
          <a:p>
            <a:pPr marL="0" indent="0">
              <a:buNone/>
            </a:pPr>
            <a:r>
              <a:rPr lang="en-US" b="1" i="1" dirty="0"/>
              <a:t>Overview</a:t>
            </a:r>
            <a:endParaRPr lang="en-US" dirty="0"/>
          </a:p>
          <a:p>
            <a:pPr lvl="0"/>
            <a:r>
              <a:rPr lang="en-US" dirty="0"/>
              <a:t>A journal batch groups several journals under one batch header so they can be completed, approved and posted together.</a:t>
            </a:r>
          </a:p>
          <a:p>
            <a:pPr lvl="0"/>
            <a:r>
              <a:rPr lang="en-US" dirty="0"/>
              <a:t>Journals are created manually from the </a:t>
            </a:r>
            <a:r>
              <a:rPr lang="en-US" b="1" dirty="0"/>
              <a:t>Journals</a:t>
            </a:r>
            <a:r>
              <a:rPr lang="en-US" dirty="0"/>
              <a:t> work area in the General Accounting dashboard.</a:t>
            </a:r>
          </a:p>
          <a:p>
            <a:pPr lvl="0"/>
            <a:r>
              <a:rPr lang="en-US" dirty="0"/>
              <a:t>Posting the batch submits a single process that posts all journals in it.</a:t>
            </a:r>
          </a:p>
          <a:p>
            <a:pPr marL="0" indent="0">
              <a:buNone/>
            </a:pPr>
            <a:endParaRPr lang="en-US" sz="2000" dirty="0"/>
          </a:p>
        </p:txBody>
      </p:sp>
    </p:spTree>
    <p:extLst>
      <p:ext uri="{BB962C8B-B14F-4D97-AF65-F5344CB8AC3E}">
        <p14:creationId xmlns:p14="http://schemas.microsoft.com/office/powerpoint/2010/main" val="3263586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744-873E-272D-74A8-9BFB33B3494F}"/>
              </a:ext>
            </a:extLst>
          </p:cNvPr>
          <p:cNvSpPr>
            <a:spLocks noGrp="1"/>
          </p:cNvSpPr>
          <p:nvPr>
            <p:ph type="title"/>
          </p:nvPr>
        </p:nvSpPr>
        <p:spPr/>
        <p:txBody>
          <a:bodyPr>
            <a:normAutofit/>
          </a:bodyPr>
          <a:lstStyle/>
          <a:p>
            <a:r>
              <a:rPr lang="en-US" b="1" dirty="0"/>
              <a:t>Step 1: General Accounting Home: Open Journals</a:t>
            </a:r>
            <a:endParaRPr lang="en-US" dirty="0"/>
          </a:p>
        </p:txBody>
      </p:sp>
      <p:pic>
        <p:nvPicPr>
          <p:cNvPr id="4" name="General Accounting Home: Open Journals" descr="General Accounting Home: Open Journals" title="General Accounting Home: Open Journals">
            <a:extLst>
              <a:ext uri="{FF2B5EF4-FFF2-40B4-BE49-F238E27FC236}">
                <a16:creationId xmlns:a16="http://schemas.microsoft.com/office/drawing/2014/main" id="{D4D9A01F-6DC2-208A-B105-345C272C0A8B}"/>
              </a:ext>
            </a:extLst>
          </p:cNvPr>
          <p:cNvPicPr>
            <a:picLocks noGrp="1" noChangeAspect="1"/>
          </p:cNvPicPr>
          <p:nvPr>
            <p:ph idx="1"/>
          </p:nvPr>
        </p:nvPicPr>
        <p:blipFill>
          <a:blip r:embed="rId2"/>
          <a:srcRect/>
          <a:stretch>
            <a:fillRect/>
          </a:stretch>
        </p:blipFill>
        <p:spPr bwMode="auto">
          <a:xfrm>
            <a:off x="1730935" y="1825625"/>
            <a:ext cx="8730129" cy="4351338"/>
          </a:xfrm>
          <a:prstGeom prst="rect">
            <a:avLst/>
          </a:prstGeom>
        </p:spPr>
      </p:pic>
    </p:spTree>
    <p:extLst>
      <p:ext uri="{BB962C8B-B14F-4D97-AF65-F5344CB8AC3E}">
        <p14:creationId xmlns:p14="http://schemas.microsoft.com/office/powerpoint/2010/main" val="1018086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C5D2D-7C58-A3CB-E12E-94C77BD195F4}"/>
              </a:ext>
            </a:extLst>
          </p:cNvPr>
          <p:cNvSpPr>
            <a:spLocks noGrp="1"/>
          </p:cNvSpPr>
          <p:nvPr>
            <p:ph type="title"/>
          </p:nvPr>
        </p:nvSpPr>
        <p:spPr/>
        <p:txBody>
          <a:bodyPr>
            <a:normAutofit/>
          </a:bodyPr>
          <a:lstStyle/>
          <a:p>
            <a:r>
              <a:rPr lang="en-US" b="1" dirty="0"/>
              <a:t>Step 1: General Accounting Home: Open Journals</a:t>
            </a:r>
            <a:endParaRPr lang="en-US" dirty="0"/>
          </a:p>
        </p:txBody>
      </p:sp>
      <p:graphicFrame>
        <p:nvGraphicFramePr>
          <p:cNvPr id="5" name="Content Placeholder 2">
            <a:extLst>
              <a:ext uri="{FF2B5EF4-FFF2-40B4-BE49-F238E27FC236}">
                <a16:creationId xmlns:a16="http://schemas.microsoft.com/office/drawing/2014/main" id="{5EEB37EA-8DE1-F882-94CB-56C0387E8D51}"/>
              </a:ext>
            </a:extLst>
          </p:cNvPr>
          <p:cNvGraphicFramePr>
            <a:graphicFrameLocks noGrp="1"/>
          </p:cNvGraphicFramePr>
          <p:nvPr>
            <p:ph idx="1"/>
            <p:extLst>
              <p:ext uri="{D42A27DB-BD31-4B8C-83A1-F6EECF244321}">
                <p14:modId xmlns:p14="http://schemas.microsoft.com/office/powerpoint/2010/main" val="716543712"/>
              </p:ext>
            </p:extLst>
          </p:nvPr>
        </p:nvGraphicFramePr>
        <p:xfrm>
          <a:off x="723900" y="1544320"/>
          <a:ext cx="10744200" cy="47342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993684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54DFD36-CDEA-4A58-ABEC-DA9CE2CB26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F938B951-7EFC-40A2-B198-E73D39DFB3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7" name="Rectangle 16">
              <a:extLst>
                <a:ext uri="{FF2B5EF4-FFF2-40B4-BE49-F238E27FC236}">
                  <a16:creationId xmlns:a16="http://schemas.microsoft.com/office/drawing/2014/main" id="{92E4506E-6A0E-49A0-BC31-8CADBFF3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EED4D51-65BF-4AEE-B596-7CB61A70B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D338F91-FAA4-46B9-CABD-F0F14B3589C6}"/>
              </a:ext>
            </a:extLst>
          </p:cNvPr>
          <p:cNvSpPr>
            <a:spLocks noGrp="1"/>
          </p:cNvSpPr>
          <p:nvPr>
            <p:ph type="title"/>
          </p:nvPr>
        </p:nvSpPr>
        <p:spPr>
          <a:xfrm>
            <a:off x="550863" y="366639"/>
            <a:ext cx="11090274" cy="675441"/>
          </a:xfrm>
        </p:spPr>
        <p:txBody>
          <a:bodyPr vert="horz" wrap="square" lIns="91440" tIns="45720" rIns="91440" bIns="45720" rtlCol="0" anchor="t">
            <a:normAutofit/>
          </a:bodyPr>
          <a:lstStyle/>
          <a:p>
            <a:r>
              <a:rPr lang="en-US" sz="4200" b="1" kern="1200">
                <a:solidFill>
                  <a:schemeClr val="tx1"/>
                </a:solidFill>
                <a:latin typeface="+mj-lt"/>
                <a:ea typeface="+mj-ea"/>
                <a:cs typeface="+mj-cs"/>
              </a:rPr>
              <a:t>Step 2: Journals Page: Create Journal</a:t>
            </a:r>
            <a:endParaRPr lang="en-US" sz="4200" kern="1200">
              <a:solidFill>
                <a:schemeClr val="tx1"/>
              </a:solidFill>
              <a:latin typeface="+mj-lt"/>
              <a:ea typeface="+mj-ea"/>
              <a:cs typeface="+mj-cs"/>
            </a:endParaRPr>
          </a:p>
        </p:txBody>
      </p:sp>
      <p:pic>
        <p:nvPicPr>
          <p:cNvPr id="4" name="Journals Page: Create Journal" descr="Journals Page: Create Journal" title="Journals Page: Create Journal">
            <a:extLst>
              <a:ext uri="{FF2B5EF4-FFF2-40B4-BE49-F238E27FC236}">
                <a16:creationId xmlns:a16="http://schemas.microsoft.com/office/drawing/2014/main" id="{94020EE0-B537-DF07-BAF7-41762CD3DAB6}"/>
              </a:ext>
            </a:extLst>
          </p:cNvPr>
          <p:cNvPicPr>
            <a:picLocks noGrp="1" noChangeAspect="1"/>
          </p:cNvPicPr>
          <p:nvPr>
            <p:ph idx="1"/>
          </p:nvPr>
        </p:nvPicPr>
        <p:blipFill>
          <a:blip r:embed="rId2"/>
          <a:stretch>
            <a:fillRect/>
          </a:stretch>
        </p:blipFill>
        <p:spPr bwMode="auto">
          <a:xfrm>
            <a:off x="1128924" y="1229361"/>
            <a:ext cx="9934151" cy="4942240"/>
          </a:xfrm>
          <a:prstGeom prst="rect">
            <a:avLst/>
          </a:prstGeom>
          <a:effectLst>
            <a:outerShdw blurRad="508000" dist="101600" dir="5400000" algn="tl" rotWithShape="0">
              <a:prstClr val="black">
                <a:alpha val="10000"/>
              </a:prstClr>
            </a:outerShdw>
          </a:effectLst>
        </p:spPr>
      </p:pic>
    </p:spTree>
    <p:extLst>
      <p:ext uri="{BB962C8B-B14F-4D97-AF65-F5344CB8AC3E}">
        <p14:creationId xmlns:p14="http://schemas.microsoft.com/office/powerpoint/2010/main" val="30592578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A43DAD-3B0B-1E0D-7DCB-213D1A1411A4}"/>
              </a:ext>
            </a:extLst>
          </p:cNvPr>
          <p:cNvSpPr>
            <a:spLocks noGrp="1"/>
          </p:cNvSpPr>
          <p:nvPr>
            <p:ph type="title"/>
          </p:nvPr>
        </p:nvSpPr>
        <p:spPr>
          <a:xfrm>
            <a:off x="1371599" y="294538"/>
            <a:ext cx="9895951" cy="1033669"/>
          </a:xfrm>
        </p:spPr>
        <p:txBody>
          <a:bodyPr>
            <a:normAutofit/>
          </a:bodyPr>
          <a:lstStyle/>
          <a:p>
            <a:r>
              <a:rPr lang="en-US" sz="4000" b="1">
                <a:solidFill>
                  <a:srgbClr val="FFFFFF"/>
                </a:solidFill>
              </a:rPr>
              <a:t>Step 2: Journals Page: Create Journal</a:t>
            </a:r>
            <a:endParaRPr lang="en-US" sz="4000">
              <a:solidFill>
                <a:srgbClr val="FFFFFF"/>
              </a:solidFill>
            </a:endParaRPr>
          </a:p>
        </p:txBody>
      </p:sp>
      <p:sp>
        <p:nvSpPr>
          <p:cNvPr id="3" name="Content Placeholder 2">
            <a:extLst>
              <a:ext uri="{FF2B5EF4-FFF2-40B4-BE49-F238E27FC236}">
                <a16:creationId xmlns:a16="http://schemas.microsoft.com/office/drawing/2014/main" id="{9474CD0E-9FF7-1EE1-F723-A850087CC3F8}"/>
              </a:ext>
            </a:extLst>
          </p:cNvPr>
          <p:cNvSpPr>
            <a:spLocks noGrp="1"/>
          </p:cNvSpPr>
          <p:nvPr>
            <p:ph idx="1"/>
          </p:nvPr>
        </p:nvSpPr>
        <p:spPr>
          <a:xfrm>
            <a:off x="1371599" y="2318197"/>
            <a:ext cx="9724031" cy="3683358"/>
          </a:xfrm>
        </p:spPr>
        <p:txBody>
          <a:bodyPr anchor="ctr">
            <a:normAutofit/>
          </a:bodyPr>
          <a:lstStyle/>
          <a:p>
            <a:pPr lvl="0"/>
            <a:r>
              <a:rPr lang="en-US" sz="3200" dirty="0"/>
              <a:t>The </a:t>
            </a:r>
            <a:r>
              <a:rPr lang="en-US" sz="3200" b="1" dirty="0"/>
              <a:t>Journals</a:t>
            </a:r>
            <a:r>
              <a:rPr lang="en-US" sz="3200" dirty="0"/>
              <a:t> page is scoped to the </a:t>
            </a:r>
            <a:r>
              <a:rPr lang="en-US" sz="3200" b="1" dirty="0"/>
              <a:t>Data Access Set</a:t>
            </a:r>
            <a:r>
              <a:rPr lang="en-US" sz="3200" dirty="0"/>
              <a:t> (NSS Primary Ledger EG).</a:t>
            </a:r>
          </a:p>
          <a:p>
            <a:pPr lvl="0"/>
            <a:r>
              <a:rPr lang="en-US" sz="3200" dirty="0"/>
              <a:t>Open the </a:t>
            </a:r>
            <a:r>
              <a:rPr lang="en-US" sz="3200" b="1" dirty="0"/>
              <a:t>Tasks</a:t>
            </a:r>
            <a:r>
              <a:rPr lang="en-US" sz="3200" dirty="0"/>
              <a:t> panel and select </a:t>
            </a:r>
            <a:r>
              <a:rPr lang="en-US" sz="3200" b="1" dirty="0"/>
              <a:t>Create Journal</a:t>
            </a:r>
            <a:r>
              <a:rPr lang="en-US" sz="3200" dirty="0"/>
              <a:t>.</a:t>
            </a:r>
          </a:p>
          <a:p>
            <a:r>
              <a:rPr lang="en-US" sz="3200" dirty="0"/>
              <a:t>The panel also provides Manage Journals, Run </a:t>
            </a:r>
            <a:r>
              <a:rPr lang="en-US" sz="3200" dirty="0" err="1"/>
              <a:t>AutoPost</a:t>
            </a:r>
            <a:r>
              <a:rPr lang="en-US" sz="3200" dirty="0"/>
              <a:t>, Run </a:t>
            </a:r>
            <a:r>
              <a:rPr lang="en-US" sz="3200" dirty="0" err="1"/>
              <a:t>AutoReverse</a:t>
            </a:r>
            <a:r>
              <a:rPr lang="en-US" sz="3200" dirty="0"/>
              <a:t> and Import Journals</a:t>
            </a:r>
          </a:p>
        </p:txBody>
      </p:sp>
    </p:spTree>
    <p:extLst>
      <p:ext uri="{BB962C8B-B14F-4D97-AF65-F5344CB8AC3E}">
        <p14:creationId xmlns:p14="http://schemas.microsoft.com/office/powerpoint/2010/main" val="33337433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914257E-1E2A-4AC7-89EC-1FB65C9C0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03E1C8F1-97F5-489C-8308-958F09657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1269336"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B431F5BF-B15C-6365-3480-2304263C5E15}"/>
              </a:ext>
            </a:extLst>
          </p:cNvPr>
          <p:cNvSpPr>
            <a:spLocks noGrp="1"/>
          </p:cNvSpPr>
          <p:nvPr>
            <p:ph type="title"/>
          </p:nvPr>
        </p:nvSpPr>
        <p:spPr>
          <a:xfrm>
            <a:off x="723901" y="509587"/>
            <a:ext cx="7649239" cy="742951"/>
          </a:xfrm>
        </p:spPr>
        <p:txBody>
          <a:bodyPr vert="horz" lIns="91440" tIns="45720" rIns="91440" bIns="45720" rtlCol="0" anchor="ctr">
            <a:normAutofit/>
          </a:bodyPr>
          <a:lstStyle/>
          <a:p>
            <a:r>
              <a:rPr lang="en-US" sz="2500" kern="1200">
                <a:solidFill>
                  <a:schemeClr val="tx1"/>
                </a:solidFill>
                <a:latin typeface="+mj-lt"/>
                <a:ea typeface="+mj-ea"/>
                <a:cs typeface="+mj-cs"/>
              </a:rPr>
              <a:t>Step 3: Journal Batch NSS_Batch 1 with Multiple Journals</a:t>
            </a:r>
          </a:p>
        </p:txBody>
      </p:sp>
      <p:pic>
        <p:nvPicPr>
          <p:cNvPr id="4" name="Journal Batch NSS_Batch 1 with Multiple Journals" descr="Journal Batch NSS_Batch 1 with Multiple Journals" title="Journal Batch NSS_Batch 1 with Multiple Journals">
            <a:extLst>
              <a:ext uri="{FF2B5EF4-FFF2-40B4-BE49-F238E27FC236}">
                <a16:creationId xmlns:a16="http://schemas.microsoft.com/office/drawing/2014/main" id="{EA11B4BC-987C-426E-8124-703667DF27D0}"/>
              </a:ext>
            </a:extLst>
          </p:cNvPr>
          <p:cNvPicPr>
            <a:picLocks noGrp="1" noChangeAspect="1"/>
          </p:cNvPicPr>
          <p:nvPr>
            <p:ph idx="1"/>
          </p:nvPr>
        </p:nvPicPr>
        <p:blipFill>
          <a:blip r:embed="rId2"/>
          <a:stretch>
            <a:fillRect/>
          </a:stretch>
        </p:blipFill>
        <p:spPr bwMode="auto">
          <a:xfrm>
            <a:off x="844326" y="1434011"/>
            <a:ext cx="10267954" cy="5133975"/>
          </a:xfrm>
          <a:prstGeom prst="rect">
            <a:avLst/>
          </a:prstGeom>
        </p:spPr>
      </p:pic>
      <p:sp>
        <p:nvSpPr>
          <p:cNvPr id="18" name="Freeform: Shape 17">
            <a:extLst>
              <a:ext uri="{FF2B5EF4-FFF2-40B4-BE49-F238E27FC236}">
                <a16:creationId xmlns:a16="http://schemas.microsoft.com/office/drawing/2014/main" id="{DEB62645-D4DA-4E99-8344-B1536F63D1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277971"/>
            <a:ext cx="6884912"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88003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6BDA323-4215-CBEB-5821-BF71224F2E4D}"/>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Step 3: Journal Batch NSS_Batch 1 with Multiple Journals</a:t>
            </a:r>
          </a:p>
        </p:txBody>
      </p:sp>
      <p:sp>
        <p:nvSpPr>
          <p:cNvPr id="3" name="Content Placeholder 2">
            <a:extLst>
              <a:ext uri="{FF2B5EF4-FFF2-40B4-BE49-F238E27FC236}">
                <a16:creationId xmlns:a16="http://schemas.microsoft.com/office/drawing/2014/main" id="{68C494AD-0D1D-2AC7-FD56-B446E5B0D90F}"/>
              </a:ext>
            </a:extLst>
          </p:cNvPr>
          <p:cNvSpPr>
            <a:spLocks noGrp="1"/>
          </p:cNvSpPr>
          <p:nvPr>
            <p:ph idx="1"/>
          </p:nvPr>
        </p:nvSpPr>
        <p:spPr>
          <a:xfrm>
            <a:off x="6503158" y="649480"/>
            <a:ext cx="4862447" cy="5546047"/>
          </a:xfrm>
        </p:spPr>
        <p:txBody>
          <a:bodyPr anchor="ctr">
            <a:normAutofit/>
          </a:bodyPr>
          <a:lstStyle/>
          <a:p>
            <a:r>
              <a:rPr lang="en-US" sz="2000"/>
              <a:t>Enter the batch header: Journal Batch name, Description, Accounting Period (Jan-26); Balance Type is Actual and Source is Manual.</a:t>
            </a:r>
          </a:p>
          <a:p>
            <a:r>
              <a:rPr lang="en-US" sz="2000"/>
              <a:t>Use Add (+) in the Journal region to add Journal 1, Journal 2 and Journal 3 to the same batch.</a:t>
            </a:r>
          </a:p>
          <a:p>
            <a:r>
              <a:rPr lang="en-US" sz="2000"/>
              <a:t>Switch between journals using the Select Journal list.</a:t>
            </a:r>
          </a:p>
          <a:p>
            <a:r>
              <a:rPr lang="en-US" sz="2000"/>
              <a:t>Each journal carries its own Ledger, Accounting Date, Category (Accrual) and currency (EGP).</a:t>
            </a:r>
          </a:p>
          <a:p>
            <a:endParaRPr lang="en-US" sz="2000"/>
          </a:p>
        </p:txBody>
      </p:sp>
    </p:spTree>
    <p:extLst>
      <p:ext uri="{BB962C8B-B14F-4D97-AF65-F5344CB8AC3E}">
        <p14:creationId xmlns:p14="http://schemas.microsoft.com/office/powerpoint/2010/main" val="1638943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2C1D55-4CD7-EB73-E5CA-6109F85504AA}"/>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a:solidFill>
                  <a:srgbClr val="FFFFFF"/>
                </a:solidFill>
                <a:latin typeface="+mj-lt"/>
                <a:ea typeface="+mj-ea"/>
                <a:cs typeface="+mj-cs"/>
              </a:rPr>
              <a:t>Step 4: Post the Batch: Confirmation Message</a:t>
            </a:r>
          </a:p>
        </p:txBody>
      </p:sp>
      <p:pic>
        <p:nvPicPr>
          <p:cNvPr id="4" name="Post the Batch: Confirmation Message" descr="Post the Batch: Confirmation Message" title="Post the Batch: Confirmation Message">
            <a:extLst>
              <a:ext uri="{FF2B5EF4-FFF2-40B4-BE49-F238E27FC236}">
                <a16:creationId xmlns:a16="http://schemas.microsoft.com/office/drawing/2014/main" id="{7744B191-1C72-CAD3-DE94-63A92C213CB4}"/>
              </a:ext>
            </a:extLst>
          </p:cNvPr>
          <p:cNvPicPr>
            <a:picLocks noGrp="1" noChangeAspect="1"/>
          </p:cNvPicPr>
          <p:nvPr>
            <p:ph idx="1"/>
          </p:nvPr>
        </p:nvPicPr>
        <p:blipFill>
          <a:blip r:embed="rId2"/>
          <a:stretch>
            <a:fillRect/>
          </a:stretch>
        </p:blipFill>
        <p:spPr bwMode="auto">
          <a:xfrm>
            <a:off x="1621466" y="1966293"/>
            <a:ext cx="8949066" cy="4452160"/>
          </a:xfrm>
          <a:prstGeom prst="rect">
            <a:avLst/>
          </a:prstGeom>
        </p:spPr>
      </p:pic>
    </p:spTree>
    <p:extLst>
      <p:ext uri="{BB962C8B-B14F-4D97-AF65-F5344CB8AC3E}">
        <p14:creationId xmlns:p14="http://schemas.microsoft.com/office/powerpoint/2010/main" val="21830974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FB0C0BC-F9BA-A1D8-4B3A-761F40F3F034}"/>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Step 4: Post the Batch: Confirmation Message</a:t>
            </a:r>
          </a:p>
        </p:txBody>
      </p:sp>
      <p:graphicFrame>
        <p:nvGraphicFramePr>
          <p:cNvPr id="5" name="Content Placeholder 2">
            <a:extLst>
              <a:ext uri="{FF2B5EF4-FFF2-40B4-BE49-F238E27FC236}">
                <a16:creationId xmlns:a16="http://schemas.microsoft.com/office/drawing/2014/main" id="{FD1042A5-0D84-040B-BD58-F69EC35328E0}"/>
              </a:ext>
            </a:extLst>
          </p:cNvPr>
          <p:cNvGraphicFramePr>
            <a:graphicFrameLocks noGrp="1"/>
          </p:cNvGraphicFramePr>
          <p:nvPr>
            <p:ph idx="1"/>
            <p:extLst>
              <p:ext uri="{D42A27DB-BD31-4B8C-83A1-F6EECF244321}">
                <p14:modId xmlns:p14="http://schemas.microsoft.com/office/powerpoint/2010/main" val="3457302270"/>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158680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E9A668-9F22-B3F1-8E6F-4ABC40FF5D50}"/>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Step 5: Manage Journals: Batch Journals Posted</a:t>
            </a:r>
          </a:p>
        </p:txBody>
      </p:sp>
      <p:pic>
        <p:nvPicPr>
          <p:cNvPr id="4" name="Manage Journals: Batch Journals Posted" descr="Manage Journals: Batch Journals Posted" title="Manage Journals: Batch Journals Posted">
            <a:extLst>
              <a:ext uri="{FF2B5EF4-FFF2-40B4-BE49-F238E27FC236}">
                <a16:creationId xmlns:a16="http://schemas.microsoft.com/office/drawing/2014/main" id="{6675AC61-19CF-42D2-FFCF-C57ABFF7661F}"/>
              </a:ext>
            </a:extLst>
          </p:cNvPr>
          <p:cNvPicPr>
            <a:picLocks noGrp="1" noChangeAspect="1"/>
          </p:cNvPicPr>
          <p:nvPr>
            <p:ph idx="1"/>
          </p:nvPr>
        </p:nvPicPr>
        <p:blipFill>
          <a:blip r:embed="rId2"/>
          <a:stretch>
            <a:fillRect/>
          </a:stretch>
        </p:blipFill>
        <p:spPr bwMode="auto">
          <a:xfrm>
            <a:off x="1679719" y="1675227"/>
            <a:ext cx="8832562" cy="4394199"/>
          </a:xfrm>
          <a:prstGeom prst="rect">
            <a:avLst/>
          </a:prstGeom>
        </p:spPr>
      </p:pic>
    </p:spTree>
    <p:extLst>
      <p:ext uri="{BB962C8B-B14F-4D97-AF65-F5344CB8AC3E}">
        <p14:creationId xmlns:p14="http://schemas.microsoft.com/office/powerpoint/2010/main" val="32848256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B37A8A9-4431-5E27-3318-2E98D73FFD5C}"/>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Step 5: Manage Journals: Batch Journals Posted</a:t>
            </a:r>
          </a:p>
        </p:txBody>
      </p:sp>
      <p:graphicFrame>
        <p:nvGraphicFramePr>
          <p:cNvPr id="5" name="Content Placeholder 2">
            <a:extLst>
              <a:ext uri="{FF2B5EF4-FFF2-40B4-BE49-F238E27FC236}">
                <a16:creationId xmlns:a16="http://schemas.microsoft.com/office/drawing/2014/main" id="{9CF5F4F3-0371-6480-7929-D9EA0AF80671}"/>
              </a:ext>
            </a:extLst>
          </p:cNvPr>
          <p:cNvGraphicFramePr>
            <a:graphicFrameLocks noGrp="1"/>
          </p:cNvGraphicFramePr>
          <p:nvPr>
            <p:ph idx="1"/>
            <p:extLst>
              <p:ext uri="{D42A27DB-BD31-4B8C-83A1-F6EECF244321}">
                <p14:modId xmlns:p14="http://schemas.microsoft.com/office/powerpoint/2010/main" val="2706016066"/>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216000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D5E6B21-B5FD-0002-3BDD-3409B75BBFEC}"/>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Part 4: Reverse Journal</a:t>
            </a:r>
          </a:p>
        </p:txBody>
      </p:sp>
      <p:sp>
        <p:nvSpPr>
          <p:cNvPr id="3" name="Content Placeholder 2">
            <a:extLst>
              <a:ext uri="{FF2B5EF4-FFF2-40B4-BE49-F238E27FC236}">
                <a16:creationId xmlns:a16="http://schemas.microsoft.com/office/drawing/2014/main" id="{01DCD0D3-ADD3-5FCA-A24C-44BA4271F751}"/>
              </a:ext>
            </a:extLst>
          </p:cNvPr>
          <p:cNvSpPr>
            <a:spLocks noGrp="1"/>
          </p:cNvSpPr>
          <p:nvPr>
            <p:ph idx="1"/>
          </p:nvPr>
        </p:nvSpPr>
        <p:spPr>
          <a:xfrm>
            <a:off x="6503158" y="649480"/>
            <a:ext cx="4862447" cy="5546047"/>
          </a:xfrm>
        </p:spPr>
        <p:txBody>
          <a:bodyPr anchor="ctr">
            <a:normAutofit/>
          </a:bodyPr>
          <a:lstStyle/>
          <a:p>
            <a:pPr marL="0" indent="0">
              <a:buNone/>
            </a:pPr>
            <a:r>
              <a:rPr lang="en-US" sz="2000"/>
              <a:t>Overview</a:t>
            </a:r>
          </a:p>
          <a:p>
            <a:r>
              <a:rPr lang="en-US" sz="2000"/>
              <a:t>Journal reversal creates an offsetting journal in a later period to cancel the effect of a posted entry, typically for accruals.</a:t>
            </a:r>
          </a:p>
          <a:p>
            <a:r>
              <a:rPr lang="en-US" sz="2000"/>
              <a:t>The Reverse Batch action sets the reversal at batch level and overrides any journal-level reversal settings.</a:t>
            </a:r>
          </a:p>
          <a:p>
            <a:r>
              <a:rPr lang="en-US" sz="2000"/>
              <a:t>The reversal journal is generated as Unposted and must be posted to update balances.</a:t>
            </a:r>
          </a:p>
          <a:p>
            <a:endParaRPr lang="en-US" sz="2000"/>
          </a:p>
        </p:txBody>
      </p:sp>
    </p:spTree>
    <p:extLst>
      <p:ext uri="{BB962C8B-B14F-4D97-AF65-F5344CB8AC3E}">
        <p14:creationId xmlns:p14="http://schemas.microsoft.com/office/powerpoint/2010/main" val="23729876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550196-8648-B571-639A-46C6406E5754}"/>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Step 1: Create Journal: Batch NSS Batch 2 with Journal Lines</a:t>
            </a:r>
          </a:p>
        </p:txBody>
      </p:sp>
      <p:pic>
        <p:nvPicPr>
          <p:cNvPr id="4" name="Create Journal: Batch NSS Batch 2 with Journal Lines" descr="Create Journal: Batch NSS Batch 2 with Journal Lines" title="Create Journal: Batch NSS Batch 2 with Journal Lines">
            <a:extLst>
              <a:ext uri="{FF2B5EF4-FFF2-40B4-BE49-F238E27FC236}">
                <a16:creationId xmlns:a16="http://schemas.microsoft.com/office/drawing/2014/main" id="{3A5DA527-779C-2B17-ABFE-19F51DEB4190}"/>
              </a:ext>
            </a:extLst>
          </p:cNvPr>
          <p:cNvPicPr>
            <a:picLocks noGrp="1" noChangeAspect="1"/>
          </p:cNvPicPr>
          <p:nvPr>
            <p:ph idx="1"/>
          </p:nvPr>
        </p:nvPicPr>
        <p:blipFill>
          <a:blip r:embed="rId2"/>
          <a:stretch>
            <a:fillRect/>
          </a:stretch>
        </p:blipFill>
        <p:spPr bwMode="auto">
          <a:xfrm>
            <a:off x="2672080" y="1675227"/>
            <a:ext cx="6222774" cy="4715413"/>
          </a:xfrm>
          <a:prstGeom prst="rect">
            <a:avLst/>
          </a:prstGeom>
        </p:spPr>
      </p:pic>
    </p:spTree>
    <p:extLst>
      <p:ext uri="{BB962C8B-B14F-4D97-AF65-F5344CB8AC3E}">
        <p14:creationId xmlns:p14="http://schemas.microsoft.com/office/powerpoint/2010/main" val="21076601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B8CF1-70F6-099F-282E-3F89E40D337A}"/>
              </a:ext>
            </a:extLst>
          </p:cNvPr>
          <p:cNvSpPr>
            <a:spLocks noGrp="1"/>
          </p:cNvSpPr>
          <p:nvPr>
            <p:ph type="title"/>
          </p:nvPr>
        </p:nvSpPr>
        <p:spPr/>
        <p:txBody>
          <a:bodyPr/>
          <a:lstStyle/>
          <a:p>
            <a:r>
              <a:rPr lang="en-US"/>
              <a:t>Step 1: Create Journal: Batch NSS Batch 2 with Journal Lines</a:t>
            </a:r>
            <a:endParaRPr lang="en-US" dirty="0"/>
          </a:p>
        </p:txBody>
      </p:sp>
      <p:graphicFrame>
        <p:nvGraphicFramePr>
          <p:cNvPr id="6" name="Content Placeholder 2">
            <a:extLst>
              <a:ext uri="{FF2B5EF4-FFF2-40B4-BE49-F238E27FC236}">
                <a16:creationId xmlns:a16="http://schemas.microsoft.com/office/drawing/2014/main" id="{728F53C9-87F0-AAFB-FCCF-F5E0F978EE02}"/>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357362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3043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D2B5F7-935A-1EB5-27F4-E81EA142411A}"/>
              </a:ext>
            </a:extLst>
          </p:cNvPr>
          <p:cNvSpPr>
            <a:spLocks noGrp="1"/>
          </p:cNvSpPr>
          <p:nvPr>
            <p:ph type="title"/>
          </p:nvPr>
        </p:nvSpPr>
        <p:spPr>
          <a:xfrm>
            <a:off x="556532" y="532214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Step 2: Journal Saved and Selected for Posting</a:t>
            </a:r>
          </a:p>
        </p:txBody>
      </p:sp>
      <p:pic>
        <p:nvPicPr>
          <p:cNvPr id="4" name="Journal Saved and Selected for Posting" descr="Journal Saved and Selected for Posting" title="Journal Saved and Selected for Posting">
            <a:extLst>
              <a:ext uri="{FF2B5EF4-FFF2-40B4-BE49-F238E27FC236}">
                <a16:creationId xmlns:a16="http://schemas.microsoft.com/office/drawing/2014/main" id="{BF54800A-BCEE-A1BF-3D13-E7C4E9E5302E}"/>
              </a:ext>
            </a:extLst>
          </p:cNvPr>
          <p:cNvPicPr>
            <a:picLocks noGrp="1" noChangeAspect="1"/>
          </p:cNvPicPr>
          <p:nvPr>
            <p:ph idx="1"/>
          </p:nvPr>
        </p:nvPicPr>
        <p:blipFill>
          <a:blip r:embed="rId2"/>
          <a:stretch>
            <a:fillRect/>
          </a:stretch>
        </p:blipFill>
        <p:spPr bwMode="auto">
          <a:xfrm>
            <a:off x="1679719" y="364587"/>
            <a:ext cx="8832562" cy="4394199"/>
          </a:xfrm>
          <a:prstGeom prst="rect">
            <a:avLst/>
          </a:prstGeom>
        </p:spPr>
      </p:pic>
    </p:spTree>
    <p:extLst>
      <p:ext uri="{BB962C8B-B14F-4D97-AF65-F5344CB8AC3E}">
        <p14:creationId xmlns:p14="http://schemas.microsoft.com/office/powerpoint/2010/main" val="19010222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CD6C39-4AF4-E832-7349-C966F8D0D208}"/>
              </a:ext>
            </a:extLst>
          </p:cNvPr>
          <p:cNvSpPr>
            <a:spLocks noGrp="1"/>
          </p:cNvSpPr>
          <p:nvPr>
            <p:ph type="title"/>
          </p:nvPr>
        </p:nvSpPr>
        <p:spPr>
          <a:xfrm>
            <a:off x="1156851" y="637762"/>
            <a:ext cx="9888496" cy="900131"/>
          </a:xfrm>
        </p:spPr>
        <p:txBody>
          <a:bodyPr>
            <a:normAutofit/>
          </a:bodyPr>
          <a:lstStyle/>
          <a:p>
            <a:r>
              <a:rPr lang="en-US" sz="4000">
                <a:solidFill>
                  <a:schemeClr val="bg1"/>
                </a:solidFill>
              </a:rPr>
              <a:t>Step 2: Journal Saved and Selected for Posting</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DFE974F-92B4-453E-BA45-832B5B3ABB0D}"/>
              </a:ext>
            </a:extLst>
          </p:cNvPr>
          <p:cNvSpPr>
            <a:spLocks noGrp="1"/>
          </p:cNvSpPr>
          <p:nvPr>
            <p:ph idx="1"/>
          </p:nvPr>
        </p:nvSpPr>
        <p:spPr>
          <a:xfrm>
            <a:off x="1155548" y="2217343"/>
            <a:ext cx="9880893" cy="3959619"/>
          </a:xfrm>
        </p:spPr>
        <p:txBody>
          <a:bodyPr>
            <a:normAutofit/>
          </a:bodyPr>
          <a:lstStyle/>
          <a:p>
            <a:r>
              <a:rPr lang="en-US" sz="2400"/>
              <a:t>After Complete and Post, the Batch Status shows Selected for posting and the Completion Status is Complete.</a:t>
            </a:r>
          </a:p>
          <a:p>
            <a:r>
              <a:rPr lang="en-US" sz="2400"/>
              <a:t>The Last Saved timestamp confirms the save, and the Save and Post buttons are disabled while posting is in progress.</a:t>
            </a:r>
          </a:p>
          <a:p>
            <a:endParaRPr lang="en-US" sz="2400"/>
          </a:p>
        </p:txBody>
      </p:sp>
    </p:spTree>
    <p:extLst>
      <p:ext uri="{BB962C8B-B14F-4D97-AF65-F5344CB8AC3E}">
        <p14:creationId xmlns:p14="http://schemas.microsoft.com/office/powerpoint/2010/main" val="39055838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65ACEF-A70E-FFC6-52D9-6E7AD2C6804D}"/>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b="1" kern="1200">
                <a:solidFill>
                  <a:srgbClr val="FFFFFF"/>
                </a:solidFill>
                <a:latin typeface="+mj-lt"/>
                <a:ea typeface="+mj-ea"/>
                <a:cs typeface="+mj-cs"/>
              </a:rPr>
              <a:t>Step 3: Journals Page: Open Manage Journals</a:t>
            </a:r>
            <a:endParaRPr lang="en-US" sz="3700" kern="1200">
              <a:solidFill>
                <a:srgbClr val="FFFFFF"/>
              </a:solidFill>
              <a:latin typeface="+mj-lt"/>
              <a:ea typeface="+mj-ea"/>
              <a:cs typeface="+mj-cs"/>
            </a:endParaRPr>
          </a:p>
        </p:txBody>
      </p:sp>
      <p:pic>
        <p:nvPicPr>
          <p:cNvPr id="4" name="Journals Page: Open Manage Journals" descr="Journals Page: Open Manage Journals" title="Journals Page: Open Manage Journals">
            <a:extLst>
              <a:ext uri="{FF2B5EF4-FFF2-40B4-BE49-F238E27FC236}">
                <a16:creationId xmlns:a16="http://schemas.microsoft.com/office/drawing/2014/main" id="{14F1D1E7-227C-97DB-C2B0-4F2A38AEAF64}"/>
              </a:ext>
            </a:extLst>
          </p:cNvPr>
          <p:cNvPicPr>
            <a:picLocks noGrp="1" noChangeAspect="1"/>
          </p:cNvPicPr>
          <p:nvPr>
            <p:ph idx="1"/>
          </p:nvPr>
        </p:nvPicPr>
        <p:blipFill>
          <a:blip r:embed="rId2"/>
          <a:stretch>
            <a:fillRect/>
          </a:stretch>
        </p:blipFill>
        <p:spPr bwMode="auto">
          <a:xfrm>
            <a:off x="1621466" y="1966293"/>
            <a:ext cx="8949066" cy="4452160"/>
          </a:xfrm>
          <a:prstGeom prst="rect">
            <a:avLst/>
          </a:prstGeom>
        </p:spPr>
      </p:pic>
    </p:spTree>
    <p:extLst>
      <p:ext uri="{BB962C8B-B14F-4D97-AF65-F5344CB8AC3E}">
        <p14:creationId xmlns:p14="http://schemas.microsoft.com/office/powerpoint/2010/main" val="2180655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CE1B5BE-565B-3FB9-48AD-B4F16BE247E4}"/>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Step 3: Journals Page: Open Manage Journals</a:t>
            </a:r>
          </a:p>
        </p:txBody>
      </p:sp>
      <p:graphicFrame>
        <p:nvGraphicFramePr>
          <p:cNvPr id="5" name="Content Placeholder 2">
            <a:extLst>
              <a:ext uri="{FF2B5EF4-FFF2-40B4-BE49-F238E27FC236}">
                <a16:creationId xmlns:a16="http://schemas.microsoft.com/office/drawing/2014/main" id="{F37D7B8C-0E63-FAEF-C8F7-21E5B6D6D208}"/>
              </a:ext>
            </a:extLst>
          </p:cNvPr>
          <p:cNvGraphicFramePr>
            <a:graphicFrameLocks noGrp="1"/>
          </p:cNvGraphicFramePr>
          <p:nvPr>
            <p:ph idx="1"/>
            <p:extLst>
              <p:ext uri="{D42A27DB-BD31-4B8C-83A1-F6EECF244321}">
                <p14:modId xmlns:p14="http://schemas.microsoft.com/office/powerpoint/2010/main" val="272232115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234319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64A134-70EE-8411-EB9A-7F82AF9ABDEA}"/>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a:solidFill>
                  <a:srgbClr val="FFFFFF"/>
                </a:solidFill>
                <a:latin typeface="+mj-lt"/>
                <a:ea typeface="+mj-ea"/>
                <a:cs typeface="+mj-cs"/>
              </a:rPr>
              <a:t>Step 4: Manage Journals: Search the Posted Journal</a:t>
            </a:r>
          </a:p>
        </p:txBody>
      </p:sp>
      <p:pic>
        <p:nvPicPr>
          <p:cNvPr id="4" name="Manage Journals: Search the Posted Journal" descr="Manage Journals: Search the Posted Journal" title="Manage Journals: Search the Posted Journal">
            <a:extLst>
              <a:ext uri="{FF2B5EF4-FFF2-40B4-BE49-F238E27FC236}">
                <a16:creationId xmlns:a16="http://schemas.microsoft.com/office/drawing/2014/main" id="{6800964F-F1FD-788B-6947-5F4D156BB3AC}"/>
              </a:ext>
            </a:extLst>
          </p:cNvPr>
          <p:cNvPicPr>
            <a:picLocks noGrp="1" noChangeAspect="1"/>
          </p:cNvPicPr>
          <p:nvPr>
            <p:ph idx="1"/>
          </p:nvPr>
        </p:nvPicPr>
        <p:blipFill>
          <a:blip r:embed="rId2"/>
          <a:stretch>
            <a:fillRect/>
          </a:stretch>
        </p:blipFill>
        <p:spPr bwMode="auto">
          <a:xfrm>
            <a:off x="1621466" y="1966293"/>
            <a:ext cx="8949066" cy="4452160"/>
          </a:xfrm>
          <a:prstGeom prst="rect">
            <a:avLst/>
          </a:prstGeom>
        </p:spPr>
      </p:pic>
    </p:spTree>
    <p:extLst>
      <p:ext uri="{BB962C8B-B14F-4D97-AF65-F5344CB8AC3E}">
        <p14:creationId xmlns:p14="http://schemas.microsoft.com/office/powerpoint/2010/main" val="22388909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79983BD-1A01-C446-3C42-17FE64352C76}"/>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Step 4: Manage Journals: Search the Posted Journal</a:t>
            </a:r>
          </a:p>
        </p:txBody>
      </p:sp>
      <p:graphicFrame>
        <p:nvGraphicFramePr>
          <p:cNvPr id="5" name="Content Placeholder 2">
            <a:extLst>
              <a:ext uri="{FF2B5EF4-FFF2-40B4-BE49-F238E27FC236}">
                <a16:creationId xmlns:a16="http://schemas.microsoft.com/office/drawing/2014/main" id="{F63EEF6B-1FE2-EE44-DC2B-636B3F2646EA}"/>
              </a:ext>
            </a:extLst>
          </p:cNvPr>
          <p:cNvGraphicFramePr>
            <a:graphicFrameLocks noGrp="1"/>
          </p:cNvGraphicFramePr>
          <p:nvPr>
            <p:ph idx="1"/>
            <p:extLst>
              <p:ext uri="{D42A27DB-BD31-4B8C-83A1-F6EECF244321}">
                <p14:modId xmlns:p14="http://schemas.microsoft.com/office/powerpoint/2010/main" val="2763690236"/>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97124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D076F7-FB36-39E3-4213-766AFEE9BCD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Step 5: Select the Journal and Click Reverse Batch</a:t>
            </a:r>
          </a:p>
        </p:txBody>
      </p:sp>
      <p:pic>
        <p:nvPicPr>
          <p:cNvPr id="4" name="Select the Journal and Click Reverse Batch" descr="Select the Journal and Click Reverse Batch" title="Select the Journal and Click Reverse Batch">
            <a:extLst>
              <a:ext uri="{FF2B5EF4-FFF2-40B4-BE49-F238E27FC236}">
                <a16:creationId xmlns:a16="http://schemas.microsoft.com/office/drawing/2014/main" id="{E3AA1973-01DC-A05B-370E-CB1272623B99}"/>
              </a:ext>
            </a:extLst>
          </p:cNvPr>
          <p:cNvPicPr>
            <a:picLocks noGrp="1" noChangeAspect="1"/>
          </p:cNvPicPr>
          <p:nvPr>
            <p:ph idx="1"/>
          </p:nvPr>
        </p:nvPicPr>
        <p:blipFill>
          <a:blip r:embed="rId2"/>
          <a:stretch>
            <a:fillRect/>
          </a:stretch>
        </p:blipFill>
        <p:spPr bwMode="auto">
          <a:xfrm>
            <a:off x="1679719" y="1675227"/>
            <a:ext cx="8832562" cy="4394199"/>
          </a:xfrm>
          <a:prstGeom prst="rect">
            <a:avLst/>
          </a:prstGeom>
        </p:spPr>
      </p:pic>
    </p:spTree>
    <p:extLst>
      <p:ext uri="{BB962C8B-B14F-4D97-AF65-F5344CB8AC3E}">
        <p14:creationId xmlns:p14="http://schemas.microsoft.com/office/powerpoint/2010/main" val="8317165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3FA8C91-8A78-F6B7-CC1C-36EBDAA42F11}"/>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Step 5: Select the Journal and Click Reverse Batch</a:t>
            </a:r>
          </a:p>
        </p:txBody>
      </p:sp>
      <p:graphicFrame>
        <p:nvGraphicFramePr>
          <p:cNvPr id="5" name="Content Placeholder 2">
            <a:extLst>
              <a:ext uri="{FF2B5EF4-FFF2-40B4-BE49-F238E27FC236}">
                <a16:creationId xmlns:a16="http://schemas.microsoft.com/office/drawing/2014/main" id="{429BC430-1892-46B9-966C-D014FC265196}"/>
              </a:ext>
            </a:extLst>
          </p:cNvPr>
          <p:cNvGraphicFramePr>
            <a:graphicFrameLocks noGrp="1"/>
          </p:cNvGraphicFramePr>
          <p:nvPr>
            <p:ph idx="1"/>
            <p:extLst>
              <p:ext uri="{D42A27DB-BD31-4B8C-83A1-F6EECF244321}">
                <p14:modId xmlns:p14="http://schemas.microsoft.com/office/powerpoint/2010/main" val="595073713"/>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137695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C9A5B4-70D9-6064-14DB-9A9590DF6A41}"/>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Step 6: Reverse Journal Batch Window</a:t>
            </a:r>
          </a:p>
        </p:txBody>
      </p:sp>
      <p:pic>
        <p:nvPicPr>
          <p:cNvPr id="4" name="Reverse Journal Batch Window" descr="Reverse Journal Batch Window" title="Reverse Journal Batch Window">
            <a:extLst>
              <a:ext uri="{FF2B5EF4-FFF2-40B4-BE49-F238E27FC236}">
                <a16:creationId xmlns:a16="http://schemas.microsoft.com/office/drawing/2014/main" id="{7BD0A73F-7FB1-A3C2-6847-E02CEEACD89B}"/>
              </a:ext>
            </a:extLst>
          </p:cNvPr>
          <p:cNvPicPr>
            <a:picLocks noGrp="1" noChangeAspect="1"/>
          </p:cNvPicPr>
          <p:nvPr>
            <p:ph idx="1"/>
          </p:nvPr>
        </p:nvPicPr>
        <p:blipFill>
          <a:blip r:embed="rId2"/>
          <a:stretch>
            <a:fillRect/>
          </a:stretch>
        </p:blipFill>
        <p:spPr bwMode="auto">
          <a:xfrm>
            <a:off x="1679719" y="1675227"/>
            <a:ext cx="8832562" cy="4394199"/>
          </a:xfrm>
          <a:prstGeom prst="rect">
            <a:avLst/>
          </a:prstGeom>
        </p:spPr>
      </p:pic>
    </p:spTree>
    <p:extLst>
      <p:ext uri="{BB962C8B-B14F-4D97-AF65-F5344CB8AC3E}">
        <p14:creationId xmlns:p14="http://schemas.microsoft.com/office/powerpoint/2010/main" val="18489059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F80F30-7985-BE82-48E5-1A94E097ADF4}"/>
              </a:ext>
            </a:extLst>
          </p:cNvPr>
          <p:cNvSpPr>
            <a:spLocks noGrp="1"/>
          </p:cNvSpPr>
          <p:nvPr>
            <p:ph type="title"/>
          </p:nvPr>
        </p:nvSpPr>
        <p:spPr>
          <a:xfrm>
            <a:off x="1043631" y="809898"/>
            <a:ext cx="10173010" cy="1554480"/>
          </a:xfrm>
        </p:spPr>
        <p:txBody>
          <a:bodyPr anchor="ctr">
            <a:normAutofit/>
          </a:bodyPr>
          <a:lstStyle/>
          <a:p>
            <a:r>
              <a:rPr lang="en-US" sz="4800"/>
              <a:t>Step 6: Reverse Journal Batch Window</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F47E1232-EC68-F7C7-6B29-D151F6A60FDA}"/>
              </a:ext>
            </a:extLst>
          </p:cNvPr>
          <p:cNvGraphicFramePr>
            <a:graphicFrameLocks noGrp="1"/>
          </p:cNvGraphicFramePr>
          <p:nvPr>
            <p:ph idx="1"/>
            <p:extLst>
              <p:ext uri="{D42A27DB-BD31-4B8C-83A1-F6EECF244321}">
                <p14:modId xmlns:p14="http://schemas.microsoft.com/office/powerpoint/2010/main" val="2586784413"/>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803914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BE2C7F-E7AA-4819-257E-B741D934F949}"/>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a:solidFill>
                  <a:srgbClr val="FFFFFF"/>
                </a:solidFill>
                <a:latin typeface="+mj-lt"/>
                <a:ea typeface="+mj-ea"/>
                <a:cs typeface="+mj-cs"/>
              </a:rPr>
              <a:t>Step 7: Choose Reversal Period and Reversal Method</a:t>
            </a:r>
          </a:p>
        </p:txBody>
      </p:sp>
      <p:pic>
        <p:nvPicPr>
          <p:cNvPr id="4" name="Choose Reversal Period and Reversal Method" descr="Choose Reversal Period and Reversal Method" title="Choose Reversal Period and Reversal Method">
            <a:extLst>
              <a:ext uri="{FF2B5EF4-FFF2-40B4-BE49-F238E27FC236}">
                <a16:creationId xmlns:a16="http://schemas.microsoft.com/office/drawing/2014/main" id="{103A47C0-0D64-7555-5B55-DA3510483FEB}"/>
              </a:ext>
            </a:extLst>
          </p:cNvPr>
          <p:cNvPicPr>
            <a:picLocks noGrp="1" noChangeAspect="1"/>
          </p:cNvPicPr>
          <p:nvPr>
            <p:ph idx="1"/>
          </p:nvPr>
        </p:nvPicPr>
        <p:blipFill>
          <a:blip r:embed="rId2"/>
          <a:stretch>
            <a:fillRect/>
          </a:stretch>
        </p:blipFill>
        <p:spPr bwMode="auto">
          <a:xfrm>
            <a:off x="1621466" y="1966293"/>
            <a:ext cx="8949066" cy="4452160"/>
          </a:xfrm>
          <a:prstGeom prst="rect">
            <a:avLst/>
          </a:prstGeom>
        </p:spPr>
      </p:pic>
    </p:spTree>
    <p:extLst>
      <p:ext uri="{BB962C8B-B14F-4D97-AF65-F5344CB8AC3E}">
        <p14:creationId xmlns:p14="http://schemas.microsoft.com/office/powerpoint/2010/main" val="13740345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D17626-6765-6963-5866-E7E6FE9B8EC4}"/>
              </a:ext>
            </a:extLst>
          </p:cNvPr>
          <p:cNvSpPr>
            <a:spLocks noGrp="1"/>
          </p:cNvSpPr>
          <p:nvPr>
            <p:ph type="title"/>
          </p:nvPr>
        </p:nvSpPr>
        <p:spPr>
          <a:xfrm>
            <a:off x="1371599" y="294538"/>
            <a:ext cx="9895951" cy="1033669"/>
          </a:xfrm>
        </p:spPr>
        <p:txBody>
          <a:bodyPr>
            <a:normAutofit/>
          </a:bodyPr>
          <a:lstStyle/>
          <a:p>
            <a:r>
              <a:rPr lang="en-US" sz="3400" b="1">
                <a:solidFill>
                  <a:srgbClr val="FFFFFF"/>
                </a:solidFill>
              </a:rPr>
              <a:t>Step 7: Choose Reversal Period and Reversal Method</a:t>
            </a:r>
            <a:endParaRPr lang="en-US" sz="3400">
              <a:solidFill>
                <a:srgbClr val="FFFFFF"/>
              </a:solidFill>
            </a:endParaRPr>
          </a:p>
        </p:txBody>
      </p:sp>
      <p:sp>
        <p:nvSpPr>
          <p:cNvPr id="3" name="Content Placeholder 2">
            <a:extLst>
              <a:ext uri="{FF2B5EF4-FFF2-40B4-BE49-F238E27FC236}">
                <a16:creationId xmlns:a16="http://schemas.microsoft.com/office/drawing/2014/main" id="{69C1F490-3AE4-6774-91CD-D784E7116177}"/>
              </a:ext>
            </a:extLst>
          </p:cNvPr>
          <p:cNvSpPr>
            <a:spLocks noGrp="1"/>
          </p:cNvSpPr>
          <p:nvPr>
            <p:ph idx="1"/>
          </p:nvPr>
        </p:nvSpPr>
        <p:spPr>
          <a:xfrm>
            <a:off x="1371599" y="2318197"/>
            <a:ext cx="9724031" cy="3683358"/>
          </a:xfrm>
        </p:spPr>
        <p:txBody>
          <a:bodyPr anchor="ctr">
            <a:normAutofit/>
          </a:bodyPr>
          <a:lstStyle/>
          <a:p>
            <a:pPr lvl="0"/>
            <a:r>
              <a:rPr lang="en-US" dirty="0"/>
              <a:t>Select the </a:t>
            </a:r>
            <a:r>
              <a:rPr lang="en-US" b="1" dirty="0"/>
              <a:t>Reversal Period</a:t>
            </a:r>
            <a:r>
              <a:rPr lang="en-US" dirty="0"/>
              <a:t> (Mar-26), the period in which the reversal journal will be created.</a:t>
            </a:r>
          </a:p>
          <a:p>
            <a:pPr lvl="0"/>
            <a:r>
              <a:rPr lang="en-US" dirty="0"/>
              <a:t>Choose the </a:t>
            </a:r>
            <a:r>
              <a:rPr lang="en-US" b="1" dirty="0"/>
              <a:t>Reversal Method</a:t>
            </a:r>
            <a:r>
              <a:rPr lang="en-US" dirty="0"/>
              <a:t>: </a:t>
            </a:r>
            <a:r>
              <a:rPr lang="en-US" b="1" dirty="0"/>
              <a:t>Change sign</a:t>
            </a:r>
            <a:r>
              <a:rPr lang="en-US" dirty="0"/>
              <a:t> reverses the amounts with opposite signs; </a:t>
            </a:r>
            <a:r>
              <a:rPr lang="en-US" b="1" dirty="0"/>
              <a:t>Switch DR or CR</a:t>
            </a:r>
            <a:r>
              <a:rPr lang="en-US" dirty="0"/>
              <a:t> swaps the debit and credit sides.</a:t>
            </a:r>
          </a:p>
          <a:p>
            <a:pPr lvl="0"/>
            <a:r>
              <a:rPr lang="en-US" dirty="0"/>
              <a:t>Click </a:t>
            </a:r>
            <a:r>
              <a:rPr lang="en-US" b="1" dirty="0"/>
              <a:t>OK</a:t>
            </a:r>
            <a:r>
              <a:rPr lang="en-US" dirty="0"/>
              <a:t> to submit the reversal.</a:t>
            </a:r>
          </a:p>
          <a:p>
            <a:endParaRPr lang="en-US" sz="2000" dirty="0"/>
          </a:p>
        </p:txBody>
      </p:sp>
    </p:spTree>
    <p:extLst>
      <p:ext uri="{BB962C8B-B14F-4D97-AF65-F5344CB8AC3E}">
        <p14:creationId xmlns:p14="http://schemas.microsoft.com/office/powerpoint/2010/main" val="40257057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C25778E-0D17-F0D5-13E6-6088D0114A3A}"/>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a:solidFill>
                  <a:schemeClr val="tx1"/>
                </a:solidFill>
                <a:latin typeface="+mj-lt"/>
                <a:ea typeface="+mj-ea"/>
                <a:cs typeface="+mj-cs"/>
              </a:rPr>
              <a:t>Step 8: Confirmation: Reversal Process Submitted</a:t>
            </a:r>
          </a:p>
        </p:txBody>
      </p:sp>
      <p:pic>
        <p:nvPicPr>
          <p:cNvPr id="4" name="Confirmation: Reversal Process Submitted" descr="Confirmation: Reversal Process Submitted" title="Confirmation: Reversal Process Submitted">
            <a:extLst>
              <a:ext uri="{FF2B5EF4-FFF2-40B4-BE49-F238E27FC236}">
                <a16:creationId xmlns:a16="http://schemas.microsoft.com/office/drawing/2014/main" id="{FBD64573-9D98-6103-9FA2-75CDE2239B91}"/>
              </a:ext>
            </a:extLst>
          </p:cNvPr>
          <p:cNvPicPr>
            <a:picLocks noGrp="1" noChangeAspect="1"/>
          </p:cNvPicPr>
          <p:nvPr>
            <p:ph idx="1"/>
          </p:nvPr>
        </p:nvPicPr>
        <p:blipFill>
          <a:blip r:embed="rId2"/>
          <a:stretch>
            <a:fillRect/>
          </a:stretch>
        </p:blipFill>
        <p:spPr bwMode="auto">
          <a:xfrm>
            <a:off x="2128074" y="2083507"/>
            <a:ext cx="8480037" cy="4218818"/>
          </a:xfrm>
          <a:prstGeom prst="rect">
            <a:avLst/>
          </a:prstGeom>
        </p:spPr>
      </p:pic>
    </p:spTree>
    <p:extLst>
      <p:ext uri="{BB962C8B-B14F-4D97-AF65-F5344CB8AC3E}">
        <p14:creationId xmlns:p14="http://schemas.microsoft.com/office/powerpoint/2010/main" val="7954465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E78565-2655-416A-A55A-E0DEF4CAB55E}"/>
              </a:ext>
            </a:extLst>
          </p:cNvPr>
          <p:cNvSpPr>
            <a:spLocks noGrp="1"/>
          </p:cNvSpPr>
          <p:nvPr>
            <p:ph type="title"/>
          </p:nvPr>
        </p:nvSpPr>
        <p:spPr>
          <a:xfrm>
            <a:off x="1043631" y="809898"/>
            <a:ext cx="10173010" cy="1554480"/>
          </a:xfrm>
        </p:spPr>
        <p:txBody>
          <a:bodyPr anchor="ctr">
            <a:normAutofit/>
          </a:bodyPr>
          <a:lstStyle/>
          <a:p>
            <a:r>
              <a:rPr lang="en-US" sz="4800"/>
              <a:t>Step 8: Confirmation: Reversal Process Submitted</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1292CFC8-5359-20B0-A6B7-B41A858B7A15}"/>
              </a:ext>
            </a:extLst>
          </p:cNvPr>
          <p:cNvGraphicFramePr>
            <a:graphicFrameLocks noGrp="1"/>
          </p:cNvGraphicFramePr>
          <p:nvPr>
            <p:ph idx="1"/>
            <p:extLst>
              <p:ext uri="{D42A27DB-BD31-4B8C-83A1-F6EECF244321}">
                <p14:modId xmlns:p14="http://schemas.microsoft.com/office/powerpoint/2010/main" val="279423445"/>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1696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06DA5E-FF7C-6AC7-9B4B-A504F2E07C88}"/>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Step 9: Reversal Journal Created in the Next Period</a:t>
            </a:r>
          </a:p>
        </p:txBody>
      </p:sp>
      <p:pic>
        <p:nvPicPr>
          <p:cNvPr id="4" name="Reversal Journal Created in the Next Period" descr="Reversal Journal Created in the Next Period" title="Reversal Journal Created in the Next Period">
            <a:extLst>
              <a:ext uri="{FF2B5EF4-FFF2-40B4-BE49-F238E27FC236}">
                <a16:creationId xmlns:a16="http://schemas.microsoft.com/office/drawing/2014/main" id="{EBF3AD4E-1C4F-29C2-D4B7-C09C232B959D}"/>
              </a:ext>
            </a:extLst>
          </p:cNvPr>
          <p:cNvPicPr>
            <a:picLocks noGrp="1" noChangeAspect="1"/>
          </p:cNvPicPr>
          <p:nvPr>
            <p:ph idx="1"/>
          </p:nvPr>
        </p:nvPicPr>
        <p:blipFill>
          <a:blip r:embed="rId2"/>
          <a:stretch>
            <a:fillRect/>
          </a:stretch>
        </p:blipFill>
        <p:spPr bwMode="auto">
          <a:xfrm>
            <a:off x="2508898" y="1675227"/>
            <a:ext cx="7174203" cy="4394199"/>
          </a:xfrm>
          <a:prstGeom prst="rect">
            <a:avLst/>
          </a:prstGeom>
        </p:spPr>
      </p:pic>
    </p:spTree>
    <p:extLst>
      <p:ext uri="{BB962C8B-B14F-4D97-AF65-F5344CB8AC3E}">
        <p14:creationId xmlns:p14="http://schemas.microsoft.com/office/powerpoint/2010/main" val="10467676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3E068D-0F43-438F-0317-6E04B824200B}"/>
              </a:ext>
            </a:extLst>
          </p:cNvPr>
          <p:cNvSpPr>
            <a:spLocks noGrp="1"/>
          </p:cNvSpPr>
          <p:nvPr>
            <p:ph type="title"/>
          </p:nvPr>
        </p:nvSpPr>
        <p:spPr>
          <a:xfrm>
            <a:off x="1043631" y="809898"/>
            <a:ext cx="10173010" cy="1554480"/>
          </a:xfrm>
        </p:spPr>
        <p:txBody>
          <a:bodyPr anchor="ctr">
            <a:normAutofit/>
          </a:bodyPr>
          <a:lstStyle/>
          <a:p>
            <a:r>
              <a:rPr lang="en-US" sz="4800"/>
              <a:t>Step 9: Reversal Journal Created in the Next Period</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6BDB2E04-EB70-9156-6EF7-C8EF3ADD2BF3}"/>
              </a:ext>
            </a:extLst>
          </p:cNvPr>
          <p:cNvGraphicFramePr>
            <a:graphicFrameLocks noGrp="1"/>
          </p:cNvGraphicFramePr>
          <p:nvPr>
            <p:ph idx="1"/>
            <p:extLst>
              <p:ext uri="{D42A27DB-BD31-4B8C-83A1-F6EECF244321}">
                <p14:modId xmlns:p14="http://schemas.microsoft.com/office/powerpoint/2010/main" val="3852244899"/>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631398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1C128C-2BD4-BCCD-C83E-80E1B7FDF69A}"/>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rPr>
              <a:t>Part 5: Intercompany</a:t>
            </a:r>
            <a:endParaRPr lang="en-US" sz="4000">
              <a:solidFill>
                <a:srgbClr val="FFFFFF"/>
              </a:solidFill>
            </a:endParaRPr>
          </a:p>
        </p:txBody>
      </p:sp>
      <p:sp>
        <p:nvSpPr>
          <p:cNvPr id="3" name="Content Placeholder 2">
            <a:extLst>
              <a:ext uri="{FF2B5EF4-FFF2-40B4-BE49-F238E27FC236}">
                <a16:creationId xmlns:a16="http://schemas.microsoft.com/office/drawing/2014/main" id="{D585B9F0-CB32-963B-6106-73890AA65325}"/>
              </a:ext>
            </a:extLst>
          </p:cNvPr>
          <p:cNvSpPr>
            <a:spLocks noGrp="1"/>
          </p:cNvSpPr>
          <p:nvPr>
            <p:ph idx="1"/>
          </p:nvPr>
        </p:nvSpPr>
        <p:spPr>
          <a:xfrm>
            <a:off x="4810259" y="649480"/>
            <a:ext cx="6555347" cy="5546047"/>
          </a:xfrm>
        </p:spPr>
        <p:txBody>
          <a:bodyPr anchor="ctr">
            <a:normAutofit/>
          </a:bodyPr>
          <a:lstStyle/>
          <a:p>
            <a:pPr marL="0" indent="0">
              <a:buNone/>
            </a:pPr>
            <a:r>
              <a:rPr lang="en-US" sz="2000" b="1" i="1"/>
              <a:t>Overview</a:t>
            </a:r>
            <a:endParaRPr lang="en-US" sz="2000"/>
          </a:p>
          <a:p>
            <a:pPr lvl="0"/>
            <a:r>
              <a:rPr lang="en-US" sz="2000"/>
              <a:t>Intercompany balancing automatically generates receivable and payable lines when a journal is out of balance by balancing segment.</a:t>
            </a:r>
          </a:p>
          <a:p>
            <a:pPr lvl="0"/>
            <a:r>
              <a:rPr lang="en-US" sz="2000"/>
              <a:t>Balancing rules are evaluated by level: </a:t>
            </a:r>
            <a:r>
              <a:rPr lang="en-US" sz="2000" b="1"/>
              <a:t>Primary Segment</a:t>
            </a:r>
            <a:r>
              <a:rPr lang="en-US" sz="2000"/>
              <a:t>, </a:t>
            </a:r>
            <a:r>
              <a:rPr lang="en-US" sz="2000" b="1"/>
              <a:t>Legal Entity</a:t>
            </a:r>
            <a:r>
              <a:rPr lang="en-US" sz="2000"/>
              <a:t>, </a:t>
            </a:r>
            <a:r>
              <a:rPr lang="en-US" sz="2000" b="1"/>
              <a:t>Ledger</a:t>
            </a:r>
            <a:r>
              <a:rPr lang="en-US" sz="2000"/>
              <a:t> and </a:t>
            </a:r>
            <a:r>
              <a:rPr lang="en-US" sz="2000" b="1"/>
              <a:t>Chart of Accounts</a:t>
            </a:r>
            <a:r>
              <a:rPr lang="en-US" sz="2000"/>
              <a:t>.</a:t>
            </a:r>
          </a:p>
          <a:p>
            <a:r>
              <a:rPr lang="en-US" sz="2000"/>
              <a:t>Additional options control how generated lines are summarized and which clearing company is used.</a:t>
            </a:r>
          </a:p>
        </p:txBody>
      </p:sp>
    </p:spTree>
    <p:extLst>
      <p:ext uri="{BB962C8B-B14F-4D97-AF65-F5344CB8AC3E}">
        <p14:creationId xmlns:p14="http://schemas.microsoft.com/office/powerpoint/2010/main" val="23822352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D97FBF-27D7-07AE-E024-CCA1F2F2C9E8}"/>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Step 1: Setup and Maintenance</a:t>
            </a:r>
          </a:p>
        </p:txBody>
      </p:sp>
      <p:pic>
        <p:nvPicPr>
          <p:cNvPr id="4" name="Setup and Maintenance" descr="Setup and Maintenance" title="Setup and Maintenance">
            <a:extLst>
              <a:ext uri="{FF2B5EF4-FFF2-40B4-BE49-F238E27FC236}">
                <a16:creationId xmlns:a16="http://schemas.microsoft.com/office/drawing/2014/main" id="{451DA96E-BFFE-785D-D63B-31C808A34EFF}"/>
              </a:ext>
            </a:extLst>
          </p:cNvPr>
          <p:cNvPicPr>
            <a:picLocks noGrp="1" noChangeAspect="1"/>
          </p:cNvPicPr>
          <p:nvPr>
            <p:ph idx="1"/>
          </p:nvPr>
        </p:nvPicPr>
        <p:blipFill>
          <a:blip r:embed="rId2"/>
          <a:stretch>
            <a:fillRect/>
          </a:stretch>
        </p:blipFill>
        <p:spPr bwMode="auto">
          <a:xfrm>
            <a:off x="1679719" y="1675227"/>
            <a:ext cx="8832562" cy="4394199"/>
          </a:xfrm>
          <a:prstGeom prst="rect">
            <a:avLst/>
          </a:prstGeom>
        </p:spPr>
      </p:pic>
    </p:spTree>
    <p:extLst>
      <p:ext uri="{BB962C8B-B14F-4D97-AF65-F5344CB8AC3E}">
        <p14:creationId xmlns:p14="http://schemas.microsoft.com/office/powerpoint/2010/main" val="38560286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C7B7FD-74E2-D70C-4EEC-5C94E6133194}"/>
              </a:ext>
            </a:extLst>
          </p:cNvPr>
          <p:cNvSpPr>
            <a:spLocks noGrp="1"/>
          </p:cNvSpPr>
          <p:nvPr>
            <p:ph type="title"/>
          </p:nvPr>
        </p:nvSpPr>
        <p:spPr>
          <a:xfrm>
            <a:off x="1043631" y="809898"/>
            <a:ext cx="10173010" cy="1554480"/>
          </a:xfrm>
        </p:spPr>
        <p:txBody>
          <a:bodyPr anchor="ctr">
            <a:normAutofit/>
          </a:bodyPr>
          <a:lstStyle/>
          <a:p>
            <a:r>
              <a:rPr lang="en-US" sz="4800"/>
              <a:t>Step 1: Setup and Maintenance</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DB50AF71-4FB5-21BC-AD03-9D98B67BC4D7}"/>
              </a:ext>
            </a:extLst>
          </p:cNvPr>
          <p:cNvGraphicFramePr>
            <a:graphicFrameLocks noGrp="1"/>
          </p:cNvGraphicFramePr>
          <p:nvPr>
            <p:ph idx="1"/>
            <p:extLst>
              <p:ext uri="{D42A27DB-BD31-4B8C-83A1-F6EECF244321}">
                <p14:modId xmlns:p14="http://schemas.microsoft.com/office/powerpoint/2010/main" val="2641248193"/>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27357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244D64-54F5-3F2C-000E-8288AD379456}"/>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Step 2: Intercompany: Manage Intercompany Balancing Rules</a:t>
            </a:r>
          </a:p>
        </p:txBody>
      </p:sp>
      <p:pic>
        <p:nvPicPr>
          <p:cNvPr id="4" name="Intercompany: Manage Intercompany Balancing Rules" descr="Intercompany: Manage Intercompany Balancing Rules" title="Intercompany: Manage Intercompany Balancing Rules">
            <a:extLst>
              <a:ext uri="{FF2B5EF4-FFF2-40B4-BE49-F238E27FC236}">
                <a16:creationId xmlns:a16="http://schemas.microsoft.com/office/drawing/2014/main" id="{520B7CF4-B4CB-8B6B-5F9A-E5E658FF5993}"/>
              </a:ext>
            </a:extLst>
          </p:cNvPr>
          <p:cNvPicPr>
            <a:picLocks noGrp="1" noChangeAspect="1"/>
          </p:cNvPicPr>
          <p:nvPr>
            <p:ph idx="1"/>
          </p:nvPr>
        </p:nvPicPr>
        <p:blipFill>
          <a:blip r:embed="rId2"/>
          <a:stretch>
            <a:fillRect/>
          </a:stretch>
        </p:blipFill>
        <p:spPr bwMode="auto">
          <a:xfrm>
            <a:off x="1679719" y="1675227"/>
            <a:ext cx="8832562" cy="4394199"/>
          </a:xfrm>
          <a:prstGeom prst="rect">
            <a:avLst/>
          </a:prstGeom>
        </p:spPr>
      </p:pic>
    </p:spTree>
    <p:extLst>
      <p:ext uri="{BB962C8B-B14F-4D97-AF65-F5344CB8AC3E}">
        <p14:creationId xmlns:p14="http://schemas.microsoft.com/office/powerpoint/2010/main" val="15465665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A5AC48A-74B0-B188-19E9-6E3031E95C86}"/>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Step 2: Intercompany: Manage Intercompany Balancing Rules</a:t>
            </a:r>
          </a:p>
        </p:txBody>
      </p:sp>
      <p:graphicFrame>
        <p:nvGraphicFramePr>
          <p:cNvPr id="5" name="Content Placeholder 2">
            <a:extLst>
              <a:ext uri="{FF2B5EF4-FFF2-40B4-BE49-F238E27FC236}">
                <a16:creationId xmlns:a16="http://schemas.microsoft.com/office/drawing/2014/main" id="{5BF9587F-0C99-E6BE-2107-C921FB18365D}"/>
              </a:ext>
            </a:extLst>
          </p:cNvPr>
          <p:cNvGraphicFramePr>
            <a:graphicFrameLocks noGrp="1"/>
          </p:cNvGraphicFramePr>
          <p:nvPr>
            <p:ph idx="1"/>
            <p:extLst>
              <p:ext uri="{D42A27DB-BD31-4B8C-83A1-F6EECF244321}">
                <p14:modId xmlns:p14="http://schemas.microsoft.com/office/powerpoint/2010/main" val="146251268"/>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669954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043244-F5CD-A73C-0146-9C7125513265}"/>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000" kern="1200">
                <a:solidFill>
                  <a:schemeClr val="bg1"/>
                </a:solidFill>
                <a:latin typeface="+mj-lt"/>
                <a:ea typeface="+mj-ea"/>
                <a:cs typeface="+mj-cs"/>
              </a:rPr>
              <a:t>Step 3: Manage Intercompany Balancing Rules: Primary Segment Rules</a:t>
            </a:r>
          </a:p>
        </p:txBody>
      </p:sp>
      <p:pic>
        <p:nvPicPr>
          <p:cNvPr id="4" name="Manage Intercompany Balancing Rules: Primary Segment Rules" descr="Manage Intercompany Balancing Rules: Primary Segment Rules" title="Manage Intercompany Balancing Rules: Primary Segment Rules">
            <a:extLst>
              <a:ext uri="{FF2B5EF4-FFF2-40B4-BE49-F238E27FC236}">
                <a16:creationId xmlns:a16="http://schemas.microsoft.com/office/drawing/2014/main" id="{6A3DCAE4-D441-1E69-45E9-2AF46318F248}"/>
              </a:ext>
            </a:extLst>
          </p:cNvPr>
          <p:cNvPicPr>
            <a:picLocks noGrp="1" noChangeAspect="1"/>
          </p:cNvPicPr>
          <p:nvPr>
            <p:ph idx="1"/>
          </p:nvPr>
        </p:nvPicPr>
        <p:blipFill>
          <a:blip r:embed="rId2"/>
          <a:stretch>
            <a:fillRect/>
          </a:stretch>
        </p:blipFill>
        <p:spPr bwMode="auto">
          <a:xfrm>
            <a:off x="1679719" y="1675227"/>
            <a:ext cx="8832562" cy="4394199"/>
          </a:xfrm>
          <a:prstGeom prst="rect">
            <a:avLst/>
          </a:prstGeom>
        </p:spPr>
      </p:pic>
    </p:spTree>
    <p:extLst>
      <p:ext uri="{BB962C8B-B14F-4D97-AF65-F5344CB8AC3E}">
        <p14:creationId xmlns:p14="http://schemas.microsoft.com/office/powerpoint/2010/main" val="7456414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DC98A0-E7EF-316D-6D24-09D92923F99E}"/>
              </a:ext>
            </a:extLst>
          </p:cNvPr>
          <p:cNvSpPr>
            <a:spLocks noGrp="1"/>
          </p:cNvSpPr>
          <p:nvPr>
            <p:ph type="title"/>
          </p:nvPr>
        </p:nvSpPr>
        <p:spPr>
          <a:xfrm>
            <a:off x="1156851" y="637762"/>
            <a:ext cx="9888496" cy="900131"/>
          </a:xfrm>
        </p:spPr>
        <p:txBody>
          <a:bodyPr>
            <a:normAutofit/>
          </a:bodyPr>
          <a:lstStyle/>
          <a:p>
            <a:r>
              <a:rPr lang="en-US" sz="2800">
                <a:solidFill>
                  <a:schemeClr val="bg1"/>
                </a:solidFill>
              </a:rPr>
              <a:t>Step 3: Manage Intercompany Balancing Rules: Primary Segment Rules</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25BBD98-CFA2-0D80-4A9A-9B87760BEDEB}"/>
              </a:ext>
            </a:extLst>
          </p:cNvPr>
          <p:cNvSpPr>
            <a:spLocks noGrp="1"/>
          </p:cNvSpPr>
          <p:nvPr>
            <p:ph idx="1"/>
          </p:nvPr>
        </p:nvSpPr>
        <p:spPr>
          <a:xfrm>
            <a:off x="1155548" y="2217343"/>
            <a:ext cx="9880893" cy="3959619"/>
          </a:xfrm>
        </p:spPr>
        <p:txBody>
          <a:bodyPr>
            <a:normAutofit/>
          </a:bodyPr>
          <a:lstStyle/>
          <a:p>
            <a:r>
              <a:rPr lang="en-US" sz="2400"/>
              <a:t>The search region filters by Chart of Accounts, From Ledger (required), From Legal Entity and From Primary Segment Value.</a:t>
            </a:r>
          </a:p>
          <a:p>
            <a:r>
              <a:rPr lang="en-US" sz="2400"/>
              <a:t>The results are grouped in tabs: Primary Segment Rules, Legal Entity Rules, Ledger Rules and Chart of Accounts Rules.</a:t>
            </a:r>
          </a:p>
          <a:p>
            <a:r>
              <a:rPr lang="en-US" sz="2400"/>
              <a:t>Use View Reciprocal Accounts to review the receivables and payables accounts, and Add (+) to create a rule.</a:t>
            </a:r>
          </a:p>
          <a:p>
            <a:endParaRPr lang="en-US" sz="2400"/>
          </a:p>
        </p:txBody>
      </p:sp>
    </p:spTree>
    <p:extLst>
      <p:ext uri="{BB962C8B-B14F-4D97-AF65-F5344CB8AC3E}">
        <p14:creationId xmlns:p14="http://schemas.microsoft.com/office/powerpoint/2010/main" val="9472892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C6BA5B-7AC3-A485-ED96-4843A0C737E9}"/>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Step 4: Create Primary Segment Balancing Rules</a:t>
            </a:r>
          </a:p>
        </p:txBody>
      </p:sp>
      <p:pic>
        <p:nvPicPr>
          <p:cNvPr id="4" name="Create Primary Segment Balancing Rules" descr="Create Primary Segment Balancing Rules" title="Create Primary Segment Balancing Rules">
            <a:extLst>
              <a:ext uri="{FF2B5EF4-FFF2-40B4-BE49-F238E27FC236}">
                <a16:creationId xmlns:a16="http://schemas.microsoft.com/office/drawing/2014/main" id="{06B6F3E7-F107-5A18-1C2E-37AFDD4A6196}"/>
              </a:ext>
            </a:extLst>
          </p:cNvPr>
          <p:cNvPicPr>
            <a:picLocks noGrp="1" noChangeAspect="1"/>
          </p:cNvPicPr>
          <p:nvPr>
            <p:ph idx="1"/>
          </p:nvPr>
        </p:nvPicPr>
        <p:blipFill>
          <a:blip r:embed="rId2"/>
          <a:stretch>
            <a:fillRect/>
          </a:stretch>
        </p:blipFill>
        <p:spPr bwMode="auto">
          <a:xfrm>
            <a:off x="643467" y="2972658"/>
            <a:ext cx="10905066" cy="1799337"/>
          </a:xfrm>
          <a:prstGeom prst="rect">
            <a:avLst/>
          </a:prstGeom>
        </p:spPr>
      </p:pic>
    </p:spTree>
    <p:extLst>
      <p:ext uri="{BB962C8B-B14F-4D97-AF65-F5344CB8AC3E}">
        <p14:creationId xmlns:p14="http://schemas.microsoft.com/office/powerpoint/2010/main" val="24222260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432DE5-D86B-FCA4-D369-601C40464C8B}"/>
              </a:ext>
            </a:extLst>
          </p:cNvPr>
          <p:cNvSpPr>
            <a:spLocks noGrp="1"/>
          </p:cNvSpPr>
          <p:nvPr>
            <p:ph type="title"/>
          </p:nvPr>
        </p:nvSpPr>
        <p:spPr>
          <a:xfrm>
            <a:off x="1156851" y="637762"/>
            <a:ext cx="9888496" cy="900131"/>
          </a:xfrm>
        </p:spPr>
        <p:txBody>
          <a:bodyPr>
            <a:normAutofit/>
          </a:bodyPr>
          <a:lstStyle/>
          <a:p>
            <a:r>
              <a:rPr lang="en-US" sz="3700">
                <a:solidFill>
                  <a:schemeClr val="bg1"/>
                </a:solidFill>
              </a:rPr>
              <a:t>Step 4: Create Primary Segment Balancing Rules</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727C99-5E35-F5F7-5202-2ECAB646CB50}"/>
              </a:ext>
            </a:extLst>
          </p:cNvPr>
          <p:cNvSpPr>
            <a:spLocks noGrp="1"/>
          </p:cNvSpPr>
          <p:nvPr>
            <p:ph idx="1"/>
          </p:nvPr>
        </p:nvSpPr>
        <p:spPr>
          <a:xfrm>
            <a:off x="1155548" y="2217343"/>
            <a:ext cx="9880893" cy="3959619"/>
          </a:xfrm>
        </p:spPr>
        <p:txBody>
          <a:bodyPr>
            <a:normAutofit/>
          </a:bodyPr>
          <a:lstStyle/>
          <a:p>
            <a:r>
              <a:rPr lang="en-US" sz="2400"/>
              <a:t>Set Source and Category to Other, Transaction Type to None, and From/To Ledger to NSS Primary Ledger EG.</a:t>
            </a:r>
          </a:p>
          <a:p>
            <a:r>
              <a:rPr lang="en-US" sz="2400"/>
              <a:t>Set From/To Legal Entity to NSS Egypt LE.</a:t>
            </a:r>
          </a:p>
          <a:p>
            <a:r>
              <a:rPr lang="en-US" sz="2400"/>
              <a:t>Define the first rule: From Primary Segment Value 10 to To Primary Segment Value 20, with the Receivables Account 10-100-13011-10-1000 and Payables Account 20-200-21081-20-1001.</a:t>
            </a:r>
          </a:p>
          <a:p>
            <a:r>
              <a:rPr lang="en-US" sz="2400"/>
              <a:t>Define the reciprocal rule from 20 to 10 with the receivables and payables accounts swapped.</a:t>
            </a:r>
          </a:p>
          <a:p>
            <a:endParaRPr lang="en-US" sz="2400"/>
          </a:p>
        </p:txBody>
      </p:sp>
    </p:spTree>
    <p:extLst>
      <p:ext uri="{BB962C8B-B14F-4D97-AF65-F5344CB8AC3E}">
        <p14:creationId xmlns:p14="http://schemas.microsoft.com/office/powerpoint/2010/main" val="103701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AD1C3C-CD9C-C149-D54A-5CA8AC0E33B1}"/>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Step 5: Balancing Rules Created</a:t>
            </a:r>
          </a:p>
        </p:txBody>
      </p:sp>
      <p:pic>
        <p:nvPicPr>
          <p:cNvPr id="4" name="Balancing Rules Created" descr="Balancing Rules Created" title="Balancing Rules Created">
            <a:extLst>
              <a:ext uri="{FF2B5EF4-FFF2-40B4-BE49-F238E27FC236}">
                <a16:creationId xmlns:a16="http://schemas.microsoft.com/office/drawing/2014/main" id="{9C5C09C7-1325-D44E-00EE-F01FE60B1EA8}"/>
              </a:ext>
            </a:extLst>
          </p:cNvPr>
          <p:cNvPicPr>
            <a:picLocks noGrp="1" noChangeAspect="1"/>
          </p:cNvPicPr>
          <p:nvPr>
            <p:ph idx="1"/>
          </p:nvPr>
        </p:nvPicPr>
        <p:blipFill>
          <a:blip r:embed="rId2"/>
          <a:stretch>
            <a:fillRect/>
          </a:stretch>
        </p:blipFill>
        <p:spPr bwMode="auto">
          <a:xfrm>
            <a:off x="1621466" y="1966293"/>
            <a:ext cx="8949066" cy="4452160"/>
          </a:xfrm>
          <a:prstGeom prst="rect">
            <a:avLst/>
          </a:prstGeom>
        </p:spPr>
      </p:pic>
    </p:spTree>
    <p:extLst>
      <p:ext uri="{BB962C8B-B14F-4D97-AF65-F5344CB8AC3E}">
        <p14:creationId xmlns:p14="http://schemas.microsoft.com/office/powerpoint/2010/main" val="31123244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C51AFC3-AB8E-ED1E-11B5-0D55F585E99B}"/>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Step 5: Balancing Rules Created</a:t>
            </a:r>
          </a:p>
        </p:txBody>
      </p:sp>
      <p:graphicFrame>
        <p:nvGraphicFramePr>
          <p:cNvPr id="5" name="Content Placeholder 2">
            <a:extLst>
              <a:ext uri="{FF2B5EF4-FFF2-40B4-BE49-F238E27FC236}">
                <a16:creationId xmlns:a16="http://schemas.microsoft.com/office/drawing/2014/main" id="{05B6969A-BAA9-4F43-FD63-A5C13E58F340}"/>
              </a:ext>
            </a:extLst>
          </p:cNvPr>
          <p:cNvGraphicFramePr>
            <a:graphicFrameLocks noGrp="1"/>
          </p:cNvGraphicFramePr>
          <p:nvPr>
            <p:ph idx="1"/>
            <p:extLst>
              <p:ext uri="{D42A27DB-BD31-4B8C-83A1-F6EECF244321}">
                <p14:modId xmlns:p14="http://schemas.microsoft.com/office/powerpoint/2010/main" val="58904234"/>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977685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66F8A6B-5905-CE93-DD41-333207CBEADF}"/>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700" kern="1200">
                <a:solidFill>
                  <a:srgbClr val="FFFFFF"/>
                </a:solidFill>
                <a:latin typeface="+mj-lt"/>
                <a:ea typeface="+mj-ea"/>
                <a:cs typeface="+mj-cs"/>
              </a:rPr>
              <a:t>Step 6: Create an Intercompany Journal</a:t>
            </a:r>
          </a:p>
        </p:txBody>
      </p:sp>
      <p:pic>
        <p:nvPicPr>
          <p:cNvPr id="4" name="Create an Intercompany Journal" descr="Create an Intercompany Journal" title="Create an Intercompany Journal">
            <a:extLst>
              <a:ext uri="{FF2B5EF4-FFF2-40B4-BE49-F238E27FC236}">
                <a16:creationId xmlns:a16="http://schemas.microsoft.com/office/drawing/2014/main" id="{A2437845-CBB9-E5FB-775A-C7AA3201E00B}"/>
              </a:ext>
            </a:extLst>
          </p:cNvPr>
          <p:cNvPicPr>
            <a:picLocks noGrp="1" noChangeAspect="1"/>
          </p:cNvPicPr>
          <p:nvPr>
            <p:ph idx="1"/>
          </p:nvPr>
        </p:nvPicPr>
        <p:blipFill>
          <a:blip r:embed="rId2"/>
          <a:stretch>
            <a:fillRect/>
          </a:stretch>
        </p:blipFill>
        <p:spPr bwMode="auto">
          <a:xfrm>
            <a:off x="4502428" y="592895"/>
            <a:ext cx="7225748" cy="5672209"/>
          </a:xfrm>
          <a:prstGeom prst="rect">
            <a:avLst/>
          </a:prstGeom>
        </p:spPr>
      </p:pic>
    </p:spTree>
    <p:extLst>
      <p:ext uri="{BB962C8B-B14F-4D97-AF65-F5344CB8AC3E}">
        <p14:creationId xmlns:p14="http://schemas.microsoft.com/office/powerpoint/2010/main" val="28742190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4DD751-41F1-7353-0EF4-EAE38C16906C}"/>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Step 6: Create an Intercompany Journal</a:t>
            </a:r>
          </a:p>
        </p:txBody>
      </p:sp>
      <p:sp>
        <p:nvSpPr>
          <p:cNvPr id="3" name="Content Placeholder 2">
            <a:extLst>
              <a:ext uri="{FF2B5EF4-FFF2-40B4-BE49-F238E27FC236}">
                <a16:creationId xmlns:a16="http://schemas.microsoft.com/office/drawing/2014/main" id="{1E9B637D-126E-A993-E4FC-7B239E092ED3}"/>
              </a:ext>
            </a:extLst>
          </p:cNvPr>
          <p:cNvSpPr>
            <a:spLocks noGrp="1"/>
          </p:cNvSpPr>
          <p:nvPr>
            <p:ph idx="1"/>
          </p:nvPr>
        </p:nvSpPr>
        <p:spPr>
          <a:xfrm>
            <a:off x="4810259" y="649480"/>
            <a:ext cx="6555347" cy="5546047"/>
          </a:xfrm>
        </p:spPr>
        <p:txBody>
          <a:bodyPr anchor="ctr">
            <a:normAutofit/>
          </a:bodyPr>
          <a:lstStyle/>
          <a:p>
            <a:r>
              <a:rPr lang="en-US" sz="2400" dirty="0"/>
              <a:t>Create the batch (</a:t>
            </a:r>
            <a:r>
              <a:rPr lang="en-US" sz="2400" dirty="0" err="1"/>
              <a:t>Intercompany_Batch</a:t>
            </a:r>
            <a:r>
              <a:rPr lang="en-US" sz="2400" dirty="0"/>
              <a:t> 1, Accounting Period Apr-26) and the journal (</a:t>
            </a:r>
            <a:r>
              <a:rPr lang="en-US" sz="2400" dirty="0" err="1"/>
              <a:t>Intercompany_Journal</a:t>
            </a:r>
            <a:r>
              <a:rPr lang="en-US" sz="2400" dirty="0"/>
              <a:t> 1, Accounting Date 4/30/2026).</a:t>
            </a:r>
          </a:p>
          <a:p>
            <a:r>
              <a:rPr lang="en-US" sz="2400" dirty="0"/>
              <a:t>Line 1 debits account 10-100-00000-10-1001 by 70,000.00 (balancing segment 10).</a:t>
            </a:r>
          </a:p>
          <a:p>
            <a:r>
              <a:rPr lang="en-US" sz="2400" dirty="0"/>
              <a:t>Line 2 credits account 20-200-00000-20-1001 by 70,000.00 (balancing segment 20).</a:t>
            </a:r>
          </a:p>
          <a:p>
            <a:r>
              <a:rPr lang="en-US" sz="2400" dirty="0"/>
              <a:t>The journal balances in total but not by balancing segment, so intercompany balancing is triggered at posting.</a:t>
            </a:r>
          </a:p>
          <a:p>
            <a:endParaRPr lang="en-US" sz="2000" dirty="0"/>
          </a:p>
        </p:txBody>
      </p:sp>
    </p:spTree>
    <p:extLst>
      <p:ext uri="{BB962C8B-B14F-4D97-AF65-F5344CB8AC3E}">
        <p14:creationId xmlns:p14="http://schemas.microsoft.com/office/powerpoint/2010/main" val="21389681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727EAF-EFB3-056F-C1A6-78A0BD11872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Step 7: Post the Journal: Confirmation Message</a:t>
            </a:r>
          </a:p>
        </p:txBody>
      </p:sp>
      <p:pic>
        <p:nvPicPr>
          <p:cNvPr id="4" name="Post the Journal: Confirmation Message" descr="Post the Journal: Confirmation Message" title="Post the Journal: Confirmation Message">
            <a:extLst>
              <a:ext uri="{FF2B5EF4-FFF2-40B4-BE49-F238E27FC236}">
                <a16:creationId xmlns:a16="http://schemas.microsoft.com/office/drawing/2014/main" id="{E0D4B8C8-9151-27E6-694E-4E71B1BB9217}"/>
              </a:ext>
            </a:extLst>
          </p:cNvPr>
          <p:cNvPicPr>
            <a:picLocks noGrp="1" noChangeAspect="1"/>
          </p:cNvPicPr>
          <p:nvPr>
            <p:ph idx="1"/>
          </p:nvPr>
        </p:nvPicPr>
        <p:blipFill>
          <a:blip r:embed="rId2"/>
          <a:stretch>
            <a:fillRect/>
          </a:stretch>
        </p:blipFill>
        <p:spPr bwMode="auto">
          <a:xfrm>
            <a:off x="1679719" y="1675227"/>
            <a:ext cx="8832562" cy="4394199"/>
          </a:xfrm>
          <a:prstGeom prst="rect">
            <a:avLst/>
          </a:prstGeom>
        </p:spPr>
      </p:pic>
    </p:spTree>
    <p:extLst>
      <p:ext uri="{BB962C8B-B14F-4D97-AF65-F5344CB8AC3E}">
        <p14:creationId xmlns:p14="http://schemas.microsoft.com/office/powerpoint/2010/main" val="19117344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20CBCA8-3268-E7BF-A182-AC08DE531479}"/>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Step 7: Post the Journal: Confirmation Message</a:t>
            </a:r>
          </a:p>
        </p:txBody>
      </p:sp>
      <p:graphicFrame>
        <p:nvGraphicFramePr>
          <p:cNvPr id="5" name="Content Placeholder 2">
            <a:extLst>
              <a:ext uri="{FF2B5EF4-FFF2-40B4-BE49-F238E27FC236}">
                <a16:creationId xmlns:a16="http://schemas.microsoft.com/office/drawing/2014/main" id="{8FB2AED3-3EB7-5055-48E0-116B61A604C3}"/>
              </a:ext>
            </a:extLst>
          </p:cNvPr>
          <p:cNvGraphicFramePr>
            <a:graphicFrameLocks noGrp="1"/>
          </p:cNvGraphicFramePr>
          <p:nvPr>
            <p:ph idx="1"/>
            <p:extLst>
              <p:ext uri="{D42A27DB-BD31-4B8C-83A1-F6EECF244321}">
                <p14:modId xmlns:p14="http://schemas.microsoft.com/office/powerpoint/2010/main" val="390066844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703045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Manage Journals: Intercompany Journal Posted" descr="Manage Journals: Intercompany Journal Posted" title="Manage Journals: Intercompany Journal Posted">
            <a:extLst>
              <a:ext uri="{FF2B5EF4-FFF2-40B4-BE49-F238E27FC236}">
                <a16:creationId xmlns:a16="http://schemas.microsoft.com/office/drawing/2014/main" id="{DA93C34A-324E-0FEE-5C04-C4D89CD9BC3C}"/>
              </a:ext>
            </a:extLst>
          </p:cNvPr>
          <p:cNvPicPr>
            <a:picLocks noGrp="1" noChangeAspect="1"/>
          </p:cNvPicPr>
          <p:nvPr>
            <p:ph idx="1"/>
          </p:nvPr>
        </p:nvPicPr>
        <p:blipFill>
          <a:blip r:embed="rId2"/>
          <a:srcRect t="7086" b="1077"/>
          <a:stretch>
            <a:fillRect/>
          </a:stretch>
        </p:blipFill>
        <p:spPr bwMode="auto">
          <a:xfrm>
            <a:off x="20" y="10"/>
            <a:ext cx="12191980" cy="6857990"/>
          </a:xfrm>
          <a:prstGeom prst="rect">
            <a:avLst/>
          </a:prstGeom>
        </p:spPr>
      </p:pic>
      <p:sp>
        <p:nvSpPr>
          <p:cNvPr id="14" name="Rectangle 13">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85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DA3155-AD7D-F6ED-65CF-EC1E57D60946}"/>
              </a:ext>
            </a:extLst>
          </p:cNvPr>
          <p:cNvSpPr>
            <a:spLocks noGrp="1"/>
          </p:cNvSpPr>
          <p:nvPr>
            <p:ph type="title"/>
          </p:nvPr>
        </p:nvSpPr>
        <p:spPr>
          <a:xfrm>
            <a:off x="523875" y="42595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Step 8: Manage Journals: Intercompany Journal Posted</a:t>
            </a:r>
          </a:p>
        </p:txBody>
      </p:sp>
      <p:cxnSp>
        <p:nvCxnSpPr>
          <p:cNvPr id="16" name="Straight Connector 15">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35069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24356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05644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A196E8D2-0752-23E1-7886-B55002098C4D}"/>
              </a:ext>
            </a:extLst>
          </p:cNvPr>
          <p:cNvSpPr>
            <a:spLocks noGrp="1"/>
          </p:cNvSpPr>
          <p:nvPr>
            <p:ph type="title"/>
          </p:nvPr>
        </p:nvSpPr>
        <p:spPr>
          <a:xfrm>
            <a:off x="479394" y="1070800"/>
            <a:ext cx="3939688" cy="5583126"/>
          </a:xfrm>
        </p:spPr>
        <p:txBody>
          <a:bodyPr>
            <a:normAutofit/>
          </a:bodyPr>
          <a:lstStyle/>
          <a:p>
            <a:pPr algn="r"/>
            <a:r>
              <a:rPr lang="en-US" sz="5000"/>
              <a:t>Step 8: Manage Journals: Intercompany Journal Posted</a:t>
            </a: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DC69EBEF-5926-D35C-DE7F-95BBA959D0F0}"/>
              </a:ext>
            </a:extLst>
          </p:cNvPr>
          <p:cNvGraphicFramePr>
            <a:graphicFrameLocks noGrp="1"/>
          </p:cNvGraphicFramePr>
          <p:nvPr>
            <p:ph idx="1"/>
            <p:extLst>
              <p:ext uri="{D42A27DB-BD31-4B8C-83A1-F6EECF244321}">
                <p14:modId xmlns:p14="http://schemas.microsoft.com/office/powerpoint/2010/main" val="2260388541"/>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417959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98E9A7-300E-5784-8A0B-5DD8C219E87A}"/>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000" kern="1200">
                <a:solidFill>
                  <a:schemeClr val="bg1"/>
                </a:solidFill>
                <a:latin typeface="+mj-lt"/>
                <a:ea typeface="+mj-ea"/>
                <a:cs typeface="+mj-cs"/>
              </a:rPr>
              <a:t>Step 9: Open Additional Intercompany Balancing and Clearing Options</a:t>
            </a:r>
          </a:p>
        </p:txBody>
      </p:sp>
      <p:pic>
        <p:nvPicPr>
          <p:cNvPr id="4" name="Open Additional Intercompany Balancing and Clearing Options" descr="Open Additional Intercompany Balancing and Clearing Options" title="Open Additional Intercompany Balancing and Clearing Options">
            <a:extLst>
              <a:ext uri="{FF2B5EF4-FFF2-40B4-BE49-F238E27FC236}">
                <a16:creationId xmlns:a16="http://schemas.microsoft.com/office/drawing/2014/main" id="{3E87C648-DB7A-56EE-56DD-EB6D08A13B7B}"/>
              </a:ext>
            </a:extLst>
          </p:cNvPr>
          <p:cNvPicPr>
            <a:picLocks noGrp="1" noChangeAspect="1"/>
          </p:cNvPicPr>
          <p:nvPr>
            <p:ph idx="1"/>
          </p:nvPr>
        </p:nvPicPr>
        <p:blipFill>
          <a:blip r:embed="rId2"/>
          <a:stretch>
            <a:fillRect/>
          </a:stretch>
        </p:blipFill>
        <p:spPr bwMode="auto">
          <a:xfrm>
            <a:off x="1679719" y="1675227"/>
            <a:ext cx="8832562" cy="4394199"/>
          </a:xfrm>
          <a:prstGeom prst="rect">
            <a:avLst/>
          </a:prstGeom>
        </p:spPr>
      </p:pic>
    </p:spTree>
    <p:extLst>
      <p:ext uri="{BB962C8B-B14F-4D97-AF65-F5344CB8AC3E}">
        <p14:creationId xmlns:p14="http://schemas.microsoft.com/office/powerpoint/2010/main" val="76327785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058B8EA-FCF9-E3CD-4960-47FF4F6BF953}"/>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Step 9: Open Additional Intercompany Balancing and Clearing Options</a:t>
            </a:r>
          </a:p>
        </p:txBody>
      </p:sp>
      <p:graphicFrame>
        <p:nvGraphicFramePr>
          <p:cNvPr id="5" name="Content Placeholder 2">
            <a:extLst>
              <a:ext uri="{FF2B5EF4-FFF2-40B4-BE49-F238E27FC236}">
                <a16:creationId xmlns:a16="http://schemas.microsoft.com/office/drawing/2014/main" id="{ADD29191-1F6C-CFD1-D42C-04EE4B8E9BB6}"/>
              </a:ext>
            </a:extLst>
          </p:cNvPr>
          <p:cNvGraphicFramePr>
            <a:graphicFrameLocks noGrp="1"/>
          </p:cNvGraphicFramePr>
          <p:nvPr>
            <p:ph idx="1"/>
            <p:extLst>
              <p:ext uri="{D42A27DB-BD31-4B8C-83A1-F6EECF244321}">
                <p14:modId xmlns:p14="http://schemas.microsoft.com/office/powerpoint/2010/main" val="1636876859"/>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2857869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487FB2C-30C6-EEE3-5251-2807F4C84EE6}"/>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a:solidFill>
                  <a:schemeClr val="tx1"/>
                </a:solidFill>
                <a:latin typeface="+mj-lt"/>
                <a:ea typeface="+mj-ea"/>
                <a:cs typeface="+mj-cs"/>
              </a:rPr>
              <a:t>Step 10: Create Additional Options: Summarization</a:t>
            </a:r>
          </a:p>
        </p:txBody>
      </p:sp>
      <p:pic>
        <p:nvPicPr>
          <p:cNvPr id="4" name="Create Additional Options: Summarization" descr="Create Additional Options: Summarization" title="Create Additional Options: Summarization">
            <a:extLst>
              <a:ext uri="{FF2B5EF4-FFF2-40B4-BE49-F238E27FC236}">
                <a16:creationId xmlns:a16="http://schemas.microsoft.com/office/drawing/2014/main" id="{FFFEC7B7-426C-CFCB-0D0F-343B0B689CF1}"/>
              </a:ext>
            </a:extLst>
          </p:cNvPr>
          <p:cNvPicPr>
            <a:picLocks noGrp="1" noChangeAspect="1"/>
          </p:cNvPicPr>
          <p:nvPr>
            <p:ph idx="1"/>
          </p:nvPr>
        </p:nvPicPr>
        <p:blipFill>
          <a:blip r:embed="rId2"/>
          <a:stretch>
            <a:fillRect/>
          </a:stretch>
        </p:blipFill>
        <p:spPr bwMode="auto">
          <a:xfrm>
            <a:off x="2128075" y="2354239"/>
            <a:ext cx="7935850" cy="3948085"/>
          </a:xfrm>
          <a:prstGeom prst="rect">
            <a:avLst/>
          </a:prstGeom>
        </p:spPr>
      </p:pic>
    </p:spTree>
    <p:extLst>
      <p:ext uri="{BB962C8B-B14F-4D97-AF65-F5344CB8AC3E}">
        <p14:creationId xmlns:p14="http://schemas.microsoft.com/office/powerpoint/2010/main" val="139257901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200709-3486-B2F7-1209-E0AD4F6DEA32}"/>
              </a:ext>
            </a:extLst>
          </p:cNvPr>
          <p:cNvSpPr>
            <a:spLocks noGrp="1"/>
          </p:cNvSpPr>
          <p:nvPr>
            <p:ph type="title"/>
          </p:nvPr>
        </p:nvSpPr>
        <p:spPr>
          <a:xfrm>
            <a:off x="1156851" y="637762"/>
            <a:ext cx="9888496" cy="900131"/>
          </a:xfrm>
        </p:spPr>
        <p:txBody>
          <a:bodyPr>
            <a:normAutofit/>
          </a:bodyPr>
          <a:lstStyle/>
          <a:p>
            <a:r>
              <a:rPr lang="en-US" sz="3700">
                <a:solidFill>
                  <a:schemeClr val="bg1"/>
                </a:solidFill>
              </a:rPr>
              <a:t>Step 10: Create Additional Options: Summarization</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52CAD96-06DA-B971-4E47-B962FD08C75B}"/>
              </a:ext>
            </a:extLst>
          </p:cNvPr>
          <p:cNvSpPr>
            <a:spLocks noGrp="1"/>
          </p:cNvSpPr>
          <p:nvPr>
            <p:ph idx="1"/>
          </p:nvPr>
        </p:nvSpPr>
        <p:spPr>
          <a:xfrm>
            <a:off x="1155548" y="2217343"/>
            <a:ext cx="9880893" cy="3959619"/>
          </a:xfrm>
        </p:spPr>
        <p:txBody>
          <a:bodyPr>
            <a:normAutofit/>
          </a:bodyPr>
          <a:lstStyle/>
          <a:p>
            <a:r>
              <a:rPr lang="en-US" sz="2400"/>
              <a:t>Select the Ledger, Source and Category, then enter the Receivables Account, Payables Account and Start Date.</a:t>
            </a:r>
          </a:p>
          <a:p>
            <a:r>
              <a:rPr lang="en-US" sz="2400"/>
              <a:t>The Summarization list offers Detail and Summary net.</a:t>
            </a:r>
          </a:p>
          <a:p>
            <a:r>
              <a:rPr lang="en-US" sz="2400"/>
              <a:t>Summary net consolidates the generated intercompany lines into net amounts; Detail keeps them separate.</a:t>
            </a:r>
          </a:p>
          <a:p>
            <a:endParaRPr lang="en-US" sz="2400"/>
          </a:p>
        </p:txBody>
      </p:sp>
    </p:spTree>
    <p:extLst>
      <p:ext uri="{BB962C8B-B14F-4D97-AF65-F5344CB8AC3E}">
        <p14:creationId xmlns:p14="http://schemas.microsoft.com/office/powerpoint/2010/main" val="24018733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105E1D-4ED2-59A9-A1AF-E789747B76A3}"/>
              </a:ext>
            </a:extLst>
          </p:cNvPr>
          <p:cNvSpPr>
            <a:spLocks noGrp="1"/>
          </p:cNvSpPr>
          <p:nvPr>
            <p:ph type="title"/>
          </p:nvPr>
        </p:nvSpPr>
        <p:spPr>
          <a:xfrm>
            <a:off x="630936" y="502920"/>
            <a:ext cx="3419856" cy="1463040"/>
          </a:xfrm>
        </p:spPr>
        <p:txBody>
          <a:bodyPr vert="horz" lIns="91440" tIns="45720" rIns="91440" bIns="45720" rtlCol="0" anchor="ctr">
            <a:normAutofit/>
          </a:bodyPr>
          <a:lstStyle/>
          <a:p>
            <a:r>
              <a:rPr lang="en-US" sz="3700" kern="1200">
                <a:solidFill>
                  <a:schemeClr val="tx1"/>
                </a:solidFill>
                <a:latin typeface="+mj-lt"/>
                <a:ea typeface="+mj-ea"/>
                <a:cs typeface="+mj-cs"/>
              </a:rPr>
              <a:t>Step 11: Clearing Company Value</a:t>
            </a:r>
          </a:p>
        </p:txBody>
      </p:sp>
      <p:sp>
        <p:nvSpPr>
          <p:cNvPr id="13"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90F7C87-3669-6EC6-EBFA-4AA194BDA21E}"/>
              </a:ext>
            </a:extLst>
          </p:cNvPr>
          <p:cNvSpPr txBox="1"/>
          <p:nvPr/>
        </p:nvSpPr>
        <p:spPr>
          <a:xfrm>
            <a:off x="4654295" y="502920"/>
            <a:ext cx="6894576" cy="1463040"/>
          </a:xfrm>
          <a:prstGeom prst="rect">
            <a:avLst/>
          </a:prstGeom>
        </p:spPr>
        <p:txBody>
          <a:bodyPr vert="horz" lIns="91440" tIns="45720" rIns="91440" bIns="45720" rtlCol="0" anchor="ctr">
            <a:normAutofit/>
          </a:bodyPr>
          <a:lstStyle/>
          <a:p>
            <a:pPr marL="342900" marR="0" lvl="0" indent="-228600">
              <a:lnSpc>
                <a:spcPct val="90000"/>
              </a:lnSpc>
              <a:spcAft>
                <a:spcPts val="250"/>
              </a:spcAft>
              <a:buFont typeface="Arial" panose="020B0604020202020204" pitchFamily="34" charset="0"/>
              <a:buChar char="•"/>
            </a:pPr>
            <a:r>
              <a:rPr lang="en-US" sz="1900">
                <a:effectLst/>
              </a:rPr>
              <a:t>Under </a:t>
            </a:r>
            <a:r>
              <a:rPr lang="en-US" sz="1900" b="1">
                <a:effectLst/>
              </a:rPr>
              <a:t>Summarization and Clearing Company Options</a:t>
            </a:r>
            <a:r>
              <a:rPr lang="en-US" sz="1900">
                <a:effectLst/>
              </a:rPr>
              <a:t>, the </a:t>
            </a:r>
            <a:r>
              <a:rPr lang="en-US" sz="1900" b="1">
                <a:effectLst/>
              </a:rPr>
              <a:t>Value</a:t>
            </a:r>
            <a:r>
              <a:rPr lang="en-US" sz="1900">
                <a:effectLst/>
              </a:rPr>
              <a:t> field holds the clearing company balancing segment value (10).</a:t>
            </a:r>
          </a:p>
          <a:p>
            <a:pPr marL="342900" marR="0" lvl="0" indent="-228600">
              <a:lnSpc>
                <a:spcPct val="90000"/>
              </a:lnSpc>
              <a:spcAft>
                <a:spcPts val="1100"/>
              </a:spcAft>
              <a:buFont typeface="Arial" panose="020B0604020202020204" pitchFamily="34" charset="0"/>
              <a:buChar char="•"/>
            </a:pPr>
            <a:r>
              <a:rPr lang="en-US" sz="1900">
                <a:effectLst/>
              </a:rPr>
              <a:t>The clearing company is used to balance journals when the standard intercompany rules cannot be applied.</a:t>
            </a:r>
          </a:p>
        </p:txBody>
      </p:sp>
      <p:pic>
        <p:nvPicPr>
          <p:cNvPr id="4" name="Clearing Company Value" descr="Clearing Company Value" title="Clearing Company Value">
            <a:extLst>
              <a:ext uri="{FF2B5EF4-FFF2-40B4-BE49-F238E27FC236}">
                <a16:creationId xmlns:a16="http://schemas.microsoft.com/office/drawing/2014/main" id="{2D3758BF-2AB8-CA99-797C-C91E411D8EF3}"/>
              </a:ext>
            </a:extLst>
          </p:cNvPr>
          <p:cNvPicPr>
            <a:picLocks noGrp="1" noChangeAspect="1"/>
          </p:cNvPicPr>
          <p:nvPr>
            <p:ph idx="1"/>
          </p:nvPr>
        </p:nvPicPr>
        <p:blipFill>
          <a:blip r:embed="rId2"/>
          <a:stretch>
            <a:fillRect/>
          </a:stretch>
        </p:blipFill>
        <p:spPr bwMode="auto">
          <a:xfrm>
            <a:off x="630936" y="3492708"/>
            <a:ext cx="10917936" cy="1555807"/>
          </a:xfrm>
          <a:prstGeom prst="rect">
            <a:avLst/>
          </a:prstGeom>
        </p:spPr>
      </p:pic>
    </p:spTree>
    <p:extLst>
      <p:ext uri="{BB962C8B-B14F-4D97-AF65-F5344CB8AC3E}">
        <p14:creationId xmlns:p14="http://schemas.microsoft.com/office/powerpoint/2010/main" val="254762392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EDA6AEE-CCAB-730E-E2FC-780B0CA6B508}"/>
              </a:ext>
            </a:extLst>
          </p:cNvPr>
          <p:cNvSpPr>
            <a:spLocks noGrp="1"/>
          </p:cNvSpPr>
          <p:nvPr>
            <p:ph type="title"/>
          </p:nvPr>
        </p:nvSpPr>
        <p:spPr>
          <a:xfrm>
            <a:off x="838200" y="3905833"/>
            <a:ext cx="4215063" cy="2398713"/>
          </a:xfrm>
        </p:spPr>
        <p:txBody>
          <a:bodyPr vert="horz" lIns="91440" tIns="45720" rIns="91440" bIns="45720" rtlCol="0" anchor="ctr">
            <a:normAutofit/>
          </a:bodyPr>
          <a:lstStyle/>
          <a:p>
            <a:r>
              <a:rPr lang="en-US" sz="4100" kern="1200">
                <a:solidFill>
                  <a:schemeClr val="tx1"/>
                </a:solidFill>
                <a:latin typeface="+mj-lt"/>
                <a:ea typeface="+mj-ea"/>
                <a:cs typeface="+mj-cs"/>
              </a:rPr>
              <a:t>Step 12: Condition for Many-to-Many Journals</a:t>
            </a:r>
          </a:p>
        </p:txBody>
      </p:sp>
      <p:pic>
        <p:nvPicPr>
          <p:cNvPr id="4" name="Condition for Many-to-Many Journals" descr="Condition for Many-to-Many Journals" title="Condition for Many-to-Many Journals">
            <a:extLst>
              <a:ext uri="{FF2B5EF4-FFF2-40B4-BE49-F238E27FC236}">
                <a16:creationId xmlns:a16="http://schemas.microsoft.com/office/drawing/2014/main" id="{DC28ABF5-9F70-D019-C9DE-DDB54FB9161D}"/>
              </a:ext>
            </a:extLst>
          </p:cNvPr>
          <p:cNvPicPr>
            <a:picLocks noGrp="1" noChangeAspect="1"/>
          </p:cNvPicPr>
          <p:nvPr>
            <p:ph idx="1"/>
          </p:nvPr>
        </p:nvPicPr>
        <p:blipFill>
          <a:blip r:embed="rId2"/>
          <a:stretch>
            <a:fillRect/>
          </a:stretch>
        </p:blipFill>
        <p:spPr bwMode="auto">
          <a:xfrm>
            <a:off x="1158955" y="788225"/>
            <a:ext cx="9875259" cy="1999737"/>
          </a:xfrm>
          <a:prstGeom prst="rect">
            <a:avLst/>
          </a:prstGeom>
        </p:spPr>
      </p:pic>
      <p:sp>
        <p:nvSpPr>
          <p:cNvPr id="6" name="TextBox 5">
            <a:extLst>
              <a:ext uri="{FF2B5EF4-FFF2-40B4-BE49-F238E27FC236}">
                <a16:creationId xmlns:a16="http://schemas.microsoft.com/office/drawing/2014/main" id="{CD3EE77E-EF4B-FA98-8EF5-AFA9482295B6}"/>
              </a:ext>
            </a:extLst>
          </p:cNvPr>
          <p:cNvSpPr txBox="1"/>
          <p:nvPr/>
        </p:nvSpPr>
        <p:spPr>
          <a:xfrm>
            <a:off x="5630779" y="3884452"/>
            <a:ext cx="5723021" cy="2398713"/>
          </a:xfrm>
          <a:prstGeom prst="rect">
            <a:avLst/>
          </a:prstGeom>
        </p:spPr>
        <p:txBody>
          <a:bodyPr vert="horz" lIns="91440" tIns="45720" rIns="91440" bIns="45720" rtlCol="0" anchor="ctr">
            <a:normAutofit/>
          </a:bodyPr>
          <a:lstStyle/>
          <a:p>
            <a:pPr marL="342900" marR="0" lvl="0" indent="-228600">
              <a:lnSpc>
                <a:spcPct val="90000"/>
              </a:lnSpc>
              <a:spcAft>
                <a:spcPts val="250"/>
              </a:spcAft>
              <a:buFont typeface="Arial" panose="020B0604020202020204" pitchFamily="34" charset="0"/>
              <a:buChar char="•"/>
            </a:pPr>
            <a:r>
              <a:rPr lang="en-US" sz="2000">
                <a:effectLst/>
              </a:rPr>
              <a:t>The </a:t>
            </a:r>
            <a:r>
              <a:rPr lang="en-US" sz="2000" b="1">
                <a:effectLst/>
              </a:rPr>
              <a:t>Condition</a:t>
            </a:r>
            <a:r>
              <a:rPr lang="en-US" sz="2000">
                <a:effectLst/>
              </a:rPr>
              <a:t> list controls how many-to-many journals (multiple debits and credits across balancing segments) are handled.</a:t>
            </a:r>
          </a:p>
          <a:p>
            <a:pPr marL="342900" marR="0" lvl="0" indent="-228600">
              <a:lnSpc>
                <a:spcPct val="90000"/>
              </a:lnSpc>
              <a:spcAft>
                <a:spcPts val="1100"/>
              </a:spcAft>
              <a:buFont typeface="Arial" panose="020B0604020202020204" pitchFamily="34" charset="0"/>
              <a:buChar char="•"/>
            </a:pPr>
            <a:r>
              <a:rPr lang="en-US" sz="2000">
                <a:effectLst/>
              </a:rPr>
              <a:t>Options: </a:t>
            </a:r>
            <a:r>
              <a:rPr lang="en-US" sz="2000" b="1">
                <a:effectLst/>
              </a:rPr>
              <a:t>Use clearing company only for intracompany journals</a:t>
            </a:r>
            <a:r>
              <a:rPr lang="en-US" sz="2000">
                <a:effectLst/>
              </a:rPr>
              <a:t>, </a:t>
            </a:r>
            <a:r>
              <a:rPr lang="en-US" sz="2000" b="1">
                <a:effectLst/>
              </a:rPr>
              <a:t>Use clearing company for all many-to-many journals</a:t>
            </a:r>
            <a:r>
              <a:rPr lang="en-US" sz="2000">
                <a:effectLst/>
              </a:rPr>
              <a:t> and </a:t>
            </a:r>
            <a:r>
              <a:rPr lang="en-US" sz="2000" b="1">
                <a:effectLst/>
              </a:rPr>
              <a:t>Error out if many-to-many journal</a:t>
            </a:r>
            <a:r>
              <a:rPr lang="en-US" sz="2000">
                <a:effectLst/>
              </a:rPr>
              <a:t>.</a:t>
            </a:r>
          </a:p>
        </p:txBody>
      </p:sp>
    </p:spTree>
    <p:extLst>
      <p:ext uri="{BB962C8B-B14F-4D97-AF65-F5344CB8AC3E}">
        <p14:creationId xmlns:p14="http://schemas.microsoft.com/office/powerpoint/2010/main" val="294934162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372D54-C5CA-5F4D-ED3A-F35EB5B5524D}"/>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Part 6: Cross-Validation Rules</a:t>
            </a:r>
          </a:p>
        </p:txBody>
      </p:sp>
      <p:sp>
        <p:nvSpPr>
          <p:cNvPr id="3" name="Content Placeholder 2">
            <a:extLst>
              <a:ext uri="{FF2B5EF4-FFF2-40B4-BE49-F238E27FC236}">
                <a16:creationId xmlns:a16="http://schemas.microsoft.com/office/drawing/2014/main" id="{F1461B6E-EC5B-C8DA-20F2-97AAFAC44640}"/>
              </a:ext>
            </a:extLst>
          </p:cNvPr>
          <p:cNvSpPr>
            <a:spLocks noGrp="1"/>
          </p:cNvSpPr>
          <p:nvPr>
            <p:ph idx="1"/>
          </p:nvPr>
        </p:nvSpPr>
        <p:spPr>
          <a:xfrm>
            <a:off x="1371599" y="2318197"/>
            <a:ext cx="9724031" cy="3683358"/>
          </a:xfrm>
        </p:spPr>
        <p:txBody>
          <a:bodyPr anchor="ctr">
            <a:normAutofit/>
          </a:bodyPr>
          <a:lstStyle/>
          <a:p>
            <a:pPr marL="0" indent="0">
              <a:buNone/>
            </a:pPr>
            <a:r>
              <a:rPr lang="en-US" sz="2000"/>
              <a:t>Overview</a:t>
            </a:r>
          </a:p>
          <a:p>
            <a:r>
              <a:rPr lang="en-US" sz="2000"/>
              <a:t>Cross-validation rules restrict which segment value combinations can be created in the chart of accounts.</a:t>
            </a:r>
          </a:p>
          <a:p>
            <a:r>
              <a:rPr lang="en-US" sz="2000"/>
              <a:t>Each rule has a Condition Filter (when the rule applies), a Validation Filter (what is allowed) and an Error Message.</a:t>
            </a:r>
          </a:p>
          <a:p>
            <a:r>
              <a:rPr lang="en-US" sz="2000"/>
              <a:t>Rules are defined per chart of accounts in the Financial Reporting Structures functional area.</a:t>
            </a:r>
          </a:p>
          <a:p>
            <a:endParaRPr lang="en-US" sz="2000"/>
          </a:p>
        </p:txBody>
      </p:sp>
    </p:spTree>
    <p:extLst>
      <p:ext uri="{BB962C8B-B14F-4D97-AF65-F5344CB8AC3E}">
        <p14:creationId xmlns:p14="http://schemas.microsoft.com/office/powerpoint/2010/main" val="56303598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8E4224-4AC8-D9B9-D106-3A91CFE9F29F}"/>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Step 1: Setup and Maintenance</a:t>
            </a:r>
          </a:p>
        </p:txBody>
      </p:sp>
      <p:pic>
        <p:nvPicPr>
          <p:cNvPr id="4" name="Setup and Maintenance" descr="Setup and Maintenance" title="Setup and Maintenance">
            <a:extLst>
              <a:ext uri="{FF2B5EF4-FFF2-40B4-BE49-F238E27FC236}">
                <a16:creationId xmlns:a16="http://schemas.microsoft.com/office/drawing/2014/main" id="{E50B3FC3-5271-8C4F-43B3-E750684A2FF3}"/>
              </a:ext>
            </a:extLst>
          </p:cNvPr>
          <p:cNvPicPr>
            <a:picLocks noGrp="1" noChangeAspect="1"/>
          </p:cNvPicPr>
          <p:nvPr>
            <p:ph idx="1"/>
          </p:nvPr>
        </p:nvPicPr>
        <p:blipFill>
          <a:blip r:embed="rId2"/>
          <a:stretch>
            <a:fillRect/>
          </a:stretch>
        </p:blipFill>
        <p:spPr bwMode="auto">
          <a:xfrm>
            <a:off x="1679719" y="1675227"/>
            <a:ext cx="8832562" cy="4394199"/>
          </a:xfrm>
          <a:prstGeom prst="rect">
            <a:avLst/>
          </a:prstGeom>
        </p:spPr>
      </p:pic>
    </p:spTree>
    <p:extLst>
      <p:ext uri="{BB962C8B-B14F-4D97-AF65-F5344CB8AC3E}">
        <p14:creationId xmlns:p14="http://schemas.microsoft.com/office/powerpoint/2010/main" val="362178775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955414-A9CE-0525-9FDC-6FCE73803F1E}"/>
              </a:ext>
            </a:extLst>
          </p:cNvPr>
          <p:cNvSpPr>
            <a:spLocks noGrp="1"/>
          </p:cNvSpPr>
          <p:nvPr>
            <p:ph type="title"/>
          </p:nvPr>
        </p:nvSpPr>
        <p:spPr>
          <a:xfrm>
            <a:off x="1043631" y="809898"/>
            <a:ext cx="10173010" cy="1554480"/>
          </a:xfrm>
        </p:spPr>
        <p:txBody>
          <a:bodyPr anchor="ctr">
            <a:normAutofit/>
          </a:bodyPr>
          <a:lstStyle/>
          <a:p>
            <a:r>
              <a:rPr lang="en-US" sz="4800"/>
              <a:t>Step 1: Setup and Maintenance</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BC8C2560-14F2-9EB8-C606-CD2BB49043D5}"/>
              </a:ext>
            </a:extLst>
          </p:cNvPr>
          <p:cNvGraphicFramePr>
            <a:graphicFrameLocks noGrp="1"/>
          </p:cNvGraphicFramePr>
          <p:nvPr>
            <p:ph idx="1"/>
            <p:extLst>
              <p:ext uri="{D42A27DB-BD31-4B8C-83A1-F6EECF244321}">
                <p14:modId xmlns:p14="http://schemas.microsoft.com/office/powerpoint/2010/main" val="387750421"/>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465612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CAF2BE-783A-97EB-5E3F-E09D0D87D895}"/>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400" kern="1200">
                <a:solidFill>
                  <a:srgbClr val="FFFFFF"/>
                </a:solidFill>
                <a:latin typeface="+mj-lt"/>
                <a:ea typeface="+mj-ea"/>
                <a:cs typeface="+mj-cs"/>
              </a:rPr>
              <a:t>Step 2: Financial Reporting Structures: Manage Cross-Validation Rules</a:t>
            </a:r>
          </a:p>
        </p:txBody>
      </p:sp>
      <p:pic>
        <p:nvPicPr>
          <p:cNvPr id="4" name="Financial Reporting Structures: Manage Cross-Validation Rules" descr="Financial Reporting Structures: Manage Cross-Validation Rules" title="Financial Reporting Structures: Manage Cross-Validation Rules">
            <a:extLst>
              <a:ext uri="{FF2B5EF4-FFF2-40B4-BE49-F238E27FC236}">
                <a16:creationId xmlns:a16="http://schemas.microsoft.com/office/drawing/2014/main" id="{6704F7E3-0C5F-D1E8-0404-F83A1961E77B}"/>
              </a:ext>
            </a:extLst>
          </p:cNvPr>
          <p:cNvPicPr>
            <a:picLocks noGrp="1" noChangeAspect="1"/>
          </p:cNvPicPr>
          <p:nvPr>
            <p:ph idx="1"/>
          </p:nvPr>
        </p:nvPicPr>
        <p:blipFill>
          <a:blip r:embed="rId2"/>
          <a:stretch>
            <a:fillRect/>
          </a:stretch>
        </p:blipFill>
        <p:spPr bwMode="auto">
          <a:xfrm>
            <a:off x="1621466" y="1966293"/>
            <a:ext cx="8949066" cy="4452160"/>
          </a:xfrm>
          <a:prstGeom prst="rect">
            <a:avLst/>
          </a:prstGeom>
        </p:spPr>
      </p:pic>
    </p:spTree>
    <p:extLst>
      <p:ext uri="{BB962C8B-B14F-4D97-AF65-F5344CB8AC3E}">
        <p14:creationId xmlns:p14="http://schemas.microsoft.com/office/powerpoint/2010/main" val="250925698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BA0AF0-9E20-606D-BFDD-A6D37F6D2094}"/>
              </a:ext>
            </a:extLst>
          </p:cNvPr>
          <p:cNvSpPr>
            <a:spLocks noGrp="1"/>
          </p:cNvSpPr>
          <p:nvPr>
            <p:ph type="title"/>
          </p:nvPr>
        </p:nvSpPr>
        <p:spPr>
          <a:xfrm>
            <a:off x="586478" y="1683756"/>
            <a:ext cx="3115265" cy="2396359"/>
          </a:xfrm>
        </p:spPr>
        <p:txBody>
          <a:bodyPr anchor="b">
            <a:normAutofit/>
          </a:bodyPr>
          <a:lstStyle/>
          <a:p>
            <a:pPr algn="r"/>
            <a:r>
              <a:rPr lang="en-US" sz="3100">
                <a:solidFill>
                  <a:srgbClr val="FFFFFF"/>
                </a:solidFill>
              </a:rPr>
              <a:t>Step 2: Financial Reporting Structures: Manage Cross-Validation Rules</a:t>
            </a:r>
          </a:p>
        </p:txBody>
      </p:sp>
      <p:graphicFrame>
        <p:nvGraphicFramePr>
          <p:cNvPr id="23" name="Content Placeholder 2">
            <a:extLst>
              <a:ext uri="{FF2B5EF4-FFF2-40B4-BE49-F238E27FC236}">
                <a16:creationId xmlns:a16="http://schemas.microsoft.com/office/drawing/2014/main" id="{A5C4D64E-5945-0C02-D29C-2F73D4186AF8}"/>
              </a:ext>
            </a:extLst>
          </p:cNvPr>
          <p:cNvGraphicFramePr>
            <a:graphicFrameLocks noGrp="1"/>
          </p:cNvGraphicFramePr>
          <p:nvPr>
            <p:ph idx="1"/>
            <p:extLst>
              <p:ext uri="{D42A27DB-BD31-4B8C-83A1-F6EECF244321}">
                <p14:modId xmlns:p14="http://schemas.microsoft.com/office/powerpoint/2010/main" val="2212641265"/>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5434906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812BB0-93C7-E59C-32FC-86DDE1BBAD18}"/>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a:solidFill>
                  <a:srgbClr val="FFFFFF"/>
                </a:solidFill>
                <a:latin typeface="+mj-lt"/>
                <a:ea typeface="+mj-ea"/>
                <a:cs typeface="+mj-cs"/>
              </a:rPr>
              <a:t>Step 3: Manage Cross-Validations: Rules Tab</a:t>
            </a:r>
          </a:p>
        </p:txBody>
      </p:sp>
      <p:pic>
        <p:nvPicPr>
          <p:cNvPr id="4" name="Manage Cross-Validations: Rules Tab" descr="Manage Cross-Validations: Rules Tab" title="Manage Cross-Validations: Rules Tab">
            <a:extLst>
              <a:ext uri="{FF2B5EF4-FFF2-40B4-BE49-F238E27FC236}">
                <a16:creationId xmlns:a16="http://schemas.microsoft.com/office/drawing/2014/main" id="{982F3797-C86D-F859-8969-88C951C01BF4}"/>
              </a:ext>
            </a:extLst>
          </p:cNvPr>
          <p:cNvPicPr>
            <a:picLocks noGrp="1" noChangeAspect="1"/>
          </p:cNvPicPr>
          <p:nvPr>
            <p:ph idx="1"/>
          </p:nvPr>
        </p:nvPicPr>
        <p:blipFill>
          <a:blip r:embed="rId2"/>
          <a:stretch>
            <a:fillRect/>
          </a:stretch>
        </p:blipFill>
        <p:spPr bwMode="auto">
          <a:xfrm>
            <a:off x="1621466" y="1966293"/>
            <a:ext cx="8949066" cy="4452160"/>
          </a:xfrm>
          <a:prstGeom prst="rect">
            <a:avLst/>
          </a:prstGeom>
        </p:spPr>
      </p:pic>
    </p:spTree>
    <p:extLst>
      <p:ext uri="{BB962C8B-B14F-4D97-AF65-F5344CB8AC3E}">
        <p14:creationId xmlns:p14="http://schemas.microsoft.com/office/powerpoint/2010/main" val="15309999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C5A940-4A93-12BA-EF92-03D67E59FCEE}"/>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Step 3: Manage Cross-Validations: Rules Tab</a:t>
            </a:r>
          </a:p>
        </p:txBody>
      </p:sp>
      <p:sp>
        <p:nvSpPr>
          <p:cNvPr id="3" name="Content Placeholder 2">
            <a:extLst>
              <a:ext uri="{FF2B5EF4-FFF2-40B4-BE49-F238E27FC236}">
                <a16:creationId xmlns:a16="http://schemas.microsoft.com/office/drawing/2014/main" id="{CBB1709F-FD2A-6101-6BF1-E51E50999CFB}"/>
              </a:ext>
            </a:extLst>
          </p:cNvPr>
          <p:cNvSpPr>
            <a:spLocks noGrp="1"/>
          </p:cNvSpPr>
          <p:nvPr>
            <p:ph idx="1"/>
          </p:nvPr>
        </p:nvSpPr>
        <p:spPr>
          <a:xfrm>
            <a:off x="1371599" y="2318197"/>
            <a:ext cx="9724031" cy="3683358"/>
          </a:xfrm>
        </p:spPr>
        <p:txBody>
          <a:bodyPr anchor="ctr">
            <a:normAutofit/>
          </a:bodyPr>
          <a:lstStyle/>
          <a:p>
            <a:pPr lvl="0"/>
            <a:r>
              <a:rPr lang="en-US" sz="2000"/>
              <a:t>The page has two tabs: </a:t>
            </a:r>
            <a:r>
              <a:rPr lang="en-US" sz="2000" b="1"/>
              <a:t>Rules</a:t>
            </a:r>
            <a:r>
              <a:rPr lang="en-US" sz="2000"/>
              <a:t> and </a:t>
            </a:r>
            <a:r>
              <a:rPr lang="en-US" sz="2000" b="1"/>
              <a:t>Combination Sets</a:t>
            </a:r>
            <a:r>
              <a:rPr lang="en-US" sz="2000"/>
              <a:t>.</a:t>
            </a:r>
          </a:p>
          <a:p>
            <a:pPr lvl="0"/>
            <a:r>
              <a:rPr lang="en-US" sz="2000"/>
              <a:t>The search region requires a </a:t>
            </a:r>
            <a:r>
              <a:rPr lang="en-US" sz="2000" b="1"/>
              <a:t>Chart of Accounts</a:t>
            </a:r>
            <a:r>
              <a:rPr lang="en-US" sz="2000"/>
              <a:t> and can be refined by </a:t>
            </a:r>
            <a:r>
              <a:rPr lang="en-US" sz="2000" b="1"/>
              <a:t>Name</a:t>
            </a:r>
            <a:r>
              <a:rPr lang="en-US" sz="2000"/>
              <a:t> and </a:t>
            </a:r>
            <a:r>
              <a:rPr lang="en-US" sz="2000" b="1"/>
              <a:t>Enabled</a:t>
            </a:r>
            <a:r>
              <a:rPr lang="en-US" sz="2000"/>
              <a:t>.</a:t>
            </a:r>
          </a:p>
          <a:p>
            <a:pPr lvl="0"/>
            <a:r>
              <a:rPr lang="en-US" sz="2000"/>
              <a:t>No rules are displayed until a chart of accounts is selected.</a:t>
            </a:r>
          </a:p>
          <a:p>
            <a:endParaRPr lang="en-US" sz="2000"/>
          </a:p>
        </p:txBody>
      </p:sp>
    </p:spTree>
    <p:extLst>
      <p:ext uri="{BB962C8B-B14F-4D97-AF65-F5344CB8AC3E}">
        <p14:creationId xmlns:p14="http://schemas.microsoft.com/office/powerpoint/2010/main" val="219090781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5C9D962-F904-4553-A140-500CF3EFC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2FE0FA2-B10C-4B9F-B9CC-E5D9AD4004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1314048">
            <a:off x="-271537" y="-884980"/>
            <a:ext cx="12642772" cy="6248341"/>
          </a:xfrm>
          <a:custGeom>
            <a:avLst/>
            <a:gdLst>
              <a:gd name="connsiteX0" fmla="*/ 12642772 w 12642772"/>
              <a:gd name="connsiteY0" fmla="*/ 4432052 h 6248341"/>
              <a:gd name="connsiteX1" fmla="*/ 586822 w 12642772"/>
              <a:gd name="connsiteY1" fmla="*/ 6248341 h 6248341"/>
              <a:gd name="connsiteX2" fmla="*/ 0 w 12642772"/>
              <a:gd name="connsiteY2" fmla="*/ 2394542 h 6248341"/>
              <a:gd name="connsiteX3" fmla="*/ 52893 w 12642772"/>
              <a:gd name="connsiteY3" fmla="*/ 2306669 h 6248341"/>
              <a:gd name="connsiteX4" fmla="*/ 131535 w 12642772"/>
              <a:gd name="connsiteY4" fmla="*/ 2293621 h 6248341"/>
              <a:gd name="connsiteX5" fmla="*/ 244153 w 12642772"/>
              <a:gd name="connsiteY5" fmla="*/ 2272261 h 6248341"/>
              <a:gd name="connsiteX6" fmla="*/ 324401 w 12642772"/>
              <a:gd name="connsiteY6" fmla="*/ 2233208 h 6248341"/>
              <a:gd name="connsiteX7" fmla="*/ 463569 w 12642772"/>
              <a:gd name="connsiteY7" fmla="*/ 2158308 h 6248341"/>
              <a:gd name="connsiteX8" fmla="*/ 582537 w 12642772"/>
              <a:gd name="connsiteY8" fmla="*/ 2095961 h 6248341"/>
              <a:gd name="connsiteX9" fmla="*/ 638937 w 12642772"/>
              <a:gd name="connsiteY9" fmla="*/ 2008169 h 6248341"/>
              <a:gd name="connsiteX10" fmla="*/ 749855 w 12642772"/>
              <a:gd name="connsiteY10" fmla="*/ 1936088 h 6248341"/>
              <a:gd name="connsiteX11" fmla="*/ 856553 w 12642772"/>
              <a:gd name="connsiteY11" fmla="*/ 1892728 h 6248341"/>
              <a:gd name="connsiteX12" fmla="*/ 939338 w 12642772"/>
              <a:gd name="connsiteY12" fmla="*/ 1863906 h 6248341"/>
              <a:gd name="connsiteX13" fmla="*/ 987836 w 12642772"/>
              <a:gd name="connsiteY13" fmla="*/ 1848470 h 6248341"/>
              <a:gd name="connsiteX14" fmla="*/ 1086094 w 12642772"/>
              <a:gd name="connsiteY14" fmla="*/ 1834336 h 6248341"/>
              <a:gd name="connsiteX15" fmla="*/ 1155607 w 12642772"/>
              <a:gd name="connsiteY15" fmla="*/ 1814299 h 6248341"/>
              <a:gd name="connsiteX16" fmla="*/ 1219621 w 12642772"/>
              <a:gd name="connsiteY16" fmla="*/ 1774472 h 6248341"/>
              <a:gd name="connsiteX17" fmla="*/ 1275113 w 12642772"/>
              <a:gd name="connsiteY17" fmla="*/ 1734756 h 6248341"/>
              <a:gd name="connsiteX18" fmla="*/ 1337800 w 12642772"/>
              <a:gd name="connsiteY18" fmla="*/ 1684579 h 6248341"/>
              <a:gd name="connsiteX19" fmla="*/ 1526287 w 12642772"/>
              <a:gd name="connsiteY19" fmla="*/ 1602057 h 6248341"/>
              <a:gd name="connsiteX20" fmla="*/ 1579126 w 12642772"/>
              <a:gd name="connsiteY20" fmla="*/ 1559561 h 6248341"/>
              <a:gd name="connsiteX21" fmla="*/ 1651242 w 12642772"/>
              <a:gd name="connsiteY21" fmla="*/ 1546569 h 6248341"/>
              <a:gd name="connsiteX22" fmla="*/ 1712038 w 12642772"/>
              <a:gd name="connsiteY22" fmla="*/ 1533432 h 6248341"/>
              <a:gd name="connsiteX23" fmla="*/ 1758402 w 12642772"/>
              <a:gd name="connsiteY23" fmla="*/ 1525816 h 6248341"/>
              <a:gd name="connsiteX24" fmla="*/ 1831776 w 12642772"/>
              <a:gd name="connsiteY24" fmla="*/ 1504679 h 6248341"/>
              <a:gd name="connsiteX25" fmla="*/ 1963032 w 12642772"/>
              <a:gd name="connsiteY25" fmla="*/ 1472999 h 6248341"/>
              <a:gd name="connsiteX26" fmla="*/ 2006520 w 12642772"/>
              <a:gd name="connsiteY26" fmla="*/ 1464281 h 6248341"/>
              <a:gd name="connsiteX27" fmla="*/ 2049195 w 12642772"/>
              <a:gd name="connsiteY27" fmla="*/ 1459572 h 6248341"/>
              <a:gd name="connsiteX28" fmla="*/ 2125117 w 12642772"/>
              <a:gd name="connsiteY28" fmla="*/ 1432093 h 6248341"/>
              <a:gd name="connsiteX29" fmla="*/ 2234987 w 12642772"/>
              <a:gd name="connsiteY29" fmla="*/ 1408543 h 6248341"/>
              <a:gd name="connsiteX30" fmla="*/ 2349979 w 12642772"/>
              <a:gd name="connsiteY30" fmla="*/ 1370325 h 6248341"/>
              <a:gd name="connsiteX31" fmla="*/ 2490342 w 12642772"/>
              <a:gd name="connsiteY31" fmla="*/ 1337371 h 6248341"/>
              <a:gd name="connsiteX32" fmla="*/ 2721983 w 12642772"/>
              <a:gd name="connsiteY32" fmla="*/ 1255221 h 6248341"/>
              <a:gd name="connsiteX33" fmla="*/ 2740778 w 12642772"/>
              <a:gd name="connsiteY33" fmla="*/ 1232389 h 6248341"/>
              <a:gd name="connsiteX34" fmla="*/ 2772006 w 12642772"/>
              <a:gd name="connsiteY34" fmla="*/ 1218123 h 6248341"/>
              <a:gd name="connsiteX35" fmla="*/ 2850754 w 12642772"/>
              <a:gd name="connsiteY35" fmla="*/ 1180094 h 6248341"/>
              <a:gd name="connsiteX36" fmla="*/ 2872381 w 12642772"/>
              <a:gd name="connsiteY36" fmla="*/ 1159349 h 6248341"/>
              <a:gd name="connsiteX37" fmla="*/ 2877664 w 12642772"/>
              <a:gd name="connsiteY37" fmla="*/ 1153429 h 6248341"/>
              <a:gd name="connsiteX38" fmla="*/ 2898982 w 12642772"/>
              <a:gd name="connsiteY38" fmla="*/ 1143332 h 6248341"/>
              <a:gd name="connsiteX39" fmla="*/ 2900154 w 12642772"/>
              <a:gd name="connsiteY39" fmla="*/ 1144257 h 6248341"/>
              <a:gd name="connsiteX40" fmla="*/ 2913224 w 12642772"/>
              <a:gd name="connsiteY40" fmla="*/ 1144530 h 6248341"/>
              <a:gd name="connsiteX41" fmla="*/ 2936660 w 12642772"/>
              <a:gd name="connsiteY41" fmla="*/ 1142412 h 6248341"/>
              <a:gd name="connsiteX42" fmla="*/ 2997572 w 12642772"/>
              <a:gd name="connsiteY42" fmla="*/ 1141831 h 6248341"/>
              <a:gd name="connsiteX43" fmla="*/ 3044472 w 12642772"/>
              <a:gd name="connsiteY43" fmla="*/ 1131369 h 6248341"/>
              <a:gd name="connsiteX44" fmla="*/ 3044790 w 12642772"/>
              <a:gd name="connsiteY44" fmla="*/ 1131569 h 6248341"/>
              <a:gd name="connsiteX45" fmla="*/ 3053469 w 12642772"/>
              <a:gd name="connsiteY45" fmla="*/ 1129009 h 6248341"/>
              <a:gd name="connsiteX46" fmla="*/ 3058924 w 12642772"/>
              <a:gd name="connsiteY46" fmla="*/ 1126056 h 6248341"/>
              <a:gd name="connsiteX47" fmla="*/ 3074299 w 12642772"/>
              <a:gd name="connsiteY47" fmla="*/ 1120405 h 6248341"/>
              <a:gd name="connsiteX48" fmla="*/ 3080657 w 12642772"/>
              <a:gd name="connsiteY48" fmla="*/ 1120171 h 6248341"/>
              <a:gd name="connsiteX49" fmla="*/ 3085901 w 12642772"/>
              <a:gd name="connsiteY49" fmla="*/ 1121681 h 6248341"/>
              <a:gd name="connsiteX50" fmla="*/ 3109448 w 12642772"/>
              <a:gd name="connsiteY50" fmla="*/ 1097576 h 6248341"/>
              <a:gd name="connsiteX51" fmla="*/ 3120280 w 12642772"/>
              <a:gd name="connsiteY51" fmla="*/ 1092673 h 6248341"/>
              <a:gd name="connsiteX52" fmla="*/ 3151969 w 12642772"/>
              <a:gd name="connsiteY52" fmla="*/ 1093148 h 6248341"/>
              <a:gd name="connsiteX53" fmla="*/ 3156202 w 12642772"/>
              <a:gd name="connsiteY53" fmla="*/ 1091941 h 6248341"/>
              <a:gd name="connsiteX54" fmla="*/ 3218578 w 12642772"/>
              <a:gd name="connsiteY54" fmla="*/ 1084695 h 6248341"/>
              <a:gd name="connsiteX55" fmla="*/ 3291572 w 12642772"/>
              <a:gd name="connsiteY55" fmla="*/ 1074108 h 6248341"/>
              <a:gd name="connsiteX56" fmla="*/ 3335322 w 12642772"/>
              <a:gd name="connsiteY56" fmla="*/ 1065344 h 6248341"/>
              <a:gd name="connsiteX57" fmla="*/ 3444471 w 12642772"/>
              <a:gd name="connsiteY57" fmla="*/ 1040037 h 6248341"/>
              <a:gd name="connsiteX58" fmla="*/ 3516736 w 12642772"/>
              <a:gd name="connsiteY58" fmla="*/ 1044495 h 6248341"/>
              <a:gd name="connsiteX59" fmla="*/ 3529913 w 12642772"/>
              <a:gd name="connsiteY59" fmla="*/ 1036395 h 6248341"/>
              <a:gd name="connsiteX60" fmla="*/ 3534215 w 12642772"/>
              <a:gd name="connsiteY60" fmla="*/ 1032644 h 6248341"/>
              <a:gd name="connsiteX61" fmla="*/ 3541901 w 12642772"/>
              <a:gd name="connsiteY61" fmla="*/ 1028655 h 6248341"/>
              <a:gd name="connsiteX62" fmla="*/ 3542297 w 12642772"/>
              <a:gd name="connsiteY62" fmla="*/ 1028781 h 6248341"/>
              <a:gd name="connsiteX63" fmla="*/ 3549091 w 12642772"/>
              <a:gd name="connsiteY63" fmla="*/ 1024603 h 6248341"/>
              <a:gd name="connsiteX64" fmla="*/ 3668564 w 12642772"/>
              <a:gd name="connsiteY64" fmla="*/ 992085 h 6248341"/>
              <a:gd name="connsiteX65" fmla="*/ 3681760 w 12642772"/>
              <a:gd name="connsiteY65" fmla="*/ 989897 h 6248341"/>
              <a:gd name="connsiteX66" fmla="*/ 3683298 w 12642772"/>
              <a:gd name="connsiteY66" fmla="*/ 990533 h 6248341"/>
              <a:gd name="connsiteX67" fmla="*/ 3701238 w 12642772"/>
              <a:gd name="connsiteY67" fmla="*/ 978370 h 6248341"/>
              <a:gd name="connsiteX68" fmla="*/ 3727029 w 12642772"/>
              <a:gd name="connsiteY68" fmla="*/ 982634 h 6248341"/>
              <a:gd name="connsiteX69" fmla="*/ 3827462 w 12642772"/>
              <a:gd name="connsiteY69" fmla="*/ 983777 h 6248341"/>
              <a:gd name="connsiteX70" fmla="*/ 3939255 w 12642772"/>
              <a:gd name="connsiteY70" fmla="*/ 962526 h 6248341"/>
              <a:gd name="connsiteX71" fmla="*/ 3976764 w 12642772"/>
              <a:gd name="connsiteY71" fmla="*/ 943975 h 6248341"/>
              <a:gd name="connsiteX72" fmla="*/ 4039745 w 12642772"/>
              <a:gd name="connsiteY72" fmla="*/ 913576 h 6248341"/>
              <a:gd name="connsiteX73" fmla="*/ 4081478 w 12642772"/>
              <a:gd name="connsiteY73" fmla="*/ 863744 h 6248341"/>
              <a:gd name="connsiteX74" fmla="*/ 4136255 w 12642772"/>
              <a:gd name="connsiteY74" fmla="*/ 849070 h 6248341"/>
              <a:gd name="connsiteX75" fmla="*/ 4155885 w 12642772"/>
              <a:gd name="connsiteY75" fmla="*/ 880724 h 6248341"/>
              <a:gd name="connsiteX76" fmla="*/ 4212239 w 12642772"/>
              <a:gd name="connsiteY76" fmla="*/ 853648 h 6248341"/>
              <a:gd name="connsiteX77" fmla="*/ 4296968 w 12642772"/>
              <a:gd name="connsiteY77" fmla="*/ 808725 h 6248341"/>
              <a:gd name="connsiteX78" fmla="*/ 4347619 w 12642772"/>
              <a:gd name="connsiteY78" fmla="*/ 791871 h 6248341"/>
              <a:gd name="connsiteX79" fmla="*/ 4484035 w 12642772"/>
              <a:gd name="connsiteY79" fmla="*/ 736001 h 6248341"/>
              <a:gd name="connsiteX80" fmla="*/ 4619194 w 12642772"/>
              <a:gd name="connsiteY80" fmla="*/ 672546 h 6248341"/>
              <a:gd name="connsiteX81" fmla="*/ 4648276 w 12642772"/>
              <a:gd name="connsiteY81" fmla="*/ 677255 h 6248341"/>
              <a:gd name="connsiteX82" fmla="*/ 4658535 w 12642772"/>
              <a:gd name="connsiteY82" fmla="*/ 658404 h 6248341"/>
              <a:gd name="connsiteX83" fmla="*/ 4684435 w 12642772"/>
              <a:gd name="connsiteY83" fmla="*/ 658040 h 6248341"/>
              <a:gd name="connsiteX84" fmla="*/ 4685966 w 12642772"/>
              <a:gd name="connsiteY84" fmla="*/ 659300 h 6248341"/>
              <a:gd name="connsiteX85" fmla="*/ 4773323 w 12642772"/>
              <a:gd name="connsiteY85" fmla="*/ 620033 h 6248341"/>
              <a:gd name="connsiteX86" fmla="*/ 4789881 w 12642772"/>
              <a:gd name="connsiteY86" fmla="*/ 612833 h 6248341"/>
              <a:gd name="connsiteX87" fmla="*/ 4793116 w 12642772"/>
              <a:gd name="connsiteY87" fmla="*/ 606807 h 6248341"/>
              <a:gd name="connsiteX88" fmla="*/ 4818294 w 12642772"/>
              <a:gd name="connsiteY88" fmla="*/ 598208 h 6248341"/>
              <a:gd name="connsiteX89" fmla="*/ 4889379 w 12642772"/>
              <a:gd name="connsiteY89" fmla="*/ 574856 h 6248341"/>
              <a:gd name="connsiteX90" fmla="*/ 4967000 w 12642772"/>
              <a:gd name="connsiteY90" fmla="*/ 563548 h 6248341"/>
              <a:gd name="connsiteX91" fmla="*/ 5011397 w 12642772"/>
              <a:gd name="connsiteY91" fmla="*/ 546508 h 6248341"/>
              <a:gd name="connsiteX92" fmla="*/ 5017511 w 12642772"/>
              <a:gd name="connsiteY92" fmla="*/ 542737 h 6248341"/>
              <a:gd name="connsiteX93" fmla="*/ 5022951 w 12642772"/>
              <a:gd name="connsiteY93" fmla="*/ 543578 h 6248341"/>
              <a:gd name="connsiteX94" fmla="*/ 5028686 w 12642772"/>
              <a:gd name="connsiteY94" fmla="*/ 550797 h 6248341"/>
              <a:gd name="connsiteX95" fmla="*/ 5055222 w 12642772"/>
              <a:gd name="connsiteY95" fmla="*/ 551685 h 6248341"/>
              <a:gd name="connsiteX96" fmla="*/ 5058043 w 12642772"/>
              <a:gd name="connsiteY96" fmla="*/ 549365 h 6248341"/>
              <a:gd name="connsiteX97" fmla="*/ 5080769 w 12642772"/>
              <a:gd name="connsiteY97" fmla="*/ 559110 h 6248341"/>
              <a:gd name="connsiteX98" fmla="*/ 5100831 w 12642772"/>
              <a:gd name="connsiteY98" fmla="*/ 578170 h 6248341"/>
              <a:gd name="connsiteX99" fmla="*/ 5323302 w 12642772"/>
              <a:gd name="connsiteY99" fmla="*/ 551607 h 6248341"/>
              <a:gd name="connsiteX100" fmla="*/ 5524173 w 12642772"/>
              <a:gd name="connsiteY100" fmla="*/ 623428 h 6248341"/>
              <a:gd name="connsiteX101" fmla="*/ 5644692 w 12642772"/>
              <a:gd name="connsiteY101" fmla="*/ 606574 h 6248341"/>
              <a:gd name="connsiteX102" fmla="*/ 5984259 w 12642772"/>
              <a:gd name="connsiteY102" fmla="*/ 559264 h 6248341"/>
              <a:gd name="connsiteX103" fmla="*/ 6059790 w 12642772"/>
              <a:gd name="connsiteY103" fmla="*/ 538457 h 6248341"/>
              <a:gd name="connsiteX104" fmla="*/ 6130495 w 12642772"/>
              <a:gd name="connsiteY104" fmla="*/ 565308 h 6248341"/>
              <a:gd name="connsiteX105" fmla="*/ 6157089 w 12642772"/>
              <a:gd name="connsiteY105" fmla="*/ 547229 h 6248341"/>
              <a:gd name="connsiteX106" fmla="*/ 6161628 w 12642772"/>
              <a:gd name="connsiteY106" fmla="*/ 543616 h 6248341"/>
              <a:gd name="connsiteX107" fmla="*/ 6180804 w 12642772"/>
              <a:gd name="connsiteY107" fmla="*/ 539939 h 6248341"/>
              <a:gd name="connsiteX108" fmla="*/ 6184951 w 12642772"/>
              <a:gd name="connsiteY108" fmla="*/ 525424 h 6248341"/>
              <a:gd name="connsiteX109" fmla="*/ 6212909 w 12642772"/>
              <a:gd name="connsiteY109" fmla="*/ 510232 h 6248341"/>
              <a:gd name="connsiteX110" fmla="*/ 6248556 w 12642772"/>
              <a:gd name="connsiteY110" fmla="*/ 507226 h 6248341"/>
              <a:gd name="connsiteX111" fmla="*/ 6419167 w 12642772"/>
              <a:gd name="connsiteY111" fmla="*/ 508015 h 6248341"/>
              <a:gd name="connsiteX112" fmla="*/ 6520553 w 12642772"/>
              <a:gd name="connsiteY112" fmla="*/ 499890 h 6248341"/>
              <a:gd name="connsiteX113" fmla="*/ 6557985 w 12642772"/>
              <a:gd name="connsiteY113" fmla="*/ 483298 h 6248341"/>
              <a:gd name="connsiteX114" fmla="*/ 6610986 w 12642772"/>
              <a:gd name="connsiteY114" fmla="*/ 469207 h 6248341"/>
              <a:gd name="connsiteX115" fmla="*/ 6703685 w 12642772"/>
              <a:gd name="connsiteY115" fmla="*/ 433885 h 6248341"/>
              <a:gd name="connsiteX116" fmla="*/ 6829686 w 12642772"/>
              <a:gd name="connsiteY116" fmla="*/ 404609 h 6248341"/>
              <a:gd name="connsiteX117" fmla="*/ 6926071 w 12642772"/>
              <a:gd name="connsiteY117" fmla="*/ 440952 h 6248341"/>
              <a:gd name="connsiteX118" fmla="*/ 6933459 w 12642772"/>
              <a:gd name="connsiteY118" fmla="*/ 430117 h 6248341"/>
              <a:gd name="connsiteX119" fmla="*/ 6997730 w 12642772"/>
              <a:gd name="connsiteY119" fmla="*/ 427075 h 6248341"/>
              <a:gd name="connsiteX120" fmla="*/ 7228068 w 12642772"/>
              <a:gd name="connsiteY120" fmla="*/ 485987 h 6248341"/>
              <a:gd name="connsiteX121" fmla="*/ 7353524 w 12642772"/>
              <a:gd name="connsiteY121" fmla="*/ 478122 h 6248341"/>
              <a:gd name="connsiteX122" fmla="*/ 7397216 w 12642772"/>
              <a:gd name="connsiteY122" fmla="*/ 464113 h 6248341"/>
              <a:gd name="connsiteX123" fmla="*/ 7470470 w 12642772"/>
              <a:gd name="connsiteY123" fmla="*/ 441338 h 6248341"/>
              <a:gd name="connsiteX124" fmla="*/ 7523162 w 12642772"/>
              <a:gd name="connsiteY124" fmla="*/ 396692 h 6248341"/>
              <a:gd name="connsiteX125" fmla="*/ 7585229 w 12642772"/>
              <a:gd name="connsiteY125" fmla="*/ 388596 h 6248341"/>
              <a:gd name="connsiteX126" fmla="*/ 7602312 w 12642772"/>
              <a:gd name="connsiteY126" fmla="*/ 422441 h 6248341"/>
              <a:gd name="connsiteX127" fmla="*/ 7667842 w 12642772"/>
              <a:gd name="connsiteY127" fmla="*/ 402184 h 6248341"/>
              <a:gd name="connsiteX128" fmla="*/ 7766955 w 12642772"/>
              <a:gd name="connsiteY128" fmla="*/ 367538 h 6248341"/>
              <a:gd name="connsiteX129" fmla="*/ 7824808 w 12642772"/>
              <a:gd name="connsiteY129" fmla="*/ 356782 h 6248341"/>
              <a:gd name="connsiteX130" fmla="*/ 7982082 w 12642772"/>
              <a:gd name="connsiteY130" fmla="*/ 317381 h 6248341"/>
              <a:gd name="connsiteX131" fmla="*/ 8139042 w 12642772"/>
              <a:gd name="connsiteY131" fmla="*/ 270278 h 6248341"/>
              <a:gd name="connsiteX132" fmla="*/ 8188479 w 12642772"/>
              <a:gd name="connsiteY132" fmla="*/ 250893 h 6248341"/>
              <a:gd name="connsiteX133" fmla="*/ 8197460 w 12642772"/>
              <a:gd name="connsiteY133" fmla="*/ 227412 h 6248341"/>
              <a:gd name="connsiteX134" fmla="*/ 8236543 w 12642772"/>
              <a:gd name="connsiteY134" fmla="*/ 231896 h 6248341"/>
              <a:gd name="connsiteX135" fmla="*/ 8288656 w 12642772"/>
              <a:gd name="connsiteY135" fmla="*/ 233518 h 6248341"/>
              <a:gd name="connsiteX136" fmla="*/ 8365194 w 12642772"/>
              <a:gd name="connsiteY136" fmla="*/ 255354 h 6248341"/>
              <a:gd name="connsiteX137" fmla="*/ 8371093 w 12642772"/>
              <a:gd name="connsiteY137" fmla="*/ 253056 h 6248341"/>
              <a:gd name="connsiteX138" fmla="*/ 8380079 w 12642772"/>
              <a:gd name="connsiteY138" fmla="*/ 251533 h 6248341"/>
              <a:gd name="connsiteX139" fmla="*/ 8380352 w 12642772"/>
              <a:gd name="connsiteY139" fmla="*/ 251771 h 6248341"/>
              <a:gd name="connsiteX140" fmla="*/ 8388670 w 12642772"/>
              <a:gd name="connsiteY140" fmla="*/ 249803 h 6248341"/>
              <a:gd name="connsiteX141" fmla="*/ 8439400 w 12642772"/>
              <a:gd name="connsiteY141" fmla="*/ 252189 h 6248341"/>
              <a:gd name="connsiteX142" fmla="*/ 8502127 w 12642772"/>
              <a:gd name="connsiteY142" fmla="*/ 246524 h 6248341"/>
              <a:gd name="connsiteX143" fmla="*/ 8575600 w 12642772"/>
              <a:gd name="connsiteY143" fmla="*/ 247912 h 6248341"/>
              <a:gd name="connsiteX144" fmla="*/ 8609423 w 12642772"/>
              <a:gd name="connsiteY144" fmla="*/ 225288 h 6248341"/>
              <a:gd name="connsiteX145" fmla="*/ 8628794 w 12642772"/>
              <a:gd name="connsiteY145" fmla="*/ 220632 h 6248341"/>
              <a:gd name="connsiteX146" fmla="*/ 8631243 w 12642772"/>
              <a:gd name="connsiteY146" fmla="*/ 221270 h 6248341"/>
              <a:gd name="connsiteX147" fmla="*/ 8708752 w 12642772"/>
              <a:gd name="connsiteY147" fmla="*/ 203517 h 6248341"/>
              <a:gd name="connsiteX148" fmla="*/ 8825952 w 12642772"/>
              <a:gd name="connsiteY148" fmla="*/ 177822 h 6248341"/>
              <a:gd name="connsiteX149" fmla="*/ 8862166 w 12642772"/>
              <a:gd name="connsiteY149" fmla="*/ 170735 h 6248341"/>
              <a:gd name="connsiteX150" fmla="*/ 8884490 w 12642772"/>
              <a:gd name="connsiteY150" fmla="*/ 165616 h 6248341"/>
              <a:gd name="connsiteX151" fmla="*/ 8918298 w 12642772"/>
              <a:gd name="connsiteY151" fmla="*/ 194546 h 6248341"/>
              <a:gd name="connsiteX152" fmla="*/ 8948572 w 12642772"/>
              <a:gd name="connsiteY152" fmla="*/ 207940 h 6248341"/>
              <a:gd name="connsiteX153" fmla="*/ 9104724 w 12642772"/>
              <a:gd name="connsiteY153" fmla="*/ 178319 h 6248341"/>
              <a:gd name="connsiteX154" fmla="*/ 9198328 w 12642772"/>
              <a:gd name="connsiteY154" fmla="*/ 159122 h 6248341"/>
              <a:gd name="connsiteX155" fmla="*/ 9339412 w 12642772"/>
              <a:gd name="connsiteY155" fmla="*/ 203422 h 6248341"/>
              <a:gd name="connsiteX156" fmla="*/ 9409165 w 12642772"/>
              <a:gd name="connsiteY156" fmla="*/ 216989 h 6248341"/>
              <a:gd name="connsiteX157" fmla="*/ 9516379 w 12642772"/>
              <a:gd name="connsiteY157" fmla="*/ 220757 h 6248341"/>
              <a:gd name="connsiteX158" fmla="*/ 9615958 w 12642772"/>
              <a:gd name="connsiteY158" fmla="*/ 196389 h 6248341"/>
              <a:gd name="connsiteX159" fmla="*/ 9860346 w 12642772"/>
              <a:gd name="connsiteY159" fmla="*/ 177067 h 6248341"/>
              <a:gd name="connsiteX160" fmla="*/ 10071193 w 12642772"/>
              <a:gd name="connsiteY160" fmla="*/ 142345 h 6248341"/>
              <a:gd name="connsiteX161" fmla="*/ 10270876 w 12642772"/>
              <a:gd name="connsiteY161" fmla="*/ 164464 h 6248341"/>
              <a:gd name="connsiteX162" fmla="*/ 10338607 w 12642772"/>
              <a:gd name="connsiteY162" fmla="*/ 202846 h 6248341"/>
              <a:gd name="connsiteX163" fmla="*/ 10370927 w 12642772"/>
              <a:gd name="connsiteY163" fmla="*/ 198630 h 6248341"/>
              <a:gd name="connsiteX164" fmla="*/ 10423650 w 12642772"/>
              <a:gd name="connsiteY164" fmla="*/ 187033 h 6248341"/>
              <a:gd name="connsiteX165" fmla="*/ 10507238 w 12642772"/>
              <a:gd name="connsiteY165" fmla="*/ 199359 h 6248341"/>
              <a:gd name="connsiteX166" fmla="*/ 10712234 w 12642772"/>
              <a:gd name="connsiteY166" fmla="*/ 202150 h 6248341"/>
              <a:gd name="connsiteX167" fmla="*/ 10955598 w 12642772"/>
              <a:gd name="connsiteY167" fmla="*/ 236823 h 6248341"/>
              <a:gd name="connsiteX168" fmla="*/ 11210395 w 12642772"/>
              <a:gd name="connsiteY168" fmla="*/ 197924 h 6248341"/>
              <a:gd name="connsiteX169" fmla="*/ 11355556 w 12642772"/>
              <a:gd name="connsiteY169" fmla="*/ 131371 h 6248341"/>
              <a:gd name="connsiteX170" fmla="*/ 11531644 w 12642772"/>
              <a:gd name="connsiteY170" fmla="*/ 99364 h 6248341"/>
              <a:gd name="connsiteX171" fmla="*/ 11719114 w 12642772"/>
              <a:gd name="connsiteY171" fmla="*/ 62439 h 6248341"/>
              <a:gd name="connsiteX172" fmla="*/ 11814686 w 12642772"/>
              <a:gd name="connsiteY172" fmla="*/ 38458 h 6248341"/>
              <a:gd name="connsiteX173" fmla="*/ 11865687 w 12642772"/>
              <a:gd name="connsiteY173" fmla="*/ 10088 h 6248341"/>
              <a:gd name="connsiteX174" fmla="*/ 11957454 w 12642772"/>
              <a:gd name="connsiteY174" fmla="*/ 4020 h 6248341"/>
              <a:gd name="connsiteX175" fmla="*/ 11975060 w 12642772"/>
              <a:gd name="connsiteY175" fmla="*/ 0 h 6248341"/>
              <a:gd name="connsiteX176" fmla="*/ 12006839 w 12642772"/>
              <a:gd name="connsiteY176" fmla="*/ 210943 h 6248341"/>
              <a:gd name="connsiteX177" fmla="*/ 12642772 w 12642772"/>
              <a:gd name="connsiteY177" fmla="*/ 4432052 h 6248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12642772" h="6248341">
                <a:moveTo>
                  <a:pt x="12642772" y="4432052"/>
                </a:moveTo>
                <a:lnTo>
                  <a:pt x="586822" y="6248341"/>
                </a:lnTo>
                <a:cubicBezTo>
                  <a:pt x="413471" y="5111477"/>
                  <a:pt x="173350" y="3531407"/>
                  <a:pt x="0" y="2394542"/>
                </a:cubicBezTo>
                <a:lnTo>
                  <a:pt x="52893" y="2306669"/>
                </a:lnTo>
                <a:cubicBezTo>
                  <a:pt x="67266" y="2306793"/>
                  <a:pt x="118504" y="2297204"/>
                  <a:pt x="131535" y="2293621"/>
                </a:cubicBezTo>
                <a:cubicBezTo>
                  <a:pt x="235982" y="2302858"/>
                  <a:pt x="197087" y="2291745"/>
                  <a:pt x="244153" y="2272261"/>
                </a:cubicBezTo>
                <a:cubicBezTo>
                  <a:pt x="288465" y="2263813"/>
                  <a:pt x="287831" y="2252199"/>
                  <a:pt x="324401" y="2233208"/>
                </a:cubicBezTo>
                <a:lnTo>
                  <a:pt x="463569" y="2158308"/>
                </a:lnTo>
                <a:cubicBezTo>
                  <a:pt x="506591" y="2135434"/>
                  <a:pt x="546976" y="2145326"/>
                  <a:pt x="582537" y="2095961"/>
                </a:cubicBezTo>
                <a:lnTo>
                  <a:pt x="638937" y="2008169"/>
                </a:lnTo>
                <a:cubicBezTo>
                  <a:pt x="686285" y="1999141"/>
                  <a:pt x="708248" y="1959382"/>
                  <a:pt x="749855" y="1936088"/>
                </a:cubicBezTo>
                <a:cubicBezTo>
                  <a:pt x="791527" y="1909991"/>
                  <a:pt x="819909" y="1906478"/>
                  <a:pt x="856553" y="1892728"/>
                </a:cubicBezTo>
                <a:cubicBezTo>
                  <a:pt x="872688" y="1896553"/>
                  <a:pt x="926797" y="1876988"/>
                  <a:pt x="939338" y="1863906"/>
                </a:cubicBezTo>
                <a:cubicBezTo>
                  <a:pt x="981108" y="1859053"/>
                  <a:pt x="963180" y="1865189"/>
                  <a:pt x="987836" y="1848470"/>
                </a:cubicBezTo>
                <a:cubicBezTo>
                  <a:pt x="1023003" y="1873965"/>
                  <a:pt x="1058671" y="1841751"/>
                  <a:pt x="1086094" y="1834336"/>
                </a:cubicBezTo>
                <a:cubicBezTo>
                  <a:pt x="1102835" y="1828051"/>
                  <a:pt x="1139360" y="1818268"/>
                  <a:pt x="1155607" y="1814299"/>
                </a:cubicBezTo>
                <a:cubicBezTo>
                  <a:pt x="1183758" y="1810365"/>
                  <a:pt x="1218373" y="1759163"/>
                  <a:pt x="1219621" y="1774472"/>
                </a:cubicBezTo>
                <a:cubicBezTo>
                  <a:pt x="1242899" y="1773567"/>
                  <a:pt x="1244829" y="1741322"/>
                  <a:pt x="1275113" y="1734756"/>
                </a:cubicBezTo>
                <a:cubicBezTo>
                  <a:pt x="1334421" y="1687737"/>
                  <a:pt x="1295937" y="1706696"/>
                  <a:pt x="1337800" y="1684579"/>
                </a:cubicBezTo>
                <a:cubicBezTo>
                  <a:pt x="1379663" y="1662462"/>
                  <a:pt x="1466954" y="1627202"/>
                  <a:pt x="1526287" y="1602057"/>
                </a:cubicBezTo>
                <a:cubicBezTo>
                  <a:pt x="1553390" y="1592996"/>
                  <a:pt x="1540999" y="1570289"/>
                  <a:pt x="1579126" y="1559561"/>
                </a:cubicBezTo>
                <a:cubicBezTo>
                  <a:pt x="1602892" y="1557552"/>
                  <a:pt x="1622220" y="1540740"/>
                  <a:pt x="1651242" y="1546569"/>
                </a:cubicBezTo>
                <a:cubicBezTo>
                  <a:pt x="1661191" y="1549244"/>
                  <a:pt x="1688001" y="1544372"/>
                  <a:pt x="1712038" y="1533432"/>
                </a:cubicBezTo>
                <a:cubicBezTo>
                  <a:pt x="1722220" y="1540383"/>
                  <a:pt x="1747544" y="1527611"/>
                  <a:pt x="1758402" y="1525816"/>
                </a:cubicBezTo>
                <a:cubicBezTo>
                  <a:pt x="1772533" y="1530625"/>
                  <a:pt x="1819420" y="1514186"/>
                  <a:pt x="1831776" y="1504679"/>
                </a:cubicBezTo>
                <a:lnTo>
                  <a:pt x="1963032" y="1472999"/>
                </a:lnTo>
                <a:lnTo>
                  <a:pt x="2006520" y="1464281"/>
                </a:lnTo>
                <a:cubicBezTo>
                  <a:pt x="2014344" y="1465241"/>
                  <a:pt x="2041522" y="1459774"/>
                  <a:pt x="2049195" y="1459572"/>
                </a:cubicBezTo>
                <a:cubicBezTo>
                  <a:pt x="2087954" y="1443290"/>
                  <a:pt x="2101777" y="1440700"/>
                  <a:pt x="2125117" y="1432093"/>
                </a:cubicBezTo>
                <a:cubicBezTo>
                  <a:pt x="2165647" y="1425840"/>
                  <a:pt x="2196015" y="1424572"/>
                  <a:pt x="2234987" y="1408543"/>
                </a:cubicBezTo>
                <a:lnTo>
                  <a:pt x="2349979" y="1370325"/>
                </a:lnTo>
                <a:cubicBezTo>
                  <a:pt x="2404061" y="1372089"/>
                  <a:pt x="2474940" y="1352732"/>
                  <a:pt x="2490342" y="1337371"/>
                </a:cubicBezTo>
                <a:cubicBezTo>
                  <a:pt x="2552946" y="1313179"/>
                  <a:pt x="2651266" y="1271354"/>
                  <a:pt x="2721983" y="1255221"/>
                </a:cubicBezTo>
                <a:lnTo>
                  <a:pt x="2740778" y="1232389"/>
                </a:lnTo>
                <a:lnTo>
                  <a:pt x="2772006" y="1218123"/>
                </a:lnTo>
                <a:cubicBezTo>
                  <a:pt x="2798565" y="1204582"/>
                  <a:pt x="2824316" y="1189775"/>
                  <a:pt x="2850754" y="1180094"/>
                </a:cubicBezTo>
                <a:cubicBezTo>
                  <a:pt x="2858486" y="1174495"/>
                  <a:pt x="2865479" y="1167162"/>
                  <a:pt x="2872381" y="1159349"/>
                </a:cubicBezTo>
                <a:lnTo>
                  <a:pt x="2877664" y="1153429"/>
                </a:lnTo>
                <a:lnTo>
                  <a:pt x="2898982" y="1143332"/>
                </a:lnTo>
                <a:lnTo>
                  <a:pt x="2900154" y="1144257"/>
                </a:lnTo>
                <a:cubicBezTo>
                  <a:pt x="2903604" y="1145940"/>
                  <a:pt x="2907687" y="1146454"/>
                  <a:pt x="2913224" y="1144530"/>
                </a:cubicBezTo>
                <a:cubicBezTo>
                  <a:pt x="2914663" y="1164458"/>
                  <a:pt x="2920456" y="1149846"/>
                  <a:pt x="2936660" y="1142412"/>
                </a:cubicBezTo>
                <a:cubicBezTo>
                  <a:pt x="2942509" y="1171704"/>
                  <a:pt x="2981016" y="1130300"/>
                  <a:pt x="2997572" y="1141831"/>
                </a:cubicBezTo>
                <a:lnTo>
                  <a:pt x="3044472" y="1131369"/>
                </a:lnTo>
                <a:lnTo>
                  <a:pt x="3044790" y="1131569"/>
                </a:lnTo>
                <a:cubicBezTo>
                  <a:pt x="3046855" y="1131486"/>
                  <a:pt x="3049590" y="1130734"/>
                  <a:pt x="3053469" y="1129009"/>
                </a:cubicBezTo>
                <a:lnTo>
                  <a:pt x="3058924" y="1126056"/>
                </a:lnTo>
                <a:lnTo>
                  <a:pt x="3074299" y="1120405"/>
                </a:lnTo>
                <a:lnTo>
                  <a:pt x="3080657" y="1120171"/>
                </a:lnTo>
                <a:lnTo>
                  <a:pt x="3085901" y="1121681"/>
                </a:lnTo>
                <a:cubicBezTo>
                  <a:pt x="3089424" y="1117040"/>
                  <a:pt x="3098046" y="1105705"/>
                  <a:pt x="3109448" y="1097576"/>
                </a:cubicBezTo>
                <a:lnTo>
                  <a:pt x="3120280" y="1092673"/>
                </a:lnTo>
                <a:lnTo>
                  <a:pt x="3151969" y="1093148"/>
                </a:lnTo>
                <a:lnTo>
                  <a:pt x="3156202" y="1091941"/>
                </a:lnTo>
                <a:lnTo>
                  <a:pt x="3218578" y="1084695"/>
                </a:lnTo>
                <a:cubicBezTo>
                  <a:pt x="3245764" y="1081888"/>
                  <a:pt x="3273631" y="1078650"/>
                  <a:pt x="3291572" y="1074108"/>
                </a:cubicBezTo>
                <a:cubicBezTo>
                  <a:pt x="3322176" y="1058413"/>
                  <a:pt x="3296217" y="1076449"/>
                  <a:pt x="3335322" y="1065344"/>
                </a:cubicBezTo>
                <a:cubicBezTo>
                  <a:pt x="3368156" y="1040199"/>
                  <a:pt x="3402741" y="1051987"/>
                  <a:pt x="3444471" y="1040037"/>
                </a:cubicBezTo>
                <a:lnTo>
                  <a:pt x="3516736" y="1044495"/>
                </a:lnTo>
                <a:lnTo>
                  <a:pt x="3529913" y="1036395"/>
                </a:lnTo>
                <a:lnTo>
                  <a:pt x="3534215" y="1032644"/>
                </a:lnTo>
                <a:cubicBezTo>
                  <a:pt x="3537422" y="1030324"/>
                  <a:pt x="3539868" y="1029116"/>
                  <a:pt x="3541901" y="1028655"/>
                </a:cubicBezTo>
                <a:lnTo>
                  <a:pt x="3542297" y="1028781"/>
                </a:lnTo>
                <a:lnTo>
                  <a:pt x="3549091" y="1024603"/>
                </a:lnTo>
                <a:lnTo>
                  <a:pt x="3668564" y="992085"/>
                </a:lnTo>
                <a:cubicBezTo>
                  <a:pt x="3673354" y="989271"/>
                  <a:pt x="3677647" y="988983"/>
                  <a:pt x="3681760" y="989897"/>
                </a:cubicBezTo>
                <a:lnTo>
                  <a:pt x="3683298" y="990533"/>
                </a:lnTo>
                <a:lnTo>
                  <a:pt x="3701238" y="978370"/>
                </a:lnTo>
                <a:lnTo>
                  <a:pt x="3727029" y="982634"/>
                </a:lnTo>
                <a:cubicBezTo>
                  <a:pt x="3762166" y="985324"/>
                  <a:pt x="3795029" y="982802"/>
                  <a:pt x="3827462" y="983777"/>
                </a:cubicBezTo>
                <a:cubicBezTo>
                  <a:pt x="3899741" y="979875"/>
                  <a:pt x="3841175" y="923865"/>
                  <a:pt x="3939255" y="962526"/>
                </a:cubicBezTo>
                <a:cubicBezTo>
                  <a:pt x="3944820" y="939198"/>
                  <a:pt x="3955882" y="936428"/>
                  <a:pt x="3976764" y="943975"/>
                </a:cubicBezTo>
                <a:cubicBezTo>
                  <a:pt x="4011587" y="940445"/>
                  <a:pt x="3998825" y="885884"/>
                  <a:pt x="4039745" y="913576"/>
                </a:cubicBezTo>
                <a:cubicBezTo>
                  <a:pt x="4028069" y="885008"/>
                  <a:pt x="4103064" y="891976"/>
                  <a:pt x="4081478" y="863744"/>
                </a:cubicBezTo>
                <a:cubicBezTo>
                  <a:pt x="4098995" y="833348"/>
                  <a:pt x="4118253" y="875924"/>
                  <a:pt x="4136255" y="849070"/>
                </a:cubicBezTo>
                <a:cubicBezTo>
                  <a:pt x="4160412" y="839702"/>
                  <a:pt x="4127630" y="882883"/>
                  <a:pt x="4155885" y="880724"/>
                </a:cubicBezTo>
                <a:cubicBezTo>
                  <a:pt x="4189159" y="872776"/>
                  <a:pt x="4199073" y="926940"/>
                  <a:pt x="4212239" y="853648"/>
                </a:cubicBezTo>
                <a:cubicBezTo>
                  <a:pt x="4250628" y="864621"/>
                  <a:pt x="4251711" y="832443"/>
                  <a:pt x="4296968" y="808725"/>
                </a:cubicBezTo>
                <a:cubicBezTo>
                  <a:pt x="4320354" y="822560"/>
                  <a:pt x="4334944" y="811306"/>
                  <a:pt x="4347619" y="791871"/>
                </a:cubicBezTo>
                <a:cubicBezTo>
                  <a:pt x="4395320" y="788176"/>
                  <a:pt x="4433289" y="755394"/>
                  <a:pt x="4484035" y="736001"/>
                </a:cubicBezTo>
                <a:cubicBezTo>
                  <a:pt x="4544675" y="745654"/>
                  <a:pt x="4564925" y="693074"/>
                  <a:pt x="4619194" y="672546"/>
                </a:cubicBezTo>
                <a:cubicBezTo>
                  <a:pt x="4633191" y="680042"/>
                  <a:pt x="4642217" y="680768"/>
                  <a:pt x="4648276" y="677255"/>
                </a:cubicBezTo>
                <a:lnTo>
                  <a:pt x="4658535" y="658404"/>
                </a:lnTo>
                <a:lnTo>
                  <a:pt x="4684435" y="658040"/>
                </a:lnTo>
                <a:lnTo>
                  <a:pt x="4685966" y="659300"/>
                </a:lnTo>
                <a:lnTo>
                  <a:pt x="4773323" y="620033"/>
                </a:lnTo>
                <a:lnTo>
                  <a:pt x="4789881" y="612833"/>
                </a:lnTo>
                <a:lnTo>
                  <a:pt x="4793116" y="606807"/>
                </a:lnTo>
                <a:cubicBezTo>
                  <a:pt x="4797413" y="602517"/>
                  <a:pt x="4804603" y="599222"/>
                  <a:pt x="4818294" y="598208"/>
                </a:cubicBezTo>
                <a:lnTo>
                  <a:pt x="4889379" y="574856"/>
                </a:lnTo>
                <a:cubicBezTo>
                  <a:pt x="4924646" y="568531"/>
                  <a:pt x="4935327" y="565911"/>
                  <a:pt x="4967000" y="563548"/>
                </a:cubicBezTo>
                <a:cubicBezTo>
                  <a:pt x="4986586" y="557770"/>
                  <a:pt x="5000668" y="551967"/>
                  <a:pt x="5011397" y="546508"/>
                </a:cubicBezTo>
                <a:lnTo>
                  <a:pt x="5017511" y="542737"/>
                </a:lnTo>
                <a:lnTo>
                  <a:pt x="5022951" y="543578"/>
                </a:lnTo>
                <a:lnTo>
                  <a:pt x="5028686" y="550797"/>
                </a:lnTo>
                <a:cubicBezTo>
                  <a:pt x="5034551" y="555023"/>
                  <a:pt x="5042525" y="556487"/>
                  <a:pt x="5055222" y="551685"/>
                </a:cubicBezTo>
                <a:lnTo>
                  <a:pt x="5058043" y="549365"/>
                </a:lnTo>
                <a:lnTo>
                  <a:pt x="5080769" y="559110"/>
                </a:lnTo>
                <a:cubicBezTo>
                  <a:pt x="5088231" y="563815"/>
                  <a:pt x="5095030" y="569979"/>
                  <a:pt x="5100831" y="578170"/>
                </a:cubicBezTo>
                <a:cubicBezTo>
                  <a:pt x="5170380" y="527737"/>
                  <a:pt x="5243922" y="564793"/>
                  <a:pt x="5323302" y="551607"/>
                </a:cubicBezTo>
                <a:cubicBezTo>
                  <a:pt x="5351315" y="478451"/>
                  <a:pt x="5497865" y="556036"/>
                  <a:pt x="5524173" y="623428"/>
                </a:cubicBezTo>
                <a:cubicBezTo>
                  <a:pt x="5517268" y="543117"/>
                  <a:pt x="5711665" y="703794"/>
                  <a:pt x="5644692" y="606574"/>
                </a:cubicBezTo>
                <a:lnTo>
                  <a:pt x="5984259" y="559264"/>
                </a:lnTo>
                <a:cubicBezTo>
                  <a:pt x="6030154" y="495862"/>
                  <a:pt x="6007425" y="553220"/>
                  <a:pt x="6059790" y="538457"/>
                </a:cubicBezTo>
                <a:cubicBezTo>
                  <a:pt x="6050344" y="594649"/>
                  <a:pt x="6121744" y="503179"/>
                  <a:pt x="6130495" y="565308"/>
                </a:cubicBezTo>
                <a:cubicBezTo>
                  <a:pt x="6139748" y="560655"/>
                  <a:pt x="6148435" y="554186"/>
                  <a:pt x="6157089" y="547229"/>
                </a:cubicBezTo>
                <a:lnTo>
                  <a:pt x="6161628" y="543616"/>
                </a:lnTo>
                <a:lnTo>
                  <a:pt x="6180804" y="539939"/>
                </a:lnTo>
                <a:lnTo>
                  <a:pt x="6184951" y="525424"/>
                </a:lnTo>
                <a:lnTo>
                  <a:pt x="6212909" y="510232"/>
                </a:lnTo>
                <a:cubicBezTo>
                  <a:pt x="6223574" y="506625"/>
                  <a:pt x="6235279" y="505181"/>
                  <a:pt x="6248556" y="507226"/>
                </a:cubicBezTo>
                <a:cubicBezTo>
                  <a:pt x="6294288" y="537334"/>
                  <a:pt x="6362573" y="467613"/>
                  <a:pt x="6419167" y="508015"/>
                </a:cubicBezTo>
                <a:cubicBezTo>
                  <a:pt x="6440234" y="517921"/>
                  <a:pt x="6506991" y="518278"/>
                  <a:pt x="6520553" y="499890"/>
                </a:cubicBezTo>
                <a:cubicBezTo>
                  <a:pt x="6534665" y="496161"/>
                  <a:pt x="6550555" y="503153"/>
                  <a:pt x="6557985" y="483298"/>
                </a:cubicBezTo>
                <a:cubicBezTo>
                  <a:pt x="6569810" y="459469"/>
                  <a:pt x="6616472" y="497766"/>
                  <a:pt x="6610986" y="469207"/>
                </a:cubicBezTo>
                <a:cubicBezTo>
                  <a:pt x="6644167" y="495476"/>
                  <a:pt x="6674091" y="445680"/>
                  <a:pt x="6703685" y="433885"/>
                </a:cubicBezTo>
                <a:cubicBezTo>
                  <a:pt x="6729555" y="459786"/>
                  <a:pt x="6766135" y="409500"/>
                  <a:pt x="6829686" y="404609"/>
                </a:cubicBezTo>
                <a:cubicBezTo>
                  <a:pt x="6858065" y="434525"/>
                  <a:pt x="6872501" y="400914"/>
                  <a:pt x="6926071" y="440952"/>
                </a:cubicBezTo>
                <a:cubicBezTo>
                  <a:pt x="6928018" y="437011"/>
                  <a:pt x="6930506" y="433362"/>
                  <a:pt x="6933459" y="430117"/>
                </a:cubicBezTo>
                <a:cubicBezTo>
                  <a:pt x="6950612" y="411270"/>
                  <a:pt x="6979388" y="409908"/>
                  <a:pt x="6997730" y="427075"/>
                </a:cubicBezTo>
                <a:cubicBezTo>
                  <a:pt x="7082631" y="480403"/>
                  <a:pt x="7157271" y="476334"/>
                  <a:pt x="7228068" y="485987"/>
                </a:cubicBezTo>
                <a:cubicBezTo>
                  <a:pt x="7307806" y="490694"/>
                  <a:pt x="7251469" y="427974"/>
                  <a:pt x="7353524" y="478122"/>
                </a:cubicBezTo>
                <a:cubicBezTo>
                  <a:pt x="7362883" y="455559"/>
                  <a:pt x="7375392" y="454116"/>
                  <a:pt x="7397216" y="464113"/>
                </a:cubicBezTo>
                <a:cubicBezTo>
                  <a:pt x="7435863" y="464738"/>
                  <a:pt x="7429507" y="408907"/>
                  <a:pt x="7470470" y="441338"/>
                </a:cubicBezTo>
                <a:cubicBezTo>
                  <a:pt x="7461672" y="411511"/>
                  <a:pt x="7542865" y="427363"/>
                  <a:pt x="7523162" y="396692"/>
                </a:cubicBezTo>
                <a:cubicBezTo>
                  <a:pt x="7546603" y="368516"/>
                  <a:pt x="7561752" y="413189"/>
                  <a:pt x="7585229" y="388596"/>
                </a:cubicBezTo>
                <a:cubicBezTo>
                  <a:pt x="7613007" y="382141"/>
                  <a:pt x="7571052" y="421230"/>
                  <a:pt x="7602312" y="422441"/>
                </a:cubicBezTo>
                <a:cubicBezTo>
                  <a:pt x="7639880" y="418484"/>
                  <a:pt x="7643170" y="473582"/>
                  <a:pt x="7667842" y="402184"/>
                </a:cubicBezTo>
                <a:cubicBezTo>
                  <a:pt x="7708368" y="417673"/>
                  <a:pt x="7714055" y="385770"/>
                  <a:pt x="7766955" y="367538"/>
                </a:cubicBezTo>
                <a:cubicBezTo>
                  <a:pt x="7790642" y="384091"/>
                  <a:pt x="7808202" y="374622"/>
                  <a:pt x="7824808" y="356782"/>
                </a:cubicBezTo>
                <a:cubicBezTo>
                  <a:pt x="7877588" y="358773"/>
                  <a:pt x="7923771" y="330652"/>
                  <a:pt x="7982082" y="317381"/>
                </a:cubicBezTo>
                <a:cubicBezTo>
                  <a:pt x="8047173" y="334199"/>
                  <a:pt x="8076711" y="284263"/>
                  <a:pt x="8139042" y="270278"/>
                </a:cubicBezTo>
                <a:cubicBezTo>
                  <a:pt x="8171699" y="291139"/>
                  <a:pt x="8180849" y="273703"/>
                  <a:pt x="8188479" y="250893"/>
                </a:cubicBezTo>
                <a:lnTo>
                  <a:pt x="8197460" y="227412"/>
                </a:lnTo>
                <a:lnTo>
                  <a:pt x="8236543" y="231896"/>
                </a:lnTo>
                <a:cubicBezTo>
                  <a:pt x="8252245" y="232878"/>
                  <a:pt x="8267047" y="233030"/>
                  <a:pt x="8288656" y="233518"/>
                </a:cubicBezTo>
                <a:lnTo>
                  <a:pt x="8365194" y="255354"/>
                </a:lnTo>
                <a:lnTo>
                  <a:pt x="8371093" y="253056"/>
                </a:lnTo>
                <a:cubicBezTo>
                  <a:pt x="8375220" y="251794"/>
                  <a:pt x="8378040" y="251369"/>
                  <a:pt x="8380079" y="251533"/>
                </a:cubicBezTo>
                <a:lnTo>
                  <a:pt x="8380352" y="251771"/>
                </a:lnTo>
                <a:lnTo>
                  <a:pt x="8388670" y="249803"/>
                </a:lnTo>
                <a:cubicBezTo>
                  <a:pt x="8402579" y="245856"/>
                  <a:pt x="8426713" y="256901"/>
                  <a:pt x="8439400" y="252189"/>
                </a:cubicBezTo>
                <a:cubicBezTo>
                  <a:pt x="8461985" y="253229"/>
                  <a:pt x="8486049" y="243125"/>
                  <a:pt x="8502127" y="246524"/>
                </a:cubicBezTo>
                <a:lnTo>
                  <a:pt x="8575600" y="247912"/>
                </a:lnTo>
                <a:lnTo>
                  <a:pt x="8609423" y="225288"/>
                </a:lnTo>
                <a:cubicBezTo>
                  <a:pt x="8613054" y="222366"/>
                  <a:pt x="8618682" y="220403"/>
                  <a:pt x="8628794" y="220632"/>
                </a:cubicBezTo>
                <a:lnTo>
                  <a:pt x="8631243" y="221270"/>
                </a:lnTo>
                <a:cubicBezTo>
                  <a:pt x="8636121" y="217981"/>
                  <a:pt x="8676301" y="210759"/>
                  <a:pt x="8708752" y="203517"/>
                </a:cubicBezTo>
                <a:cubicBezTo>
                  <a:pt x="8760405" y="193315"/>
                  <a:pt x="8765450" y="184312"/>
                  <a:pt x="8825952" y="177822"/>
                </a:cubicBezTo>
                <a:cubicBezTo>
                  <a:pt x="8840694" y="175283"/>
                  <a:pt x="8852337" y="172902"/>
                  <a:pt x="8862166" y="170735"/>
                </a:cubicBezTo>
                <a:lnTo>
                  <a:pt x="8884490" y="165616"/>
                </a:lnTo>
                <a:lnTo>
                  <a:pt x="8918298" y="194546"/>
                </a:lnTo>
                <a:cubicBezTo>
                  <a:pt x="8929331" y="203143"/>
                  <a:pt x="8939711" y="209096"/>
                  <a:pt x="8948572" y="207940"/>
                </a:cubicBezTo>
                <a:cubicBezTo>
                  <a:pt x="9007398" y="191013"/>
                  <a:pt x="9066382" y="123071"/>
                  <a:pt x="9104724" y="178319"/>
                </a:cubicBezTo>
                <a:cubicBezTo>
                  <a:pt x="9146350" y="170182"/>
                  <a:pt x="9159213" y="154939"/>
                  <a:pt x="9198328" y="159122"/>
                </a:cubicBezTo>
                <a:cubicBezTo>
                  <a:pt x="9243361" y="178179"/>
                  <a:pt x="9337410" y="133426"/>
                  <a:pt x="9339412" y="203422"/>
                </a:cubicBezTo>
                <a:cubicBezTo>
                  <a:pt x="9356193" y="242785"/>
                  <a:pt x="9404145" y="172882"/>
                  <a:pt x="9409165" y="216989"/>
                </a:cubicBezTo>
                <a:cubicBezTo>
                  <a:pt x="9430000" y="185563"/>
                  <a:pt x="9477391" y="226977"/>
                  <a:pt x="9516379" y="220757"/>
                </a:cubicBezTo>
                <a:cubicBezTo>
                  <a:pt x="9525989" y="239713"/>
                  <a:pt x="9601557" y="209033"/>
                  <a:pt x="9615958" y="196389"/>
                </a:cubicBezTo>
                <a:cubicBezTo>
                  <a:pt x="9740300" y="170539"/>
                  <a:pt x="9758977" y="138949"/>
                  <a:pt x="9860346" y="177067"/>
                </a:cubicBezTo>
                <a:cubicBezTo>
                  <a:pt x="9889677" y="171165"/>
                  <a:pt x="10006630" y="193672"/>
                  <a:pt x="10071193" y="142345"/>
                </a:cubicBezTo>
                <a:cubicBezTo>
                  <a:pt x="10108399" y="184331"/>
                  <a:pt x="10235527" y="166620"/>
                  <a:pt x="10270876" y="164464"/>
                </a:cubicBezTo>
                <a:cubicBezTo>
                  <a:pt x="10282938" y="193487"/>
                  <a:pt x="10335459" y="157175"/>
                  <a:pt x="10338607" y="202846"/>
                </a:cubicBezTo>
                <a:cubicBezTo>
                  <a:pt x="10349171" y="220353"/>
                  <a:pt x="10366124" y="217011"/>
                  <a:pt x="10370927" y="198630"/>
                </a:cubicBezTo>
                <a:cubicBezTo>
                  <a:pt x="10391994" y="198716"/>
                  <a:pt x="10408613" y="218644"/>
                  <a:pt x="10423650" y="187033"/>
                </a:cubicBezTo>
                <a:cubicBezTo>
                  <a:pt x="10452431" y="186111"/>
                  <a:pt x="10492877" y="246749"/>
                  <a:pt x="10507238" y="199359"/>
                </a:cubicBezTo>
                <a:cubicBezTo>
                  <a:pt x="10543427" y="261875"/>
                  <a:pt x="10653987" y="201249"/>
                  <a:pt x="10712234" y="202150"/>
                </a:cubicBezTo>
                <a:cubicBezTo>
                  <a:pt x="10824446" y="218073"/>
                  <a:pt x="10878410" y="233516"/>
                  <a:pt x="10955598" y="236823"/>
                </a:cubicBezTo>
                <a:cubicBezTo>
                  <a:pt x="11045848" y="210188"/>
                  <a:pt x="11132536" y="208078"/>
                  <a:pt x="11210395" y="197924"/>
                </a:cubicBezTo>
                <a:cubicBezTo>
                  <a:pt x="11248542" y="205602"/>
                  <a:pt x="11317163" y="98606"/>
                  <a:pt x="11355556" y="131371"/>
                </a:cubicBezTo>
                <a:cubicBezTo>
                  <a:pt x="11409097" y="114944"/>
                  <a:pt x="11452001" y="121965"/>
                  <a:pt x="11531644" y="99364"/>
                </a:cubicBezTo>
                <a:cubicBezTo>
                  <a:pt x="11597142" y="88300"/>
                  <a:pt x="11671940" y="72591"/>
                  <a:pt x="11719114" y="62439"/>
                </a:cubicBezTo>
                <a:cubicBezTo>
                  <a:pt x="11727434" y="40579"/>
                  <a:pt x="11796069" y="38621"/>
                  <a:pt x="11814686" y="38458"/>
                </a:cubicBezTo>
                <a:cubicBezTo>
                  <a:pt x="11821248" y="1152"/>
                  <a:pt x="11853228" y="33244"/>
                  <a:pt x="11865687" y="10088"/>
                </a:cubicBezTo>
                <a:cubicBezTo>
                  <a:pt x="11893768" y="15302"/>
                  <a:pt x="11926464" y="10706"/>
                  <a:pt x="11957454" y="4020"/>
                </a:cubicBezTo>
                <a:lnTo>
                  <a:pt x="11975060" y="0"/>
                </a:lnTo>
                <a:lnTo>
                  <a:pt x="12006839" y="210943"/>
                </a:lnTo>
                <a:cubicBezTo>
                  <a:pt x="12204146" y="1520595"/>
                  <a:pt x="12452801" y="3171091"/>
                  <a:pt x="12642772" y="4432052"/>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1CB769E-044C-4C51-803B-B23C46AA91AF}"/>
              </a:ext>
            </a:extLst>
          </p:cNvPr>
          <p:cNvSpPr>
            <a:spLocks noGrp="1"/>
          </p:cNvSpPr>
          <p:nvPr>
            <p:ph type="title"/>
          </p:nvPr>
        </p:nvSpPr>
        <p:spPr>
          <a:xfrm>
            <a:off x="1184744" y="442551"/>
            <a:ext cx="9859618" cy="713311"/>
          </a:xfrm>
        </p:spPr>
        <p:txBody>
          <a:bodyPr vert="horz" lIns="91440" tIns="45720" rIns="91440" bIns="45720" rtlCol="0" anchor="b">
            <a:normAutofit/>
          </a:bodyPr>
          <a:lstStyle/>
          <a:p>
            <a:pPr algn="ctr"/>
            <a:r>
              <a:rPr lang="en-US" sz="3300" kern="1200">
                <a:solidFill>
                  <a:schemeClr val="tx1"/>
                </a:solidFill>
                <a:latin typeface="+mj-lt"/>
                <a:ea typeface="+mj-ea"/>
                <a:cs typeface="+mj-cs"/>
              </a:rPr>
              <a:t>Step 4: Select the Chart of Accounts and Create the Rule</a:t>
            </a:r>
          </a:p>
        </p:txBody>
      </p:sp>
      <p:sp>
        <p:nvSpPr>
          <p:cNvPr id="13" name="Freeform: Shape 12">
            <a:extLst>
              <a:ext uri="{FF2B5EF4-FFF2-40B4-BE49-F238E27FC236}">
                <a16:creationId xmlns:a16="http://schemas.microsoft.com/office/drawing/2014/main" id="{3389D0BC-BA1D-4360-88F9-D9ECCBDAB5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379" y="1764254"/>
            <a:ext cx="10937021" cy="4455571"/>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Select the Chart of Accounts and Create the Rule" descr="Select the Chart of Accounts and Create the Rule" title="Select the Chart of Accounts and Create the Rule">
            <a:extLst>
              <a:ext uri="{FF2B5EF4-FFF2-40B4-BE49-F238E27FC236}">
                <a16:creationId xmlns:a16="http://schemas.microsoft.com/office/drawing/2014/main" id="{1A4F1776-7C00-8900-E073-F727ABB0354C}"/>
              </a:ext>
            </a:extLst>
          </p:cNvPr>
          <p:cNvPicPr>
            <a:picLocks noGrp="1" noChangeAspect="1"/>
          </p:cNvPicPr>
          <p:nvPr>
            <p:ph idx="1"/>
          </p:nvPr>
        </p:nvPicPr>
        <p:blipFill>
          <a:blip r:embed="rId2"/>
          <a:stretch>
            <a:fillRect/>
          </a:stretch>
        </p:blipFill>
        <p:spPr bwMode="auto">
          <a:xfrm>
            <a:off x="1945352" y="1909483"/>
            <a:ext cx="8325014" cy="4141694"/>
          </a:xfrm>
          <a:prstGeom prst="rect">
            <a:avLst/>
          </a:prstGeom>
        </p:spPr>
      </p:pic>
    </p:spTree>
    <p:extLst>
      <p:ext uri="{BB962C8B-B14F-4D97-AF65-F5344CB8AC3E}">
        <p14:creationId xmlns:p14="http://schemas.microsoft.com/office/powerpoint/2010/main" val="63351211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DA5232-7AE3-07C3-3486-64D7C1AE2D2E}"/>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Step 4: Select the Chart of Accounts and Create the Rule</a:t>
            </a:r>
          </a:p>
        </p:txBody>
      </p:sp>
      <p:sp>
        <p:nvSpPr>
          <p:cNvPr id="3" name="Content Placeholder 2">
            <a:extLst>
              <a:ext uri="{FF2B5EF4-FFF2-40B4-BE49-F238E27FC236}">
                <a16:creationId xmlns:a16="http://schemas.microsoft.com/office/drawing/2014/main" id="{BB0FDB62-70CB-2354-CD13-BA689139882A}"/>
              </a:ext>
            </a:extLst>
          </p:cNvPr>
          <p:cNvSpPr>
            <a:spLocks noGrp="1"/>
          </p:cNvSpPr>
          <p:nvPr>
            <p:ph idx="1"/>
          </p:nvPr>
        </p:nvSpPr>
        <p:spPr>
          <a:xfrm>
            <a:off x="4810259" y="649480"/>
            <a:ext cx="6555347" cy="5546047"/>
          </a:xfrm>
        </p:spPr>
        <p:txBody>
          <a:bodyPr anchor="ctr">
            <a:normAutofit/>
          </a:bodyPr>
          <a:lstStyle/>
          <a:p>
            <a:r>
              <a:rPr lang="en-US" sz="2000"/>
              <a:t>Select the Chart of Accounts (NSS Primary Ledger) and set Enabled to Yes.</a:t>
            </a:r>
          </a:p>
          <a:p>
            <a:r>
              <a:rPr lang="en-US" sz="2000"/>
              <a:t>Add a new rule with Name NSS_CRV, a Description and a From Date of 1/1/26.</a:t>
            </a:r>
          </a:p>
          <a:p>
            <a:r>
              <a:rPr lang="en-US" sz="2000"/>
              <a:t>The Enabled check box is cleared, so the rule is not enforced until it is enabled.</a:t>
            </a:r>
          </a:p>
          <a:p>
            <a:endParaRPr lang="en-US" sz="2000"/>
          </a:p>
        </p:txBody>
      </p:sp>
    </p:spTree>
    <p:extLst>
      <p:ext uri="{BB962C8B-B14F-4D97-AF65-F5344CB8AC3E}">
        <p14:creationId xmlns:p14="http://schemas.microsoft.com/office/powerpoint/2010/main" val="278790497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6892A3-A9AA-3DDD-BB6F-B641440BD54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Step 5: Condition Filter: Add Fields</a:t>
            </a:r>
          </a:p>
        </p:txBody>
      </p:sp>
      <p:pic>
        <p:nvPicPr>
          <p:cNvPr id="4" name="Condition Filter: Add Fields" descr="Condition Filter: Add Fields" title="Condition Filter: Add Fields">
            <a:extLst>
              <a:ext uri="{FF2B5EF4-FFF2-40B4-BE49-F238E27FC236}">
                <a16:creationId xmlns:a16="http://schemas.microsoft.com/office/drawing/2014/main" id="{03EEA2AA-C842-0963-DBBA-2AFE38DE8DC5}"/>
              </a:ext>
            </a:extLst>
          </p:cNvPr>
          <p:cNvPicPr>
            <a:picLocks noGrp="1" noChangeAspect="1"/>
          </p:cNvPicPr>
          <p:nvPr>
            <p:ph idx="1"/>
          </p:nvPr>
        </p:nvPicPr>
        <p:blipFill>
          <a:blip r:embed="rId2"/>
          <a:stretch>
            <a:fillRect/>
          </a:stretch>
        </p:blipFill>
        <p:spPr bwMode="auto">
          <a:xfrm>
            <a:off x="1679719" y="1675227"/>
            <a:ext cx="8832562" cy="4394199"/>
          </a:xfrm>
          <a:prstGeom prst="rect">
            <a:avLst/>
          </a:prstGeom>
        </p:spPr>
      </p:pic>
    </p:spTree>
    <p:extLst>
      <p:ext uri="{BB962C8B-B14F-4D97-AF65-F5344CB8AC3E}">
        <p14:creationId xmlns:p14="http://schemas.microsoft.com/office/powerpoint/2010/main" val="100856113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8560DA0-3AFF-AD92-E337-0DA011911D3D}"/>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Step 5: Condition Filter: Add Fields</a:t>
            </a:r>
          </a:p>
        </p:txBody>
      </p:sp>
      <p:graphicFrame>
        <p:nvGraphicFramePr>
          <p:cNvPr id="5" name="Content Placeholder 2">
            <a:extLst>
              <a:ext uri="{FF2B5EF4-FFF2-40B4-BE49-F238E27FC236}">
                <a16:creationId xmlns:a16="http://schemas.microsoft.com/office/drawing/2014/main" id="{EC286958-5D21-6181-3BC0-9F6302123409}"/>
              </a:ext>
            </a:extLst>
          </p:cNvPr>
          <p:cNvGraphicFramePr>
            <a:graphicFrameLocks noGrp="1"/>
          </p:cNvGraphicFramePr>
          <p:nvPr>
            <p:ph idx="1"/>
            <p:extLst>
              <p:ext uri="{D42A27DB-BD31-4B8C-83A1-F6EECF244321}">
                <p14:modId xmlns:p14="http://schemas.microsoft.com/office/powerpoint/2010/main" val="1352216776"/>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3032052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dition Filter: Department and Account Conditions" descr="Condition Filter: Department and Account Conditions" title="Condition Filter: Department and Account Conditions">
            <a:extLst>
              <a:ext uri="{FF2B5EF4-FFF2-40B4-BE49-F238E27FC236}">
                <a16:creationId xmlns:a16="http://schemas.microsoft.com/office/drawing/2014/main" id="{66C9AD76-41CB-0104-69FA-9DBE605A56B8}"/>
              </a:ext>
            </a:extLst>
          </p:cNvPr>
          <p:cNvPicPr>
            <a:picLocks noGrp="1" noChangeAspect="1"/>
          </p:cNvPicPr>
          <p:nvPr>
            <p:ph idx="1"/>
          </p:nvPr>
        </p:nvPicPr>
        <p:blipFill>
          <a:blip r:embed="rId2"/>
          <a:srcRect l="3701" r="7854" b="-1"/>
          <a:stretch>
            <a:fillRect/>
          </a:stretch>
        </p:blipFill>
        <p:spPr bwMode="auto">
          <a:xfrm>
            <a:off x="20" y="10"/>
            <a:ext cx="12191980" cy="6857990"/>
          </a:xfrm>
          <a:prstGeom prst="rect">
            <a:avLst/>
          </a:prstGeom>
        </p:spPr>
      </p:pic>
      <p:sp>
        <p:nvSpPr>
          <p:cNvPr id="9" name="Rectangle 8">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07037D-FE3C-DCCE-1BE5-A999C902EFB4}"/>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300">
                <a:solidFill>
                  <a:schemeClr val="tx1">
                    <a:lumMod val="85000"/>
                    <a:lumOff val="15000"/>
                  </a:schemeClr>
                </a:solidFill>
              </a:rPr>
              <a:t>Step 6: Condition Filter: Department and Account Conditions</a:t>
            </a:r>
          </a:p>
        </p:txBody>
      </p:sp>
      <p:cxnSp>
        <p:nvCxnSpPr>
          <p:cNvPr id="11" name="Straight Connector 10">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657258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B387FB-4C01-89DF-EE7D-9265E02419CA}"/>
              </a:ext>
            </a:extLst>
          </p:cNvPr>
          <p:cNvSpPr>
            <a:spLocks noGrp="1"/>
          </p:cNvSpPr>
          <p:nvPr>
            <p:ph type="title"/>
          </p:nvPr>
        </p:nvSpPr>
        <p:spPr>
          <a:xfrm>
            <a:off x="1371599" y="294538"/>
            <a:ext cx="9895951" cy="1033669"/>
          </a:xfrm>
        </p:spPr>
        <p:txBody>
          <a:bodyPr>
            <a:normAutofit/>
          </a:bodyPr>
          <a:lstStyle/>
          <a:p>
            <a:r>
              <a:rPr lang="en-US" sz="3400">
                <a:solidFill>
                  <a:srgbClr val="FFFFFF"/>
                </a:solidFill>
              </a:rPr>
              <a:t>Step 6: Condition Filter: Department and Account Conditions</a:t>
            </a:r>
          </a:p>
        </p:txBody>
      </p:sp>
      <p:sp>
        <p:nvSpPr>
          <p:cNvPr id="3" name="Content Placeholder 2">
            <a:extLst>
              <a:ext uri="{FF2B5EF4-FFF2-40B4-BE49-F238E27FC236}">
                <a16:creationId xmlns:a16="http://schemas.microsoft.com/office/drawing/2014/main" id="{342B31EC-27F2-89DA-20D2-98CE854737CC}"/>
              </a:ext>
            </a:extLst>
          </p:cNvPr>
          <p:cNvSpPr>
            <a:spLocks noGrp="1"/>
          </p:cNvSpPr>
          <p:nvPr>
            <p:ph idx="1"/>
          </p:nvPr>
        </p:nvSpPr>
        <p:spPr>
          <a:xfrm>
            <a:off x="1371599" y="2318197"/>
            <a:ext cx="9724031" cy="3683358"/>
          </a:xfrm>
        </p:spPr>
        <p:txBody>
          <a:bodyPr anchor="ctr">
            <a:normAutofit/>
          </a:bodyPr>
          <a:lstStyle/>
          <a:p>
            <a:r>
              <a:rPr lang="en-US" dirty="0"/>
              <a:t>Define Department with the operator Does not equal 999.</a:t>
            </a:r>
          </a:p>
          <a:p>
            <a:r>
              <a:rPr lang="en-US" dirty="0"/>
              <a:t>Define Account with the operator Between 50000 and 59999 (the expense account range).</a:t>
            </a:r>
          </a:p>
          <a:p>
            <a:r>
              <a:rPr lang="en-US" dirty="0"/>
              <a:t>Enter the Error Message shown to users when the rule is violated, then click OK.</a:t>
            </a:r>
          </a:p>
          <a:p>
            <a:endParaRPr lang="en-US" sz="2000" dirty="0"/>
          </a:p>
        </p:txBody>
      </p:sp>
    </p:spTree>
    <p:extLst>
      <p:ext uri="{BB962C8B-B14F-4D97-AF65-F5344CB8AC3E}">
        <p14:creationId xmlns:p14="http://schemas.microsoft.com/office/powerpoint/2010/main" val="17547132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E35BCEC-7C92-8927-5DE5-04E1E92EA33E}"/>
              </a:ext>
            </a:extLst>
          </p:cNvPr>
          <p:cNvSpPr>
            <a:spLocks noGrp="1"/>
          </p:cNvSpPr>
          <p:nvPr>
            <p:ph type="title"/>
          </p:nvPr>
        </p:nvSpPr>
        <p:spPr>
          <a:xfrm>
            <a:off x="660041" y="2767106"/>
            <a:ext cx="2880828" cy="3071906"/>
          </a:xfrm>
        </p:spPr>
        <p:txBody>
          <a:bodyPr vert="horz" lIns="91440" tIns="45720" rIns="91440" bIns="45720" rtlCol="0">
            <a:normAutofit/>
          </a:bodyPr>
          <a:lstStyle/>
          <a:p>
            <a:r>
              <a:rPr lang="en-US" sz="4000" b="1" kern="1200">
                <a:solidFill>
                  <a:srgbClr val="FFFFFF"/>
                </a:solidFill>
                <a:latin typeface="+mj-lt"/>
                <a:ea typeface="+mj-ea"/>
                <a:cs typeface="+mj-cs"/>
              </a:rPr>
              <a:t>Step 7: Cross-Validation Rule Details</a:t>
            </a:r>
            <a:br>
              <a:rPr lang="en-US" sz="4000" kern="1200">
                <a:solidFill>
                  <a:srgbClr val="FFFFFF"/>
                </a:solidFill>
                <a:latin typeface="+mj-lt"/>
                <a:ea typeface="+mj-ea"/>
                <a:cs typeface="+mj-cs"/>
              </a:rPr>
            </a:br>
            <a:endParaRPr lang="en-US" sz="4000" kern="1200">
              <a:solidFill>
                <a:srgbClr val="FFFFFF"/>
              </a:solidFill>
              <a:latin typeface="+mj-lt"/>
              <a:ea typeface="+mj-ea"/>
              <a:cs typeface="+mj-cs"/>
            </a:endParaRPr>
          </a:p>
        </p:txBody>
      </p:sp>
      <p:pic>
        <p:nvPicPr>
          <p:cNvPr id="4" name="Cross-Validation Rule Details">
            <a:extLst>
              <a:ext uri="{FF2B5EF4-FFF2-40B4-BE49-F238E27FC236}">
                <a16:creationId xmlns:a16="http://schemas.microsoft.com/office/drawing/2014/main" id="{F01D8BCF-2381-9CED-7791-0CD53F84C79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bwMode="auto">
          <a:xfrm>
            <a:off x="4502428" y="972246"/>
            <a:ext cx="7225748" cy="4913508"/>
          </a:xfrm>
          <a:prstGeom prst="rect">
            <a:avLst/>
          </a:prstGeom>
        </p:spPr>
      </p:pic>
    </p:spTree>
    <p:extLst>
      <p:ext uri="{BB962C8B-B14F-4D97-AF65-F5344CB8AC3E}">
        <p14:creationId xmlns:p14="http://schemas.microsoft.com/office/powerpoint/2010/main" val="284552992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FD4DBD-7745-BE1A-824C-91A7649F0F88}"/>
              </a:ext>
            </a:extLst>
          </p:cNvPr>
          <p:cNvSpPr>
            <a:spLocks noGrp="1"/>
          </p:cNvSpPr>
          <p:nvPr>
            <p:ph type="title"/>
          </p:nvPr>
        </p:nvSpPr>
        <p:spPr>
          <a:xfrm>
            <a:off x="1156851" y="637762"/>
            <a:ext cx="9888496" cy="900131"/>
          </a:xfrm>
        </p:spPr>
        <p:txBody>
          <a:bodyPr>
            <a:normAutofit/>
          </a:bodyPr>
          <a:lstStyle/>
          <a:p>
            <a:r>
              <a:rPr lang="en-US" sz="4000">
                <a:solidFill>
                  <a:schemeClr val="bg1"/>
                </a:solidFill>
              </a:rPr>
              <a:t>Step 7: Cross-Validation Rule Details</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2EE103B-719C-B0F5-DEAC-36DEB8A1A191}"/>
              </a:ext>
            </a:extLst>
          </p:cNvPr>
          <p:cNvSpPr>
            <a:spLocks noGrp="1"/>
          </p:cNvSpPr>
          <p:nvPr>
            <p:ph idx="1"/>
          </p:nvPr>
        </p:nvSpPr>
        <p:spPr>
          <a:xfrm>
            <a:off x="1155548" y="2217343"/>
            <a:ext cx="9880893" cy="3959619"/>
          </a:xfrm>
        </p:spPr>
        <p:txBody>
          <a:bodyPr>
            <a:normAutofit/>
          </a:bodyPr>
          <a:lstStyle/>
          <a:p>
            <a:r>
              <a:rPr lang="en-US" sz="2400"/>
              <a:t>The Details region shows Condition Filter and Validation Filter, each with 2 filter conditions defined.</a:t>
            </a:r>
          </a:p>
          <a:p>
            <a:r>
              <a:rPr lang="en-US" sz="2400"/>
              <a:t>The details display: department Not equals to 999 AND account Between 50000 and 59999.</a:t>
            </a:r>
          </a:p>
          <a:p>
            <a:r>
              <a:rPr lang="en-US" sz="2400"/>
              <a:t>The system generates an Error Message Name, and the Error Message text is stored with the rule.</a:t>
            </a:r>
          </a:p>
          <a:p>
            <a:r>
              <a:rPr lang="en-US" sz="2400"/>
              <a:t>Click Save to store the rule.</a:t>
            </a:r>
          </a:p>
          <a:p>
            <a:endParaRPr lang="en-US" sz="2400"/>
          </a:p>
        </p:txBody>
      </p:sp>
    </p:spTree>
    <p:extLst>
      <p:ext uri="{BB962C8B-B14F-4D97-AF65-F5344CB8AC3E}">
        <p14:creationId xmlns:p14="http://schemas.microsoft.com/office/powerpoint/2010/main" val="323775560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3801EA-23A3-A3DF-8D79-CF7D87F35269}"/>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88EB490-BEA9-0C83-2878-703353C58BC6}"/>
              </a:ext>
            </a:extLst>
          </p:cNvPr>
          <p:cNvSpPr>
            <a:spLocks noGrp="1"/>
          </p:cNvSpPr>
          <p:nvPr>
            <p:ph type="ctrTitle"/>
          </p:nvPr>
        </p:nvSpPr>
        <p:spPr>
          <a:xfrm>
            <a:off x="1386865" y="818984"/>
            <a:ext cx="6596245" cy="3268520"/>
          </a:xfrm>
        </p:spPr>
        <p:txBody>
          <a:bodyPr>
            <a:normAutofit/>
          </a:bodyPr>
          <a:lstStyle/>
          <a:p>
            <a:pPr algn="r"/>
            <a:r>
              <a:rPr lang="en-US" sz="4400" b="1">
                <a:solidFill>
                  <a:srgbClr val="FFFFFF"/>
                </a:solidFill>
              </a:rPr>
              <a:t>Applications of Foreign Currency Transactions and Period-End Financial Settlements: Revaluation &amp; Translation</a:t>
            </a:r>
            <a:endParaRPr lang="en-US" sz="4400">
              <a:solidFill>
                <a:srgbClr val="FFFFFF"/>
              </a:solidFill>
            </a:endParaRPr>
          </a:p>
        </p:txBody>
      </p:sp>
      <p:sp>
        <p:nvSpPr>
          <p:cNvPr id="17" name="Rectangle 16">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2688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9A7F3BF-8763-4074-AD77-92790AF314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7A9648D6-B41B-42D0-A817-AE2607B0B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4200" y="554152"/>
            <a:ext cx="574177" cy="1075866"/>
            <a:chOff x="10994200" y="554152"/>
            <a:chExt cx="574177" cy="1075866"/>
          </a:xfrm>
        </p:grpSpPr>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13369"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3"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55951"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94200"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grpSp>
      <p:cxnSp>
        <p:nvCxnSpPr>
          <p:cNvPr id="16" name="Straight Connector 15">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62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A2256F79-955D-01C3-B5F4-9B57B328A902}"/>
              </a:ext>
            </a:extLst>
          </p:cNvPr>
          <p:cNvGraphicFramePr>
            <a:graphicFrameLocks noGrp="1"/>
          </p:cNvGraphicFramePr>
          <p:nvPr>
            <p:ph idx="1"/>
            <p:extLst>
              <p:ext uri="{D42A27DB-BD31-4B8C-83A1-F6EECF244321}">
                <p14:modId xmlns:p14="http://schemas.microsoft.com/office/powerpoint/2010/main" val="3448605333"/>
              </p:ext>
            </p:extLst>
          </p:nvPr>
        </p:nvGraphicFramePr>
        <p:xfrm>
          <a:off x="1188062" y="1825625"/>
          <a:ext cx="9356107" cy="439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3788426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F6F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5DFFA5B5-0F0B-9FCB-CB8F-908E200F67C0}"/>
              </a:ext>
            </a:extLst>
          </p:cNvPr>
          <p:cNvPicPr>
            <a:picLocks noGrp="1" noChangeAspect="1"/>
          </p:cNvPicPr>
          <p:nvPr>
            <p:ph idx="1"/>
          </p:nvPr>
        </p:nvPicPr>
        <p:blipFill>
          <a:blip r:embed="rId2"/>
          <a:stretch>
            <a:fillRect/>
          </a:stretch>
        </p:blipFill>
        <p:spPr>
          <a:xfrm>
            <a:off x="643467" y="1084410"/>
            <a:ext cx="10905066" cy="4689179"/>
          </a:xfrm>
          <a:prstGeom prst="rect">
            <a:avLst/>
          </a:prstGeom>
        </p:spPr>
      </p:pic>
    </p:spTree>
    <p:extLst>
      <p:ext uri="{BB962C8B-B14F-4D97-AF65-F5344CB8AC3E}">
        <p14:creationId xmlns:p14="http://schemas.microsoft.com/office/powerpoint/2010/main" val="387321650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83F4B28-CBC7-5820-A89B-E10F64D16A84}"/>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2500" kern="1200">
                <a:solidFill>
                  <a:schemeClr val="tx1"/>
                </a:solidFill>
                <a:latin typeface="+mj-lt"/>
                <a:ea typeface="+mj-ea"/>
                <a:cs typeface="+mj-cs"/>
              </a:rPr>
              <a:t>Within the functional area, select Financial Reporting Structure Subsequently, navigate to the Manage Currencies task</a:t>
            </a:r>
          </a:p>
        </p:txBody>
      </p:sp>
      <p:pic>
        <p:nvPicPr>
          <p:cNvPr id="4" name="Content Placeholder 3">
            <a:extLst>
              <a:ext uri="{FF2B5EF4-FFF2-40B4-BE49-F238E27FC236}">
                <a16:creationId xmlns:a16="http://schemas.microsoft.com/office/drawing/2014/main" id="{EE35FC33-572C-1D4D-42DD-75F00EEB0B40}"/>
              </a:ext>
            </a:extLst>
          </p:cNvPr>
          <p:cNvPicPr>
            <a:picLocks noGrp="1" noChangeAspect="1"/>
          </p:cNvPicPr>
          <p:nvPr>
            <p:ph idx="1"/>
          </p:nvPr>
        </p:nvPicPr>
        <p:blipFill>
          <a:blip r:embed="rId2"/>
          <a:stretch>
            <a:fillRect/>
          </a:stretch>
        </p:blipFill>
        <p:spPr>
          <a:xfrm>
            <a:off x="1298925" y="1806231"/>
            <a:ext cx="9301966" cy="4371924"/>
          </a:xfrm>
          <a:prstGeom prst="rect">
            <a:avLst/>
          </a:prstGeom>
        </p:spPr>
      </p:pic>
    </p:spTree>
    <p:extLst>
      <p:ext uri="{BB962C8B-B14F-4D97-AF65-F5344CB8AC3E}">
        <p14:creationId xmlns:p14="http://schemas.microsoft.com/office/powerpoint/2010/main" val="126463562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A92152-DC8B-E0CD-BFD3-242916C6040D}"/>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1900" kern="1200">
                <a:solidFill>
                  <a:srgbClr val="FFFFFF"/>
                </a:solidFill>
                <a:latin typeface="+mj-lt"/>
                <a:ea typeface="+mj-ea"/>
                <a:cs typeface="+mj-cs"/>
              </a:rPr>
              <a:t>Through the search screen, search for the target foreign currency code to be used, such as USD, and verify that the currency is activated on the system by the presence of a ✔ mark in the Enabled field.</a:t>
            </a:r>
            <a:br>
              <a:rPr lang="en-US" sz="1900" kern="1200">
                <a:solidFill>
                  <a:srgbClr val="FFFFFF"/>
                </a:solidFill>
                <a:latin typeface="+mj-lt"/>
                <a:ea typeface="+mj-ea"/>
                <a:cs typeface="+mj-cs"/>
              </a:rPr>
            </a:br>
            <a:endParaRPr lang="en-US" sz="1900" kern="1200">
              <a:solidFill>
                <a:srgbClr val="FFFFFF"/>
              </a:solidFill>
              <a:latin typeface="+mj-lt"/>
              <a:ea typeface="+mj-ea"/>
              <a:cs typeface="+mj-cs"/>
            </a:endParaRPr>
          </a:p>
        </p:txBody>
      </p:sp>
      <p:pic>
        <p:nvPicPr>
          <p:cNvPr id="4" name="Picture 3">
            <a:extLst>
              <a:ext uri="{FF2B5EF4-FFF2-40B4-BE49-F238E27FC236}">
                <a16:creationId xmlns:a16="http://schemas.microsoft.com/office/drawing/2014/main" id="{9E395FE5-A567-0AA2-1A97-EF427A79B3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225" y="2139254"/>
            <a:ext cx="11327549" cy="4106237"/>
          </a:xfrm>
          <a:prstGeom prst="rect">
            <a:avLst/>
          </a:prstGeom>
        </p:spPr>
      </p:pic>
    </p:spTree>
    <p:extLst>
      <p:ext uri="{BB962C8B-B14F-4D97-AF65-F5344CB8AC3E}">
        <p14:creationId xmlns:p14="http://schemas.microsoft.com/office/powerpoint/2010/main" val="87917032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1AD2E585-CD96-06AF-6C01-950DE07A7A1B}"/>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106522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78BE40-C4FE-2941-A37C-B5A2D3755641}"/>
              </a:ext>
            </a:extLst>
          </p:cNvPr>
          <p:cNvSpPr>
            <a:spLocks noGrp="1"/>
          </p:cNvSpPr>
          <p:nvPr>
            <p:ph type="title"/>
          </p:nvPr>
        </p:nvSpPr>
        <p:spPr>
          <a:xfrm>
            <a:off x="841248" y="256032"/>
            <a:ext cx="10506456" cy="1014984"/>
          </a:xfrm>
        </p:spPr>
        <p:txBody>
          <a:bodyPr anchor="b">
            <a:normAutofit/>
          </a:bodyPr>
          <a:lstStyle/>
          <a:p>
            <a:r>
              <a:rPr lang="en-US" sz="3100"/>
              <a:t>Create Conversion Rate Type</a:t>
            </a:r>
            <a:br>
              <a:rPr lang="en-US" sz="3100"/>
            </a:br>
            <a:endParaRPr lang="en-US" sz="310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5912DAD9-8B66-81F2-2648-BF5326D6A185}"/>
              </a:ext>
            </a:extLst>
          </p:cNvPr>
          <p:cNvGraphicFramePr>
            <a:graphicFrameLocks noGrp="1"/>
          </p:cNvGraphicFramePr>
          <p:nvPr>
            <p:ph idx="1"/>
            <p:extLst>
              <p:ext uri="{D42A27DB-BD31-4B8C-83A1-F6EECF244321}">
                <p14:modId xmlns:p14="http://schemas.microsoft.com/office/powerpoint/2010/main" val="2906312886"/>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8246601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284EC9-358F-7B0C-EB30-7DC93B1F8A1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b="1" u="sng" kern="1200">
                <a:solidFill>
                  <a:schemeClr val="bg1"/>
                </a:solidFill>
                <a:latin typeface="+mj-lt"/>
                <a:ea typeface="+mj-ea"/>
                <a:cs typeface="+mj-cs"/>
              </a:rPr>
              <a:t>Create Conversion Rate Type</a:t>
            </a:r>
            <a:br>
              <a:rPr lang="en-US" sz="2200" kern="1200">
                <a:solidFill>
                  <a:schemeClr val="bg1"/>
                </a:solidFill>
                <a:latin typeface="+mj-lt"/>
                <a:ea typeface="+mj-ea"/>
                <a:cs typeface="+mj-cs"/>
              </a:rPr>
            </a:br>
            <a:endParaRPr lang="en-US" sz="2200" kern="1200">
              <a:solidFill>
                <a:schemeClr val="bg1"/>
              </a:solidFill>
              <a:latin typeface="+mj-lt"/>
              <a:ea typeface="+mj-ea"/>
              <a:cs typeface="+mj-cs"/>
            </a:endParaRPr>
          </a:p>
        </p:txBody>
      </p:sp>
      <p:pic>
        <p:nvPicPr>
          <p:cNvPr id="4" name="Content Placeholder 3">
            <a:extLst>
              <a:ext uri="{FF2B5EF4-FFF2-40B4-BE49-F238E27FC236}">
                <a16:creationId xmlns:a16="http://schemas.microsoft.com/office/drawing/2014/main" id="{7ED0E0A1-F700-D6D7-B253-6F356B01995B}"/>
              </a:ext>
            </a:extLst>
          </p:cNvPr>
          <p:cNvPicPr>
            <a:picLocks noGrp="1" noChangeAspect="1"/>
          </p:cNvPicPr>
          <p:nvPr>
            <p:ph idx="1"/>
          </p:nvPr>
        </p:nvPicPr>
        <p:blipFill>
          <a:blip r:embed="rId2"/>
          <a:stretch>
            <a:fillRect/>
          </a:stretch>
        </p:blipFill>
        <p:spPr>
          <a:xfrm>
            <a:off x="1208243" y="1503681"/>
            <a:ext cx="9907501" cy="4829906"/>
          </a:xfrm>
          <a:prstGeom prst="rect">
            <a:avLst/>
          </a:prstGeom>
        </p:spPr>
      </p:pic>
    </p:spTree>
    <p:extLst>
      <p:ext uri="{BB962C8B-B14F-4D97-AF65-F5344CB8AC3E}">
        <p14:creationId xmlns:p14="http://schemas.microsoft.com/office/powerpoint/2010/main" val="371592334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A682072-7C33-F438-62EB-F0D1F6B39BFD}"/>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2500" kern="1200">
                <a:solidFill>
                  <a:schemeClr val="tx1"/>
                </a:solidFill>
                <a:latin typeface="+mj-lt"/>
                <a:ea typeface="+mj-ea"/>
                <a:cs typeface="+mj-cs"/>
              </a:rPr>
              <a:t>In the Currency Rates Manager screen, add a new Custom Rate Type, specifying its name and description as demonstrated by the creation of "Nile Spot".</a:t>
            </a:r>
          </a:p>
        </p:txBody>
      </p:sp>
      <p:pic>
        <p:nvPicPr>
          <p:cNvPr id="4" name="Content Placeholder 3">
            <a:extLst>
              <a:ext uri="{FF2B5EF4-FFF2-40B4-BE49-F238E27FC236}">
                <a16:creationId xmlns:a16="http://schemas.microsoft.com/office/drawing/2014/main" id="{BBF31132-6AA4-B9DE-5F91-3E4BC4135F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3900" y="3108961"/>
            <a:ext cx="10744200" cy="2240020"/>
          </a:xfrm>
          <a:prstGeom prst="rect">
            <a:avLst/>
          </a:prstGeom>
        </p:spPr>
      </p:pic>
    </p:spTree>
    <p:extLst>
      <p:ext uri="{BB962C8B-B14F-4D97-AF65-F5344CB8AC3E}">
        <p14:creationId xmlns:p14="http://schemas.microsoft.com/office/powerpoint/2010/main" val="223393271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3043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C47F7-349C-9BB6-E656-C51B4A8415B0}"/>
              </a:ext>
            </a:extLst>
          </p:cNvPr>
          <p:cNvSpPr>
            <a:spLocks noGrp="1"/>
          </p:cNvSpPr>
          <p:nvPr>
            <p:ph type="title"/>
          </p:nvPr>
        </p:nvSpPr>
        <p:spPr>
          <a:xfrm>
            <a:off x="556532" y="5322147"/>
            <a:ext cx="11210925" cy="744836"/>
          </a:xfrm>
        </p:spPr>
        <p:txBody>
          <a:bodyPr vert="horz" lIns="91440" tIns="45720" rIns="91440" bIns="45720" rtlCol="0" anchor="ctr">
            <a:normAutofit/>
          </a:bodyPr>
          <a:lstStyle/>
          <a:p>
            <a:pPr algn="ctr"/>
            <a:r>
              <a:rPr lang="en-US" sz="2200" kern="1200">
                <a:solidFill>
                  <a:schemeClr val="bg1"/>
                </a:solidFill>
                <a:latin typeface="+mj-lt"/>
                <a:ea typeface="+mj-ea"/>
                <a:cs typeface="+mj-cs"/>
              </a:rPr>
              <a:t>To designate this type as the system's default option, select its corresponding row, then open the Actions menu and select the Change Default Rate Type command</a:t>
            </a:r>
          </a:p>
        </p:txBody>
      </p:sp>
      <p:pic>
        <p:nvPicPr>
          <p:cNvPr id="4" name="Content Placeholder 3">
            <a:extLst>
              <a:ext uri="{FF2B5EF4-FFF2-40B4-BE49-F238E27FC236}">
                <a16:creationId xmlns:a16="http://schemas.microsoft.com/office/drawing/2014/main" id="{DE9AE2F4-DE98-5609-913D-E014D9C501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78121" y="283307"/>
            <a:ext cx="8035758" cy="4841544"/>
          </a:xfrm>
          <a:prstGeom prst="rect">
            <a:avLst/>
          </a:prstGeom>
        </p:spPr>
      </p:pic>
    </p:spTree>
    <p:extLst>
      <p:ext uri="{BB962C8B-B14F-4D97-AF65-F5344CB8AC3E}">
        <p14:creationId xmlns:p14="http://schemas.microsoft.com/office/powerpoint/2010/main" val="193223061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438719-1D5C-3CDE-273C-D0907C021F04}"/>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2200" kern="1200">
                <a:solidFill>
                  <a:srgbClr val="FFFFFF"/>
                </a:solidFill>
                <a:latin typeface="+mj-lt"/>
                <a:ea typeface="+mj-ea"/>
                <a:cs typeface="+mj-cs"/>
              </a:rPr>
              <a:t>Upon saving, a green checkmark (✔) appears in the Default Rate Type column adjacent to the created rate, confirming its successful activation as the default option.</a:t>
            </a:r>
          </a:p>
        </p:txBody>
      </p:sp>
      <p:pic>
        <p:nvPicPr>
          <p:cNvPr id="4" name="Content Placeholder 3">
            <a:extLst>
              <a:ext uri="{FF2B5EF4-FFF2-40B4-BE49-F238E27FC236}">
                <a16:creationId xmlns:a16="http://schemas.microsoft.com/office/drawing/2014/main" id="{6A0F46F3-8025-93E5-51B2-583CD907487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2225" y="2974661"/>
            <a:ext cx="11327549" cy="2435423"/>
          </a:xfrm>
          <a:prstGeom prst="rect">
            <a:avLst/>
          </a:prstGeom>
        </p:spPr>
      </p:pic>
    </p:spTree>
    <p:extLst>
      <p:ext uri="{BB962C8B-B14F-4D97-AF65-F5344CB8AC3E}">
        <p14:creationId xmlns:p14="http://schemas.microsoft.com/office/powerpoint/2010/main" val="31565184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8" name="Content Placeholder 2">
            <a:extLst>
              <a:ext uri="{FF2B5EF4-FFF2-40B4-BE49-F238E27FC236}">
                <a16:creationId xmlns:a16="http://schemas.microsoft.com/office/drawing/2014/main" id="{99F99D68-4821-E705-DC8C-AB8DC0C3E11F}"/>
              </a:ext>
            </a:extLst>
          </p:cNvPr>
          <p:cNvGraphicFramePr>
            <a:graphicFrameLocks noGrp="1"/>
          </p:cNvGraphicFramePr>
          <p:nvPr>
            <p:ph idx="1"/>
            <p:extLst>
              <p:ext uri="{D42A27DB-BD31-4B8C-83A1-F6EECF244321}">
                <p14:modId xmlns:p14="http://schemas.microsoft.com/office/powerpoint/2010/main" val="4030920373"/>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8217091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012F4C-BC70-9929-8E9F-1EB63AFC25FE}"/>
              </a:ext>
            </a:extLst>
          </p:cNvPr>
          <p:cNvSpPr>
            <a:spLocks noGrp="1"/>
          </p:cNvSpPr>
          <p:nvPr>
            <p:ph type="title"/>
          </p:nvPr>
        </p:nvSpPr>
        <p:spPr>
          <a:xfrm>
            <a:off x="1136397" y="502021"/>
            <a:ext cx="9688296" cy="1642969"/>
          </a:xfrm>
        </p:spPr>
        <p:txBody>
          <a:bodyPr anchor="b">
            <a:normAutofit/>
          </a:bodyPr>
          <a:lstStyle/>
          <a:p>
            <a:r>
              <a:rPr lang="en-US" sz="4000" b="1" u="sng"/>
              <a:t>Create Currency daily Rate</a:t>
            </a:r>
            <a:endParaRPr lang="en-US" sz="4000"/>
          </a:p>
        </p:txBody>
      </p:sp>
      <p:sp>
        <p:nvSpPr>
          <p:cNvPr id="3" name="Content Placeholder 2">
            <a:extLst>
              <a:ext uri="{FF2B5EF4-FFF2-40B4-BE49-F238E27FC236}">
                <a16:creationId xmlns:a16="http://schemas.microsoft.com/office/drawing/2014/main" id="{2866745F-4863-C6E1-96B6-BB92A23B2B88}"/>
              </a:ext>
            </a:extLst>
          </p:cNvPr>
          <p:cNvSpPr>
            <a:spLocks noGrp="1"/>
          </p:cNvSpPr>
          <p:nvPr>
            <p:ph idx="1"/>
          </p:nvPr>
        </p:nvSpPr>
        <p:spPr>
          <a:xfrm>
            <a:off x="1136397" y="2418409"/>
            <a:ext cx="9688296" cy="3454358"/>
          </a:xfrm>
        </p:spPr>
        <p:txBody>
          <a:bodyPr>
            <a:normAutofit/>
          </a:bodyPr>
          <a:lstStyle/>
          <a:p>
            <a:r>
              <a:rPr lang="en-US" sz="2000"/>
              <a:t>Verifying User Security &amp; Roles to ensure the capability to download and utilize the ADF Desktop Integrator tool. This procedure is essential for enabling the automated mass upload of Daily Rates as an alternative to manual entry, thereby enhancing operational efficiency.</a:t>
            </a:r>
          </a:p>
          <a:p>
            <a:endParaRPr lang="en-US" sz="2000"/>
          </a:p>
        </p:txBody>
      </p:sp>
      <p:sp>
        <p:nvSpPr>
          <p:cNvPr id="10" name="Rectangle 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748172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1D2BB7-70DB-8507-03BA-E35D6FA199C8}"/>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1500" kern="1200">
                <a:solidFill>
                  <a:schemeClr val="bg1"/>
                </a:solidFill>
                <a:latin typeface="+mj-lt"/>
                <a:ea typeface="+mj-ea"/>
                <a:cs typeface="+mj-cs"/>
              </a:rPr>
              <a:t>Prior to entering exchange rates, it is imperative to ensure that the user account possesses the Employee Role. This is verified through the user information screen, which displays the Assigned Roles, such as the Employee role, that grant access to system tools.</a:t>
            </a:r>
          </a:p>
        </p:txBody>
      </p:sp>
      <p:pic>
        <p:nvPicPr>
          <p:cNvPr id="4" name="Content Placeholder 3">
            <a:extLst>
              <a:ext uri="{FF2B5EF4-FFF2-40B4-BE49-F238E27FC236}">
                <a16:creationId xmlns:a16="http://schemas.microsoft.com/office/drawing/2014/main" id="{A0BEF561-C784-B066-698D-021478D78401}"/>
              </a:ext>
            </a:extLst>
          </p:cNvPr>
          <p:cNvPicPr>
            <a:picLocks noGrp="1" noChangeAspect="1"/>
          </p:cNvPicPr>
          <p:nvPr>
            <p:ph idx="1"/>
          </p:nvPr>
        </p:nvPicPr>
        <p:blipFill>
          <a:blip r:embed="rId2"/>
          <a:stretch>
            <a:fillRect/>
          </a:stretch>
        </p:blipFill>
        <p:spPr>
          <a:xfrm>
            <a:off x="1782790" y="1624427"/>
            <a:ext cx="8626420" cy="4895494"/>
          </a:xfrm>
          <a:prstGeom prst="rect">
            <a:avLst/>
          </a:prstGeom>
        </p:spPr>
      </p:pic>
    </p:spTree>
    <p:extLst>
      <p:ext uri="{BB962C8B-B14F-4D97-AF65-F5344CB8AC3E}">
        <p14:creationId xmlns:p14="http://schemas.microsoft.com/office/powerpoint/2010/main" val="203520800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70714E-C842-8917-77D1-FCC202E40DFB}"/>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1500" kern="1200">
                <a:solidFill>
                  <a:schemeClr val="bg1"/>
                </a:solidFill>
                <a:latin typeface="+mj-lt"/>
                <a:ea typeface="+mj-ea"/>
                <a:cs typeface="+mj-cs"/>
              </a:rPr>
              <a:t>Secondly - Download ADF: Upon verifying the privileges, navigate to the Tools menu from the main menu, and select the Download ADF Desktop Integrator option. This tool establishes the communication bridge between Oracle and Microsoft Excel.</a:t>
            </a:r>
          </a:p>
        </p:txBody>
      </p:sp>
      <p:pic>
        <p:nvPicPr>
          <p:cNvPr id="4" name="Content Placeholder 3">
            <a:extLst>
              <a:ext uri="{FF2B5EF4-FFF2-40B4-BE49-F238E27FC236}">
                <a16:creationId xmlns:a16="http://schemas.microsoft.com/office/drawing/2014/main" id="{4EE6A827-DF15-1521-F845-8E27F2129BC6}"/>
              </a:ext>
            </a:extLst>
          </p:cNvPr>
          <p:cNvPicPr>
            <a:picLocks noGrp="1" noChangeAspect="1"/>
          </p:cNvPicPr>
          <p:nvPr>
            <p:ph idx="1"/>
          </p:nvPr>
        </p:nvPicPr>
        <p:blipFill>
          <a:blip r:embed="rId2"/>
          <a:stretch>
            <a:fillRect/>
          </a:stretch>
        </p:blipFill>
        <p:spPr>
          <a:xfrm>
            <a:off x="2497479" y="1685387"/>
            <a:ext cx="7197042" cy="4858004"/>
          </a:xfrm>
          <a:prstGeom prst="rect">
            <a:avLst/>
          </a:prstGeom>
        </p:spPr>
      </p:pic>
    </p:spTree>
    <p:extLst>
      <p:ext uri="{BB962C8B-B14F-4D97-AF65-F5344CB8AC3E}">
        <p14:creationId xmlns:p14="http://schemas.microsoft.com/office/powerpoint/2010/main" val="115058888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5F6278-ABA4-7559-F0A8-7DF1A088F514}"/>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1500" b="1" kern="1200">
                <a:solidFill>
                  <a:schemeClr val="bg1"/>
                </a:solidFill>
                <a:latin typeface="+mj-lt"/>
                <a:ea typeface="+mj-ea"/>
                <a:cs typeface="+mj-cs"/>
              </a:rPr>
              <a:t>Thirdly - Create in Spreadsheet: Subsequently, navigate to the Currency Rates Manager screen, specifically to the Daily Rates tab. By clicking the Create in Spreadsheet button, the system will download a Smart Excel Template pre-configured to receive data.</a:t>
            </a:r>
            <a:endParaRPr lang="en-US" sz="1500" kern="1200">
              <a:solidFill>
                <a:schemeClr val="bg1"/>
              </a:solidFill>
              <a:latin typeface="+mj-lt"/>
              <a:ea typeface="+mj-ea"/>
              <a:cs typeface="+mj-cs"/>
            </a:endParaRPr>
          </a:p>
        </p:txBody>
      </p:sp>
      <p:pic>
        <p:nvPicPr>
          <p:cNvPr id="4" name="Content Placeholder 3">
            <a:extLst>
              <a:ext uri="{FF2B5EF4-FFF2-40B4-BE49-F238E27FC236}">
                <a16:creationId xmlns:a16="http://schemas.microsoft.com/office/drawing/2014/main" id="{D7AC2942-C057-6167-0529-6C540A6BBFEA}"/>
              </a:ext>
            </a:extLst>
          </p:cNvPr>
          <p:cNvPicPr>
            <a:picLocks noGrp="1" noChangeAspect="1"/>
          </p:cNvPicPr>
          <p:nvPr>
            <p:ph idx="1"/>
          </p:nvPr>
        </p:nvPicPr>
        <p:blipFill>
          <a:blip r:embed="rId2"/>
          <a:stretch>
            <a:fillRect/>
          </a:stretch>
        </p:blipFill>
        <p:spPr>
          <a:xfrm>
            <a:off x="1186280" y="1675227"/>
            <a:ext cx="9819439" cy="4394199"/>
          </a:xfrm>
          <a:prstGeom prst="rect">
            <a:avLst/>
          </a:prstGeom>
        </p:spPr>
      </p:pic>
    </p:spTree>
    <p:extLst>
      <p:ext uri="{BB962C8B-B14F-4D97-AF65-F5344CB8AC3E}">
        <p14:creationId xmlns:p14="http://schemas.microsoft.com/office/powerpoint/2010/main" val="175213916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42E8503C-BBF1-2E3D-2547-FD0E7906182A}"/>
              </a:ext>
            </a:extLst>
          </p:cNvPr>
          <p:cNvGraphicFramePr>
            <a:graphicFrameLocks noGrp="1"/>
          </p:cNvGraphicFramePr>
          <p:nvPr>
            <p:ph idx="1"/>
            <p:extLst>
              <p:ext uri="{D42A27DB-BD31-4B8C-83A1-F6EECF244321}">
                <p14:modId xmlns:p14="http://schemas.microsoft.com/office/powerpoint/2010/main" val="3443497503"/>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5052006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3043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ADFD92-5B0F-6CA8-E4C1-2EE5DA459B01}"/>
              </a:ext>
            </a:extLst>
          </p:cNvPr>
          <p:cNvSpPr>
            <a:spLocks noGrp="1"/>
          </p:cNvSpPr>
          <p:nvPr>
            <p:ph type="title"/>
          </p:nvPr>
        </p:nvSpPr>
        <p:spPr>
          <a:xfrm>
            <a:off x="556532" y="5322147"/>
            <a:ext cx="11210925" cy="744836"/>
          </a:xfrm>
        </p:spPr>
        <p:txBody>
          <a:bodyPr vert="horz" lIns="91440" tIns="45720" rIns="91440" bIns="45720" rtlCol="0" anchor="ctr">
            <a:normAutofit/>
          </a:bodyPr>
          <a:lstStyle/>
          <a:p>
            <a:pPr algn="ctr"/>
            <a:r>
              <a:rPr lang="en-US" sz="2200" kern="1200">
                <a:solidFill>
                  <a:schemeClr val="bg1"/>
                </a:solidFill>
                <a:latin typeface="+mj-lt"/>
                <a:ea typeface="+mj-ea"/>
                <a:cs typeface="+mj-cs"/>
              </a:rPr>
              <a:t>Upon opening the downloaded Excel file, the system first requires Authentication by logging in with the Oracle Cloud user account to ensure secure data transmission</a:t>
            </a:r>
          </a:p>
        </p:txBody>
      </p:sp>
      <p:pic>
        <p:nvPicPr>
          <p:cNvPr id="4" name="Content Placeholder 3">
            <a:extLst>
              <a:ext uri="{FF2B5EF4-FFF2-40B4-BE49-F238E27FC236}">
                <a16:creationId xmlns:a16="http://schemas.microsoft.com/office/drawing/2014/main" id="{74C467FE-FD16-42AC-10B2-DD47BED737CC}"/>
              </a:ext>
            </a:extLst>
          </p:cNvPr>
          <p:cNvPicPr>
            <a:picLocks noGrp="1" noChangeAspect="1"/>
          </p:cNvPicPr>
          <p:nvPr>
            <p:ph idx="1"/>
          </p:nvPr>
        </p:nvPicPr>
        <p:blipFill>
          <a:blip r:embed="rId2"/>
          <a:stretch>
            <a:fillRect/>
          </a:stretch>
        </p:blipFill>
        <p:spPr>
          <a:xfrm>
            <a:off x="2213590" y="222347"/>
            <a:ext cx="7764819" cy="4891836"/>
          </a:xfrm>
          <a:prstGeom prst="rect">
            <a:avLst/>
          </a:prstGeom>
        </p:spPr>
      </p:pic>
    </p:spTree>
    <p:extLst>
      <p:ext uri="{BB962C8B-B14F-4D97-AF65-F5344CB8AC3E}">
        <p14:creationId xmlns:p14="http://schemas.microsoft.com/office/powerpoint/2010/main" val="146931671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3FFC0A-B495-1C56-9C8C-00F375073BDB}"/>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1500" b="1" kern="1200">
                <a:solidFill>
                  <a:schemeClr val="bg1"/>
                </a:solidFill>
                <a:latin typeface="+mj-lt"/>
                <a:ea typeface="+mj-ea"/>
                <a:cs typeface="+mj-cs"/>
              </a:rPr>
              <a:t>Entering Exchange Rate Data: The data is arranged within the table such that a distinct row is allocated for each currency pair. We specify the From Currency and the To Currency, and subsequently select the previously created Rate Type, such as "NileRate"</a:t>
            </a:r>
            <a:endParaRPr lang="en-US" sz="1500" kern="1200">
              <a:solidFill>
                <a:schemeClr val="bg1"/>
              </a:solidFill>
              <a:latin typeface="+mj-lt"/>
              <a:ea typeface="+mj-ea"/>
              <a:cs typeface="+mj-cs"/>
            </a:endParaRPr>
          </a:p>
        </p:txBody>
      </p:sp>
      <p:pic>
        <p:nvPicPr>
          <p:cNvPr id="4" name="Content Placeholder 3">
            <a:extLst>
              <a:ext uri="{FF2B5EF4-FFF2-40B4-BE49-F238E27FC236}">
                <a16:creationId xmlns:a16="http://schemas.microsoft.com/office/drawing/2014/main" id="{4CD776D2-C64A-E101-5B8F-160FF4BD4B30}"/>
              </a:ext>
            </a:extLst>
          </p:cNvPr>
          <p:cNvPicPr>
            <a:picLocks noGrp="1" noChangeAspect="1"/>
          </p:cNvPicPr>
          <p:nvPr>
            <p:ph idx="1"/>
          </p:nvPr>
        </p:nvPicPr>
        <p:blipFill>
          <a:blip r:embed="rId2"/>
          <a:stretch>
            <a:fillRect/>
          </a:stretch>
        </p:blipFill>
        <p:spPr>
          <a:xfrm>
            <a:off x="643467" y="2618243"/>
            <a:ext cx="10905066" cy="2508166"/>
          </a:xfrm>
          <a:prstGeom prst="rect">
            <a:avLst/>
          </a:prstGeom>
        </p:spPr>
      </p:pic>
    </p:spTree>
    <p:extLst>
      <p:ext uri="{BB962C8B-B14F-4D97-AF65-F5344CB8AC3E}">
        <p14:creationId xmlns:p14="http://schemas.microsoft.com/office/powerpoint/2010/main" val="19231651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c 28">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8175088" y="457951"/>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aphicFrame>
        <p:nvGraphicFramePr>
          <p:cNvPr id="23" name="Content Placeholder 2">
            <a:extLst>
              <a:ext uri="{FF2B5EF4-FFF2-40B4-BE49-F238E27FC236}">
                <a16:creationId xmlns:a16="http://schemas.microsoft.com/office/drawing/2014/main" id="{060B3383-A4CF-0319-62F5-6C30C23AC164}"/>
              </a:ext>
            </a:extLst>
          </p:cNvPr>
          <p:cNvGraphicFramePr>
            <a:graphicFrameLocks noGrp="1"/>
          </p:cNvGraphicFramePr>
          <p:nvPr>
            <p:ph idx="1"/>
            <p:extLst>
              <p:ext uri="{D42A27DB-BD31-4B8C-83A1-F6EECF244321}">
                <p14:modId xmlns:p14="http://schemas.microsoft.com/office/powerpoint/2010/main" val="193055369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692906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DE4BCE-959E-A2B1-7BFE-6FC21DAEBDFB}"/>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2200" kern="1200">
                <a:solidFill>
                  <a:srgbClr val="FFFFFF"/>
                </a:solidFill>
                <a:latin typeface="+mj-lt"/>
                <a:ea typeface="+mj-ea"/>
                <a:cs typeface="+mj-cs"/>
              </a:rPr>
              <a:t>The Submission Options window will appear, where we must ensure the "Automatically submit daily rates import program" option is enabled, and subsequently click OK.</a:t>
            </a:r>
          </a:p>
        </p:txBody>
      </p:sp>
      <p:pic>
        <p:nvPicPr>
          <p:cNvPr id="4" name="Content Placeholder 3">
            <a:extLst>
              <a:ext uri="{FF2B5EF4-FFF2-40B4-BE49-F238E27FC236}">
                <a16:creationId xmlns:a16="http://schemas.microsoft.com/office/drawing/2014/main" id="{5D913E73-54E5-F8C0-D1EA-16D881A2E09C}"/>
              </a:ext>
            </a:extLst>
          </p:cNvPr>
          <p:cNvPicPr>
            <a:picLocks noGrp="1" noChangeAspect="1"/>
          </p:cNvPicPr>
          <p:nvPr>
            <p:ph idx="1"/>
          </p:nvPr>
        </p:nvPicPr>
        <p:blipFill>
          <a:blip r:embed="rId2"/>
          <a:stretch>
            <a:fillRect/>
          </a:stretch>
        </p:blipFill>
        <p:spPr>
          <a:xfrm>
            <a:off x="2120857" y="1966293"/>
            <a:ext cx="7950284" cy="4452160"/>
          </a:xfrm>
          <a:prstGeom prst="rect">
            <a:avLst/>
          </a:prstGeom>
        </p:spPr>
      </p:pic>
    </p:spTree>
    <p:extLst>
      <p:ext uri="{BB962C8B-B14F-4D97-AF65-F5344CB8AC3E}">
        <p14:creationId xmlns:p14="http://schemas.microsoft.com/office/powerpoint/2010/main" val="323446055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BBF992-934D-E562-8987-828A8BA5D204}"/>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1900" kern="1200">
                <a:solidFill>
                  <a:srgbClr val="FFFFFF"/>
                </a:solidFill>
                <a:latin typeface="+mj-lt"/>
                <a:ea typeface="+mj-ea"/>
                <a:cs typeface="+mj-cs"/>
              </a:rPr>
              <a:t>The system will process the data and display a Confirmation message indicating the number of successfully inserted records and the Process ID submitted to the Daily Rates Interface Table.</a:t>
            </a:r>
          </a:p>
        </p:txBody>
      </p:sp>
      <p:pic>
        <p:nvPicPr>
          <p:cNvPr id="4" name="Content Placeholder 3">
            <a:extLst>
              <a:ext uri="{FF2B5EF4-FFF2-40B4-BE49-F238E27FC236}">
                <a16:creationId xmlns:a16="http://schemas.microsoft.com/office/drawing/2014/main" id="{EE094236-3FF5-2C3B-5DEF-FD692C724FC2}"/>
              </a:ext>
            </a:extLst>
          </p:cNvPr>
          <p:cNvPicPr>
            <a:picLocks noGrp="1" noChangeAspect="1"/>
          </p:cNvPicPr>
          <p:nvPr>
            <p:ph idx="1"/>
          </p:nvPr>
        </p:nvPicPr>
        <p:blipFill>
          <a:blip r:embed="rId2"/>
          <a:stretch>
            <a:fillRect/>
          </a:stretch>
        </p:blipFill>
        <p:spPr>
          <a:xfrm>
            <a:off x="1529682" y="1966293"/>
            <a:ext cx="9132634" cy="4452160"/>
          </a:xfrm>
          <a:prstGeom prst="rect">
            <a:avLst/>
          </a:prstGeom>
        </p:spPr>
      </p:pic>
    </p:spTree>
    <p:extLst>
      <p:ext uri="{BB962C8B-B14F-4D97-AF65-F5344CB8AC3E}">
        <p14:creationId xmlns:p14="http://schemas.microsoft.com/office/powerpoint/2010/main" val="376470263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293F864-DECA-12B9-A69A-8E44F5347920}"/>
              </a:ext>
            </a:extLst>
          </p:cNvPr>
          <p:cNvSpPr>
            <a:spLocks noGrp="1"/>
          </p:cNvSpPr>
          <p:nvPr>
            <p:ph idx="1"/>
          </p:nvPr>
        </p:nvSpPr>
        <p:spPr>
          <a:xfrm>
            <a:off x="4810259" y="649480"/>
            <a:ext cx="6555347" cy="5546047"/>
          </a:xfrm>
        </p:spPr>
        <p:txBody>
          <a:bodyPr anchor="ctr">
            <a:normAutofit/>
          </a:bodyPr>
          <a:lstStyle/>
          <a:p>
            <a:r>
              <a:rPr lang="en-US" sz="2000"/>
              <a:t>Ensuring the activation of the "Automatically submit daily rates import program" option is a critical step, as it guarantees the direct transfer of data from the Interface Tables to the system's Base Tables without the necessity of manually executing any supplementary programs from the user interface. </a:t>
            </a:r>
            <a:endParaRPr lang="ar-EG" sz="2000"/>
          </a:p>
          <a:p>
            <a:r>
              <a:rPr lang="en-US" sz="2000"/>
              <a:t>Observing the Record Status column within the Excel file, which transitions to "Inserted successfully" upon the successful completion of the process, provides the user with immediate confirmation regarding the integrity of the data entry.</a:t>
            </a:r>
          </a:p>
          <a:p>
            <a:r>
              <a:rPr lang="en-US" sz="2000"/>
              <a:t>Validating the preceding configurations by creating Journals in foreign currencies, ensuring the system automatically retrieves the exchange rates and accurately calculates the Functional Currency equivalent, in preparation for Revaluation processes.</a:t>
            </a:r>
          </a:p>
          <a:p>
            <a:endParaRPr lang="en-US" sz="2000"/>
          </a:p>
        </p:txBody>
      </p:sp>
    </p:spTree>
    <p:extLst>
      <p:ext uri="{BB962C8B-B14F-4D97-AF65-F5344CB8AC3E}">
        <p14:creationId xmlns:p14="http://schemas.microsoft.com/office/powerpoint/2010/main" val="139636456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3043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EE6189-425A-F729-A545-96AF7616FF61}"/>
              </a:ext>
            </a:extLst>
          </p:cNvPr>
          <p:cNvSpPr>
            <a:spLocks noGrp="1"/>
          </p:cNvSpPr>
          <p:nvPr>
            <p:ph type="title"/>
          </p:nvPr>
        </p:nvSpPr>
        <p:spPr>
          <a:xfrm>
            <a:off x="556532" y="5322147"/>
            <a:ext cx="11210925" cy="744836"/>
          </a:xfrm>
        </p:spPr>
        <p:txBody>
          <a:bodyPr vert="horz" lIns="91440" tIns="45720" rIns="91440" bIns="45720" rtlCol="0" anchor="ctr">
            <a:normAutofit/>
          </a:bodyPr>
          <a:lstStyle/>
          <a:p>
            <a:pPr algn="ctr"/>
            <a:r>
              <a:rPr lang="en-US" sz="1800" kern="1200">
                <a:solidFill>
                  <a:schemeClr val="bg1"/>
                </a:solidFill>
                <a:latin typeface="+mj-lt"/>
                <a:ea typeface="+mj-ea"/>
                <a:cs typeface="+mj-cs"/>
              </a:rPr>
              <a:t> By returning to the Currency Rates Manager screen and querying the imported currencies, such as SAR to EGP, it is clearly evident that the rates uploaded via ADF have been successfully recorded and their effective dates are active.</a:t>
            </a:r>
          </a:p>
        </p:txBody>
      </p:sp>
      <p:pic>
        <p:nvPicPr>
          <p:cNvPr id="4" name="Content Placeholder 3">
            <a:extLst>
              <a:ext uri="{FF2B5EF4-FFF2-40B4-BE49-F238E27FC236}">
                <a16:creationId xmlns:a16="http://schemas.microsoft.com/office/drawing/2014/main" id="{BB666A76-F449-4FDD-2F59-C32155D1637D}"/>
              </a:ext>
            </a:extLst>
          </p:cNvPr>
          <p:cNvPicPr>
            <a:picLocks noGrp="1" noChangeAspect="1"/>
          </p:cNvPicPr>
          <p:nvPr>
            <p:ph idx="1"/>
          </p:nvPr>
        </p:nvPicPr>
        <p:blipFill>
          <a:blip r:embed="rId2"/>
          <a:stretch>
            <a:fillRect/>
          </a:stretch>
        </p:blipFill>
        <p:spPr>
          <a:xfrm>
            <a:off x="1419128" y="425547"/>
            <a:ext cx="9353743" cy="4583333"/>
          </a:xfrm>
          <a:prstGeom prst="rect">
            <a:avLst/>
          </a:prstGeom>
        </p:spPr>
      </p:pic>
    </p:spTree>
    <p:extLst>
      <p:ext uri="{BB962C8B-B14F-4D97-AF65-F5344CB8AC3E}">
        <p14:creationId xmlns:p14="http://schemas.microsoft.com/office/powerpoint/2010/main" val="140339450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D1E0A7-CC6F-AF89-809A-15148F17D68A}"/>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1800" b="1" u="sng" kern="1200">
                <a:solidFill>
                  <a:schemeClr val="bg1"/>
                </a:solidFill>
                <a:latin typeface="+mj-lt"/>
                <a:ea typeface="+mj-ea"/>
                <a:cs typeface="+mj-cs"/>
              </a:rPr>
              <a:t>Create Journal With Functional &amp; Foreign Currency</a:t>
            </a:r>
            <a:br>
              <a:rPr lang="en-US" sz="1800" kern="1200">
                <a:solidFill>
                  <a:schemeClr val="bg1"/>
                </a:solidFill>
                <a:latin typeface="+mj-lt"/>
                <a:ea typeface="+mj-ea"/>
                <a:cs typeface="+mj-cs"/>
              </a:rPr>
            </a:br>
            <a:r>
              <a:rPr lang="en-US" sz="1800" kern="1200">
                <a:solidFill>
                  <a:schemeClr val="bg1"/>
                </a:solidFill>
                <a:latin typeface="+mj-lt"/>
                <a:ea typeface="+mj-ea"/>
                <a:cs typeface="+mj-cs"/>
              </a:rPr>
              <a:t>Navigate to the General Accounting application, then proceed to the Journals management screen to Create Journal.</a:t>
            </a:r>
          </a:p>
        </p:txBody>
      </p:sp>
      <p:pic>
        <p:nvPicPr>
          <p:cNvPr id="4" name="Content Placeholder 3">
            <a:extLst>
              <a:ext uri="{FF2B5EF4-FFF2-40B4-BE49-F238E27FC236}">
                <a16:creationId xmlns:a16="http://schemas.microsoft.com/office/drawing/2014/main" id="{1F8EE9CB-0238-D30D-5AAD-1A1BF2A6F8BC}"/>
              </a:ext>
            </a:extLst>
          </p:cNvPr>
          <p:cNvPicPr>
            <a:picLocks noGrp="1" noChangeAspect="1"/>
          </p:cNvPicPr>
          <p:nvPr>
            <p:ph idx="1"/>
          </p:nvPr>
        </p:nvPicPr>
        <p:blipFill>
          <a:blip r:embed="rId2"/>
          <a:stretch>
            <a:fillRect/>
          </a:stretch>
        </p:blipFill>
        <p:spPr>
          <a:xfrm>
            <a:off x="864811" y="1675227"/>
            <a:ext cx="10462377" cy="4394199"/>
          </a:xfrm>
          <a:prstGeom prst="rect">
            <a:avLst/>
          </a:prstGeom>
        </p:spPr>
      </p:pic>
    </p:spTree>
    <p:extLst>
      <p:ext uri="{BB962C8B-B14F-4D97-AF65-F5344CB8AC3E}">
        <p14:creationId xmlns:p14="http://schemas.microsoft.com/office/powerpoint/2010/main" val="276016165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ECCBD9A-DAC9-4972-053D-156E72BF629A}"/>
              </a:ext>
            </a:extLst>
          </p:cNvPr>
          <p:cNvSpPr>
            <a:spLocks noGrp="1"/>
          </p:cNvSpPr>
          <p:nvPr>
            <p:ph idx="1"/>
          </p:nvPr>
        </p:nvSpPr>
        <p:spPr>
          <a:xfrm>
            <a:off x="4810259" y="649480"/>
            <a:ext cx="6555347" cy="5546047"/>
          </a:xfrm>
        </p:spPr>
        <p:txBody>
          <a:bodyPr anchor="ctr">
            <a:normAutofit/>
          </a:bodyPr>
          <a:lstStyle/>
          <a:p>
            <a:r>
              <a:rPr lang="en-US" sz="2000"/>
              <a:t>Upon selecting a foreign currency such as USD and specifying the Accounting Date, the system immediately retrieves the default Rate Type: Nile Spot, along with the corresponding Conversion Rate for that day, automatically and without manual intervention.. </a:t>
            </a:r>
          </a:p>
          <a:p>
            <a:r>
              <a:rPr lang="en-US" sz="2000"/>
              <a:t>Accounting Treatment (Entered vs. Accounted): Within the Journal Lines section, we observe the division of amounts into two primary components: o Entered USD: This represents the original transaction amount denominated in the foreign currency, signifying the actual transaction value. o Accounted EGP: This denotes the equivalent value in the Ledger's functional currency, which the system automatically calculates by multiplying the Entered Amount by the Conversion Rate (e.g., $10,000 × 48 = 480,000 EGP).</a:t>
            </a:r>
          </a:p>
        </p:txBody>
      </p:sp>
    </p:spTree>
    <p:extLst>
      <p:ext uri="{BB962C8B-B14F-4D97-AF65-F5344CB8AC3E}">
        <p14:creationId xmlns:p14="http://schemas.microsoft.com/office/powerpoint/2010/main" val="296537970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22F3E2-2505-51E4-3C90-36C96158550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1600" kern="1200">
                <a:solidFill>
                  <a:srgbClr val="FFFFFF"/>
                </a:solidFill>
                <a:latin typeface="+mj-lt"/>
                <a:ea typeface="+mj-ea"/>
                <a:cs typeface="+mj-cs"/>
              </a:rPr>
              <a:t>The segregation between the Entered and Accounted fields constitutes Oracle's fundamental mechanism to ensure that all transactions ultimately flow into the Trial Balance in a single currency (the Functional Currency), while preserving the original values for bank reconciliations and supplier/customer settlements.</a:t>
            </a:r>
          </a:p>
        </p:txBody>
      </p:sp>
      <p:pic>
        <p:nvPicPr>
          <p:cNvPr id="4" name="Content Placeholder 3">
            <a:extLst>
              <a:ext uri="{FF2B5EF4-FFF2-40B4-BE49-F238E27FC236}">
                <a16:creationId xmlns:a16="http://schemas.microsoft.com/office/drawing/2014/main" id="{6D490EDB-92EA-66BA-A28B-63299E6B2E60}"/>
              </a:ext>
            </a:extLst>
          </p:cNvPr>
          <p:cNvPicPr>
            <a:picLocks noGrp="1" noChangeAspect="1"/>
          </p:cNvPicPr>
          <p:nvPr>
            <p:ph idx="1"/>
          </p:nvPr>
        </p:nvPicPr>
        <p:blipFill>
          <a:blip r:embed="rId2"/>
          <a:stretch>
            <a:fillRect/>
          </a:stretch>
        </p:blipFill>
        <p:spPr>
          <a:xfrm>
            <a:off x="432225" y="2195893"/>
            <a:ext cx="11327549" cy="3992960"/>
          </a:xfrm>
          <a:prstGeom prst="rect">
            <a:avLst/>
          </a:prstGeom>
        </p:spPr>
      </p:pic>
    </p:spTree>
    <p:extLst>
      <p:ext uri="{BB962C8B-B14F-4D97-AF65-F5344CB8AC3E}">
        <p14:creationId xmlns:p14="http://schemas.microsoft.com/office/powerpoint/2010/main" val="366778986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E60709-77D4-4246-5CCF-5BD1AA4DBB04}"/>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2500" kern="1200">
                <a:solidFill>
                  <a:srgbClr val="FFFFFF"/>
                </a:solidFill>
                <a:latin typeface="+mj-lt"/>
                <a:ea typeface="+mj-ea"/>
                <a:cs typeface="+mj-cs"/>
              </a:rPr>
              <a:t>Creating and Posting a diverse set of journal entries to establish sufficient balances for testing the subsequent Revaluation process.</a:t>
            </a:r>
          </a:p>
        </p:txBody>
      </p:sp>
      <p:pic>
        <p:nvPicPr>
          <p:cNvPr id="4" name="Content Placeholder 3">
            <a:extLst>
              <a:ext uri="{FF2B5EF4-FFF2-40B4-BE49-F238E27FC236}">
                <a16:creationId xmlns:a16="http://schemas.microsoft.com/office/drawing/2014/main" id="{3666ED1D-1EBD-A88D-957E-A8F32DBB9F9B}"/>
              </a:ext>
            </a:extLst>
          </p:cNvPr>
          <p:cNvPicPr>
            <a:picLocks noGrp="1" noChangeAspect="1"/>
          </p:cNvPicPr>
          <p:nvPr>
            <p:ph idx="1"/>
          </p:nvPr>
        </p:nvPicPr>
        <p:blipFill>
          <a:blip r:embed="rId2"/>
          <a:stretch>
            <a:fillRect/>
          </a:stretch>
        </p:blipFill>
        <p:spPr>
          <a:xfrm>
            <a:off x="1709635" y="1966293"/>
            <a:ext cx="8772728" cy="4452160"/>
          </a:xfrm>
          <a:prstGeom prst="rect">
            <a:avLst/>
          </a:prstGeom>
        </p:spPr>
      </p:pic>
    </p:spTree>
    <p:extLst>
      <p:ext uri="{BB962C8B-B14F-4D97-AF65-F5344CB8AC3E}">
        <p14:creationId xmlns:p14="http://schemas.microsoft.com/office/powerpoint/2010/main" val="419210508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Rectangle 2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755BE24-0F00-AF0D-C060-F87B637D5C99}"/>
              </a:ext>
            </a:extLst>
          </p:cNvPr>
          <p:cNvSpPr>
            <a:spLocks noGrp="1"/>
          </p:cNvSpPr>
          <p:nvPr>
            <p:ph idx="1"/>
          </p:nvPr>
        </p:nvSpPr>
        <p:spPr>
          <a:xfrm>
            <a:off x="4810259" y="649480"/>
            <a:ext cx="6555347" cy="5546047"/>
          </a:xfrm>
        </p:spPr>
        <p:txBody>
          <a:bodyPr anchor="ctr">
            <a:normAutofit/>
          </a:bodyPr>
          <a:lstStyle/>
          <a:p>
            <a:pPr marL="0" indent="0">
              <a:buNone/>
            </a:pPr>
            <a:r>
              <a:rPr lang="en-US" sz="2000" b="1"/>
              <a:t>Additionally, it is imperative to emphasize that the journal status must be Posted, as the Revaluation and Translation processes do not recognize Unposted journals</a:t>
            </a:r>
            <a:r>
              <a:rPr lang="ar-SA" sz="2000" b="1"/>
              <a:t>.</a:t>
            </a:r>
            <a:endParaRPr lang="en-US" sz="2000"/>
          </a:p>
          <a:p>
            <a:endParaRPr lang="en-US" sz="2000"/>
          </a:p>
        </p:txBody>
      </p:sp>
    </p:spTree>
    <p:extLst>
      <p:ext uri="{BB962C8B-B14F-4D97-AF65-F5344CB8AC3E}">
        <p14:creationId xmlns:p14="http://schemas.microsoft.com/office/powerpoint/2010/main" val="224136978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17E911-875F-4DE5-8699-99D9F1805A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80DD44-BFDB-BA74-C954-B43E3871F7C3}"/>
              </a:ext>
            </a:extLst>
          </p:cNvPr>
          <p:cNvSpPr>
            <a:spLocks noGrp="1"/>
          </p:cNvSpPr>
          <p:nvPr>
            <p:ph type="title"/>
          </p:nvPr>
        </p:nvSpPr>
        <p:spPr>
          <a:xfrm>
            <a:off x="466722" y="586855"/>
            <a:ext cx="3201366" cy="3387497"/>
          </a:xfrm>
        </p:spPr>
        <p:txBody>
          <a:bodyPr anchor="b">
            <a:normAutofit/>
          </a:bodyPr>
          <a:lstStyle/>
          <a:p>
            <a:pPr algn="r"/>
            <a:r>
              <a:rPr lang="en-US" sz="4000" b="1" u="sng">
                <a:solidFill>
                  <a:srgbClr val="FFFFFF"/>
                </a:solidFill>
              </a:rPr>
              <a:t>Revaluation</a:t>
            </a:r>
            <a:br>
              <a:rPr lang="en-US" sz="4000">
                <a:solidFill>
                  <a:srgbClr val="FFFFFF"/>
                </a:solidFill>
              </a:rPr>
            </a:br>
            <a:endParaRPr lang="en-US" sz="4000">
              <a:solidFill>
                <a:srgbClr val="FFFFFF"/>
              </a:solidFill>
            </a:endParaRPr>
          </a:p>
        </p:txBody>
      </p:sp>
      <p:sp>
        <p:nvSpPr>
          <p:cNvPr id="3" name="Content Placeholder 2">
            <a:extLst>
              <a:ext uri="{FF2B5EF4-FFF2-40B4-BE49-F238E27FC236}">
                <a16:creationId xmlns:a16="http://schemas.microsoft.com/office/drawing/2014/main" id="{255B0868-C55C-B64C-0D7A-D66E826DCFC9}"/>
              </a:ext>
            </a:extLst>
          </p:cNvPr>
          <p:cNvSpPr>
            <a:spLocks noGrp="1"/>
          </p:cNvSpPr>
          <p:nvPr>
            <p:ph idx="1"/>
          </p:nvPr>
        </p:nvSpPr>
        <p:spPr>
          <a:xfrm>
            <a:off x="4581727" y="649480"/>
            <a:ext cx="3025303" cy="5546047"/>
          </a:xfrm>
        </p:spPr>
        <p:txBody>
          <a:bodyPr anchor="ctr">
            <a:normAutofit/>
          </a:bodyPr>
          <a:lstStyle/>
          <a:p>
            <a:pPr marL="0" indent="0">
              <a:buNone/>
            </a:pPr>
            <a:r>
              <a:rPr lang="en-US" sz="2000"/>
              <a:t>Creating a Revaluation Template to calculate the variances resulting from exchange rate fluctuations on outstanding foreign currency balances at period-end, such as bank accounts, and automatically routing these variances to the Unrealized Gain/Loss accounts as a fundamental component of the Period-End Close procedures.</a:t>
            </a:r>
          </a:p>
        </p:txBody>
      </p:sp>
      <p:pic>
        <p:nvPicPr>
          <p:cNvPr id="5" name="Picture 4" descr="Orange and blue numbers and graphs">
            <a:extLst>
              <a:ext uri="{FF2B5EF4-FFF2-40B4-BE49-F238E27FC236}">
                <a16:creationId xmlns:a16="http://schemas.microsoft.com/office/drawing/2014/main" id="{99547360-6387-934F-B163-C390663DEEDC}"/>
              </a:ext>
            </a:extLst>
          </p:cNvPr>
          <p:cNvPicPr>
            <a:picLocks noChangeAspect="1"/>
          </p:cNvPicPr>
          <p:nvPr/>
        </p:nvPicPr>
        <p:blipFill>
          <a:blip r:embed="rId2"/>
          <a:srcRect l="27042" r="36497" b="1"/>
          <a:stretch>
            <a:fillRect/>
          </a:stretch>
        </p:blipFill>
        <p:spPr>
          <a:xfrm>
            <a:off x="8109502" y="10"/>
            <a:ext cx="4082498" cy="6857990"/>
          </a:xfrm>
          <a:prstGeom prst="rect">
            <a:avLst/>
          </a:prstGeom>
        </p:spPr>
      </p:pic>
    </p:spTree>
    <p:extLst>
      <p:ext uri="{BB962C8B-B14F-4D97-AF65-F5344CB8AC3E}">
        <p14:creationId xmlns:p14="http://schemas.microsoft.com/office/powerpoint/2010/main" val="169335631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93E29B-C709-B91B-4C47-0D3ECD3BEC93}"/>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kern="1200">
                <a:solidFill>
                  <a:schemeClr val="bg1"/>
                </a:solidFill>
                <a:latin typeface="+mj-lt"/>
                <a:ea typeface="+mj-ea"/>
                <a:cs typeface="+mj-cs"/>
              </a:rPr>
              <a:t>Through the Setup and Maintenance screen, navigate to the General Ledger functional area, and subsequently select the Manage Revaluations task.</a:t>
            </a:r>
          </a:p>
        </p:txBody>
      </p:sp>
      <p:pic>
        <p:nvPicPr>
          <p:cNvPr id="4" name="Content Placeholder 3">
            <a:extLst>
              <a:ext uri="{FF2B5EF4-FFF2-40B4-BE49-F238E27FC236}">
                <a16:creationId xmlns:a16="http://schemas.microsoft.com/office/drawing/2014/main" id="{858B7924-7520-9C4A-F8E3-B51F89D12C01}"/>
              </a:ext>
            </a:extLst>
          </p:cNvPr>
          <p:cNvPicPr>
            <a:picLocks noGrp="1" noChangeAspect="1"/>
          </p:cNvPicPr>
          <p:nvPr>
            <p:ph idx="1"/>
          </p:nvPr>
        </p:nvPicPr>
        <p:blipFill>
          <a:blip r:embed="rId2"/>
          <a:stretch>
            <a:fillRect/>
          </a:stretch>
        </p:blipFill>
        <p:spPr>
          <a:xfrm>
            <a:off x="1470528" y="1675227"/>
            <a:ext cx="9250943" cy="4394199"/>
          </a:xfrm>
          <a:prstGeom prst="rect">
            <a:avLst/>
          </a:prstGeom>
        </p:spPr>
      </p:pic>
    </p:spTree>
    <p:extLst>
      <p:ext uri="{BB962C8B-B14F-4D97-AF65-F5344CB8AC3E}">
        <p14:creationId xmlns:p14="http://schemas.microsoft.com/office/powerpoint/2010/main" val="268647459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64FB23-FAFA-5587-931C-5CE32471CE4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kern="1200">
                <a:solidFill>
                  <a:schemeClr val="bg1"/>
                </a:solidFill>
                <a:latin typeface="+mj-lt"/>
                <a:ea typeface="+mj-ea"/>
                <a:cs typeface="+mj-cs"/>
              </a:rPr>
              <a:t>On the Manage Revaluations screen, click the Add (+) icon to create a new Revaluation template</a:t>
            </a:r>
          </a:p>
        </p:txBody>
      </p:sp>
      <p:pic>
        <p:nvPicPr>
          <p:cNvPr id="4" name="Content Placeholder 3">
            <a:extLst>
              <a:ext uri="{FF2B5EF4-FFF2-40B4-BE49-F238E27FC236}">
                <a16:creationId xmlns:a16="http://schemas.microsoft.com/office/drawing/2014/main" id="{1EC62FD2-D859-C034-D959-82E881D15C75}"/>
              </a:ext>
            </a:extLst>
          </p:cNvPr>
          <p:cNvPicPr>
            <a:picLocks noGrp="1" noChangeAspect="1"/>
          </p:cNvPicPr>
          <p:nvPr>
            <p:ph idx="1"/>
          </p:nvPr>
        </p:nvPicPr>
        <p:blipFill>
          <a:blip r:embed="rId2"/>
          <a:stretch>
            <a:fillRect/>
          </a:stretch>
        </p:blipFill>
        <p:spPr>
          <a:xfrm>
            <a:off x="1657414" y="1675227"/>
            <a:ext cx="8877171" cy="4394199"/>
          </a:xfrm>
          <a:prstGeom prst="rect">
            <a:avLst/>
          </a:prstGeom>
        </p:spPr>
      </p:pic>
    </p:spTree>
    <p:extLst>
      <p:ext uri="{BB962C8B-B14F-4D97-AF65-F5344CB8AC3E}">
        <p14:creationId xmlns:p14="http://schemas.microsoft.com/office/powerpoint/2010/main" val="353734037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FA164A-E33E-E905-FAA0-E3C8F597F73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000" kern="1200">
                <a:solidFill>
                  <a:schemeClr val="bg1"/>
                </a:solidFill>
                <a:latin typeface="+mj-lt"/>
                <a:ea typeface="+mj-ea"/>
                <a:cs typeface="+mj-cs"/>
              </a:rPr>
              <a:t>On the Edit Revaluation screen, enter the template's defining parameters, such as the Name "revaluation cash in bank", and specify the Chart of Accounts and the Revaluation Currency as USD</a:t>
            </a:r>
          </a:p>
        </p:txBody>
      </p:sp>
      <p:pic>
        <p:nvPicPr>
          <p:cNvPr id="4" name="Content Placeholder 3">
            <a:extLst>
              <a:ext uri="{FF2B5EF4-FFF2-40B4-BE49-F238E27FC236}">
                <a16:creationId xmlns:a16="http://schemas.microsoft.com/office/drawing/2014/main" id="{CEE35788-51C1-D87E-BAEA-ED24310182AD}"/>
              </a:ext>
            </a:extLst>
          </p:cNvPr>
          <p:cNvPicPr>
            <a:picLocks noGrp="1" noChangeAspect="1"/>
          </p:cNvPicPr>
          <p:nvPr>
            <p:ph idx="1"/>
          </p:nvPr>
        </p:nvPicPr>
        <p:blipFill>
          <a:blip r:embed="rId2"/>
          <a:stretch>
            <a:fillRect/>
          </a:stretch>
        </p:blipFill>
        <p:spPr>
          <a:xfrm>
            <a:off x="956587" y="1675227"/>
            <a:ext cx="10278826" cy="4394199"/>
          </a:xfrm>
          <a:prstGeom prst="rect">
            <a:avLst/>
          </a:prstGeom>
        </p:spPr>
      </p:pic>
    </p:spTree>
    <p:extLst>
      <p:ext uri="{BB962C8B-B14F-4D97-AF65-F5344CB8AC3E}">
        <p14:creationId xmlns:p14="http://schemas.microsoft.com/office/powerpoint/2010/main" val="402553446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03236BA-B284-E111-178C-8E3EB5A27465}"/>
              </a:ext>
            </a:extLst>
          </p:cNvPr>
          <p:cNvSpPr>
            <a:spLocks noGrp="1"/>
          </p:cNvSpPr>
          <p:nvPr>
            <p:ph idx="1"/>
          </p:nvPr>
        </p:nvSpPr>
        <p:spPr>
          <a:xfrm>
            <a:off x="4810259" y="649480"/>
            <a:ext cx="6555347" cy="5546047"/>
          </a:xfrm>
        </p:spPr>
        <p:txBody>
          <a:bodyPr anchor="ctr">
            <a:normAutofit/>
          </a:bodyPr>
          <a:lstStyle/>
          <a:p>
            <a:r>
              <a:rPr lang="en-US" sz="1400"/>
              <a:t>Link the template to the designated custom exchange rate type established for recording period-end rates (Conversion Rate Type: Nile Rate). </a:t>
            </a:r>
            <a:endParaRPr lang="ar-EG" sz="1400"/>
          </a:p>
          <a:p>
            <a:r>
              <a:rPr lang="en-US" sz="1400"/>
              <a:t> Clearly specify the reconciliation accounts within the Chart of Accounts to which the system will route the journal entries, specifically defining the Unrealized Gain Account and Unrealized Loss Account fields.</a:t>
            </a:r>
          </a:p>
          <a:p>
            <a:r>
              <a:rPr lang="en-US" sz="1400"/>
              <a:t>Within the Revaluation Accounts section, Filter Conditions are added to precisely designate the targeted accounts. In this instance, supplier, bank, and customer accounts were selected for balance revaluation. </a:t>
            </a:r>
            <a:endParaRPr lang="ar-EG" sz="1400"/>
          </a:p>
          <a:p>
            <a:r>
              <a:rPr lang="en-US" sz="1400"/>
              <a:t> The application of Account Filters ensures compliance with International Financial Reporting Standards (IFRS), as period-end revaluation must be strictly confined to Monetary Items, such as bank accounts, accounts receivable, and accounts payable. The template must not be applied to revenues, expenses, or fixed assets. </a:t>
            </a:r>
            <a:endParaRPr lang="ar-EG" sz="1400"/>
          </a:p>
          <a:p>
            <a:r>
              <a:rPr lang="en-US" sz="1400"/>
              <a:t> Automation &amp; Fast Close: Enabling the "Post automatically" option is a pivotal step in accelerating the monthly close cycle. Upon completion of the revaluation process, the system instantaneously generates and posts the journal entry directly to the General Ledger without necessitating further manual intervention.</a:t>
            </a:r>
          </a:p>
          <a:p>
            <a:r>
              <a:rPr lang="en-US" sz="1400"/>
              <a:t>Revaluation Execution: The actual execution of the revaluation process calculates exchange rate variances for bank balances based on the configured template, automatically generating the corresponding Revaluation Journal within the General Ledger.</a:t>
            </a:r>
          </a:p>
        </p:txBody>
      </p:sp>
    </p:spTree>
    <p:extLst>
      <p:ext uri="{BB962C8B-B14F-4D97-AF65-F5344CB8AC3E}">
        <p14:creationId xmlns:p14="http://schemas.microsoft.com/office/powerpoint/2010/main" val="411052758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16C7AE-2BDD-EB7F-ECA0-6D33F18A646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kern="1200">
                <a:solidFill>
                  <a:schemeClr val="bg1"/>
                </a:solidFill>
                <a:latin typeface="+mj-lt"/>
                <a:ea typeface="+mj-ea"/>
                <a:cs typeface="+mj-cs"/>
              </a:rPr>
              <a:t>Returning to the Manage Revaluations screen, select the established "revaluation cash in bank" template, and subsequently click the Generate button.</a:t>
            </a:r>
          </a:p>
        </p:txBody>
      </p:sp>
      <p:pic>
        <p:nvPicPr>
          <p:cNvPr id="4" name="Content Placeholder 3">
            <a:extLst>
              <a:ext uri="{FF2B5EF4-FFF2-40B4-BE49-F238E27FC236}">
                <a16:creationId xmlns:a16="http://schemas.microsoft.com/office/drawing/2014/main" id="{272CCE00-D5E8-DAA7-5367-00B3D2601CB6}"/>
              </a:ext>
            </a:extLst>
          </p:cNvPr>
          <p:cNvPicPr>
            <a:picLocks noGrp="1" noChangeAspect="1"/>
          </p:cNvPicPr>
          <p:nvPr>
            <p:ph idx="1"/>
          </p:nvPr>
        </p:nvPicPr>
        <p:blipFill>
          <a:blip r:embed="rId2"/>
          <a:stretch>
            <a:fillRect/>
          </a:stretch>
        </p:blipFill>
        <p:spPr>
          <a:xfrm>
            <a:off x="737220" y="1675227"/>
            <a:ext cx="10717560" cy="4394199"/>
          </a:xfrm>
          <a:prstGeom prst="rect">
            <a:avLst/>
          </a:prstGeom>
        </p:spPr>
      </p:pic>
    </p:spTree>
    <p:extLst>
      <p:ext uri="{BB962C8B-B14F-4D97-AF65-F5344CB8AC3E}">
        <p14:creationId xmlns:p14="http://schemas.microsoft.com/office/powerpoint/2010/main" val="278930150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203DE33-2CD4-4CA8-9AF3-37C3B6513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3A33616A-B7BB-382F-887A-D3891A3B8062}"/>
              </a:ext>
            </a:extLst>
          </p:cNvPr>
          <p:cNvPicPr>
            <a:picLocks noGrp="1" noChangeAspect="1"/>
          </p:cNvPicPr>
          <p:nvPr>
            <p:ph idx="1"/>
          </p:nvPr>
        </p:nvPicPr>
        <p:blipFill>
          <a:blip r:embed="rId2"/>
          <a:srcRect b="2868"/>
          <a:stretch>
            <a:fillRect/>
          </a:stretch>
        </p:blipFill>
        <p:spPr>
          <a:xfrm>
            <a:off x="4038599" y="10"/>
            <a:ext cx="8160026" cy="6875809"/>
          </a:xfrm>
          <a:prstGeom prst="rect">
            <a:avLst/>
          </a:prstGeom>
        </p:spPr>
      </p:pic>
      <p:sp>
        <p:nvSpPr>
          <p:cNvPr id="15" name="Freeform: Shape 14">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C166D09-F3FA-49FB-86DE-2E50DA4AD17D}"/>
              </a:ext>
            </a:extLst>
          </p:cNvPr>
          <p:cNvSpPr>
            <a:spLocks noGrp="1"/>
          </p:cNvSpPr>
          <p:nvPr>
            <p:ph type="title"/>
          </p:nvPr>
        </p:nvSpPr>
        <p:spPr>
          <a:xfrm>
            <a:off x="534473" y="2950387"/>
            <a:ext cx="3052293" cy="3531403"/>
          </a:xfrm>
        </p:spPr>
        <p:txBody>
          <a:bodyPr vert="horz" lIns="91440" tIns="45720" rIns="91440" bIns="45720" rtlCol="0">
            <a:normAutofit/>
          </a:bodyPr>
          <a:lstStyle/>
          <a:p>
            <a:pPr algn="r"/>
            <a:r>
              <a:rPr lang="en-US" sz="1600">
                <a:solidFill>
                  <a:srgbClr val="FFFFFF"/>
                </a:solidFill>
              </a:rPr>
              <a:t>The Basic Options window for process execution will appear, where we specify the process parameters, such as the Data Access Set and the Ledger, to ensure the journals are accurately routed to the correct ledger.</a:t>
            </a:r>
            <a:br>
              <a:rPr lang="en-US" sz="1600">
                <a:solidFill>
                  <a:srgbClr val="FFFFFF"/>
                </a:solidFill>
              </a:rPr>
            </a:br>
            <a:r>
              <a:rPr lang="en-US" sz="1600">
                <a:solidFill>
                  <a:srgbClr val="FFFFFF"/>
                </a:solidFill>
              </a:rPr>
              <a:t>Specify the Accounting Period as Oct-26. Crucially, input the Accounting Date and the Rate Date; these are designated here as October 15, 2026, to align with the previously uploaded conversion rate</a:t>
            </a:r>
          </a:p>
        </p:txBody>
      </p:sp>
    </p:spTree>
    <p:extLst>
      <p:ext uri="{BB962C8B-B14F-4D97-AF65-F5344CB8AC3E}">
        <p14:creationId xmlns:p14="http://schemas.microsoft.com/office/powerpoint/2010/main" val="191708578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203DE33-2CD4-4CA8-9AF3-37C3B6513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387F6E00-9148-FCA5-286E-7BB8F8017714}"/>
              </a:ext>
            </a:extLst>
          </p:cNvPr>
          <p:cNvPicPr>
            <a:picLocks noGrp="1" noChangeAspect="1"/>
          </p:cNvPicPr>
          <p:nvPr>
            <p:ph idx="1"/>
          </p:nvPr>
        </p:nvPicPr>
        <p:blipFill rotWithShape="1">
          <a:blip r:embed="rId2"/>
          <a:srcRect b="5056"/>
          <a:stretch>
            <a:fillRect/>
          </a:stretch>
        </p:blipFill>
        <p:spPr bwMode="auto">
          <a:xfrm>
            <a:off x="4038599" y="10"/>
            <a:ext cx="8160026" cy="6875809"/>
          </a:xfrm>
          <a:prstGeom prst="rect">
            <a:avLst/>
          </a:prstGeom>
          <a:extLst>
            <a:ext uri="{53640926-AAD7-44D8-BBD7-CCE9431645EC}">
              <a14:shadowObscured xmlns:a14="http://schemas.microsoft.com/office/drawing/2010/main"/>
            </a:ext>
          </a:extLst>
        </p:spPr>
      </p:pic>
      <p:sp>
        <p:nvSpPr>
          <p:cNvPr id="15" name="Freeform: Shape 14">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03F45A-1C07-2929-19F0-AAB5E83BD357}"/>
              </a:ext>
            </a:extLst>
          </p:cNvPr>
          <p:cNvSpPr>
            <a:spLocks noGrp="1"/>
          </p:cNvSpPr>
          <p:nvPr>
            <p:ph type="title"/>
          </p:nvPr>
        </p:nvSpPr>
        <p:spPr>
          <a:xfrm>
            <a:off x="534473" y="2950387"/>
            <a:ext cx="3052293" cy="3531403"/>
          </a:xfrm>
        </p:spPr>
        <p:txBody>
          <a:bodyPr vert="horz" lIns="91440" tIns="45720" rIns="91440" bIns="45720" rtlCol="0">
            <a:normAutofit/>
          </a:bodyPr>
          <a:lstStyle/>
          <a:p>
            <a:pPr algn="r"/>
            <a:r>
              <a:rPr lang="en-US" sz="1900">
                <a:solidFill>
                  <a:srgbClr val="FFFFFF"/>
                </a:solidFill>
              </a:rPr>
              <a:t>Upon clicking Submit, the system generates a Confirmation message providing the Process ID. </a:t>
            </a:r>
            <a:br>
              <a:rPr lang="en-US" sz="1900">
                <a:solidFill>
                  <a:srgbClr val="FFFFFF"/>
                </a:solidFill>
              </a:rPr>
            </a:br>
            <a:r>
              <a:rPr lang="en-US" sz="1900">
                <a:solidFill>
                  <a:srgbClr val="FFFFFF"/>
                </a:solidFill>
              </a:rPr>
              <a:t>To monitor the execution status, navigate to the Scheduled Processes screen and query using the Process ID to verify that the Revalue Balances program has completed successfully with a Status of "Succeeded".</a:t>
            </a:r>
          </a:p>
        </p:txBody>
      </p:sp>
    </p:spTree>
    <p:extLst>
      <p:ext uri="{BB962C8B-B14F-4D97-AF65-F5344CB8AC3E}">
        <p14:creationId xmlns:p14="http://schemas.microsoft.com/office/powerpoint/2010/main" val="284300273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3043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D267E3-F827-79CD-CC36-1585D97D9C46}"/>
              </a:ext>
            </a:extLst>
          </p:cNvPr>
          <p:cNvSpPr>
            <a:spLocks noGrp="1"/>
          </p:cNvSpPr>
          <p:nvPr>
            <p:ph type="title"/>
          </p:nvPr>
        </p:nvSpPr>
        <p:spPr>
          <a:xfrm>
            <a:off x="556532" y="5322147"/>
            <a:ext cx="11210925" cy="744836"/>
          </a:xfrm>
        </p:spPr>
        <p:txBody>
          <a:bodyPr vert="horz" lIns="91440" tIns="45720" rIns="91440" bIns="45720" rtlCol="0" anchor="ctr">
            <a:normAutofit/>
          </a:bodyPr>
          <a:lstStyle/>
          <a:p>
            <a:pPr algn="ctr"/>
            <a:r>
              <a:rPr lang="en-US" sz="1000" kern="1200">
                <a:solidFill>
                  <a:schemeClr val="bg1"/>
                </a:solidFill>
                <a:latin typeface="+mj-lt"/>
                <a:ea typeface="+mj-ea"/>
                <a:cs typeface="+mj-cs"/>
              </a:rPr>
              <a:t>Reviewing and analyzing the accounting journal generated by the Revaluation process (Revaluation Journal), and verifying the accurate accounting routing for currency variances (Unrealized Exchange Gains/Losses) and their direct impact on the financial statements..</a:t>
            </a:r>
            <a:br>
              <a:rPr lang="en-US" sz="1000" kern="1200">
                <a:solidFill>
                  <a:schemeClr val="bg1"/>
                </a:solidFill>
                <a:latin typeface="+mj-lt"/>
                <a:ea typeface="+mj-ea"/>
                <a:cs typeface="+mj-cs"/>
              </a:rPr>
            </a:br>
            <a:r>
              <a:rPr lang="en-US" sz="1000" kern="1200">
                <a:solidFill>
                  <a:schemeClr val="bg1"/>
                </a:solidFill>
                <a:latin typeface="+mj-lt"/>
                <a:ea typeface="+mj-ea"/>
                <a:cs typeface="+mj-cs"/>
              </a:rPr>
              <a:t>Navigating to the Manage Journals screen and querying for posted journals clearly reveals the automatically generated journal, designated with the Source and Category: Revaluation</a:t>
            </a:r>
          </a:p>
        </p:txBody>
      </p:sp>
      <p:pic>
        <p:nvPicPr>
          <p:cNvPr id="4" name="Content Placeholder 3">
            <a:extLst>
              <a:ext uri="{FF2B5EF4-FFF2-40B4-BE49-F238E27FC236}">
                <a16:creationId xmlns:a16="http://schemas.microsoft.com/office/drawing/2014/main" id="{76CDFBE0-820F-EFE5-9C3C-85759B278CEC}"/>
              </a:ext>
            </a:extLst>
          </p:cNvPr>
          <p:cNvPicPr>
            <a:picLocks noGrp="1" noChangeAspect="1"/>
          </p:cNvPicPr>
          <p:nvPr>
            <p:ph idx="1"/>
          </p:nvPr>
        </p:nvPicPr>
        <p:blipFill>
          <a:blip r:embed="rId2"/>
          <a:stretch>
            <a:fillRect/>
          </a:stretch>
        </p:blipFill>
        <p:spPr>
          <a:xfrm>
            <a:off x="643467" y="557881"/>
            <a:ext cx="10905066" cy="4007611"/>
          </a:xfrm>
          <a:prstGeom prst="rect">
            <a:avLst/>
          </a:prstGeom>
        </p:spPr>
      </p:pic>
    </p:spTree>
    <p:extLst>
      <p:ext uri="{BB962C8B-B14F-4D97-AF65-F5344CB8AC3E}">
        <p14:creationId xmlns:p14="http://schemas.microsoft.com/office/powerpoint/2010/main" val="342346145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3043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9BEFD4-E45D-698B-1DD3-681D95A43338}"/>
              </a:ext>
            </a:extLst>
          </p:cNvPr>
          <p:cNvSpPr>
            <a:spLocks noGrp="1"/>
          </p:cNvSpPr>
          <p:nvPr>
            <p:ph type="title"/>
          </p:nvPr>
        </p:nvSpPr>
        <p:spPr>
          <a:xfrm>
            <a:off x="556532" y="5322147"/>
            <a:ext cx="11210925" cy="744836"/>
          </a:xfrm>
        </p:spPr>
        <p:txBody>
          <a:bodyPr vert="horz" lIns="91440" tIns="45720" rIns="91440" bIns="45720" rtlCol="0" anchor="ctr">
            <a:normAutofit/>
          </a:bodyPr>
          <a:lstStyle/>
          <a:p>
            <a:pPr algn="ctr"/>
            <a:r>
              <a:rPr lang="en-US" sz="2200" kern="1200">
                <a:solidFill>
                  <a:schemeClr val="bg1"/>
                </a:solidFill>
                <a:latin typeface="+mj-lt"/>
                <a:ea typeface="+mj-ea"/>
                <a:cs typeface="+mj-cs"/>
              </a:rPr>
              <a:t>Upon accessing the Journal Lines, we observe that the system utilized the updated Conversion Rate to calculate the variances.</a:t>
            </a:r>
          </a:p>
        </p:txBody>
      </p:sp>
      <p:pic>
        <p:nvPicPr>
          <p:cNvPr id="4" name="Content Placeholder 3">
            <a:extLst>
              <a:ext uri="{FF2B5EF4-FFF2-40B4-BE49-F238E27FC236}">
                <a16:creationId xmlns:a16="http://schemas.microsoft.com/office/drawing/2014/main" id="{44F9E399-6ED9-A876-8B63-153B8EE11CE1}"/>
              </a:ext>
            </a:extLst>
          </p:cNvPr>
          <p:cNvPicPr>
            <a:picLocks noGrp="1" noChangeAspect="1"/>
          </p:cNvPicPr>
          <p:nvPr>
            <p:ph idx="1"/>
          </p:nvPr>
        </p:nvPicPr>
        <p:blipFill>
          <a:blip r:embed="rId2"/>
          <a:stretch>
            <a:fillRect/>
          </a:stretch>
        </p:blipFill>
        <p:spPr>
          <a:xfrm>
            <a:off x="1345514" y="364587"/>
            <a:ext cx="9500971" cy="4394199"/>
          </a:xfrm>
          <a:prstGeom prst="rect">
            <a:avLst/>
          </a:prstGeom>
        </p:spPr>
      </p:pic>
    </p:spTree>
    <p:extLst>
      <p:ext uri="{BB962C8B-B14F-4D97-AF65-F5344CB8AC3E}">
        <p14:creationId xmlns:p14="http://schemas.microsoft.com/office/powerpoint/2010/main" val="128554117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3043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1C5A07-D0E3-459F-6191-3AE64649809E}"/>
              </a:ext>
            </a:extLst>
          </p:cNvPr>
          <p:cNvSpPr>
            <a:spLocks noGrp="1"/>
          </p:cNvSpPr>
          <p:nvPr>
            <p:ph type="title"/>
          </p:nvPr>
        </p:nvSpPr>
        <p:spPr>
          <a:xfrm>
            <a:off x="556532" y="5322147"/>
            <a:ext cx="11210925" cy="744836"/>
          </a:xfrm>
        </p:spPr>
        <p:txBody>
          <a:bodyPr vert="horz" lIns="91440" tIns="45720" rIns="91440" bIns="45720" rtlCol="0" anchor="ctr">
            <a:normAutofit/>
          </a:bodyPr>
          <a:lstStyle/>
          <a:p>
            <a:pPr algn="ctr"/>
            <a:r>
              <a:rPr lang="en-US" sz="1500" kern="1200">
                <a:solidFill>
                  <a:schemeClr val="bg1"/>
                </a:solidFill>
                <a:latin typeface="+mj-lt"/>
                <a:ea typeface="+mj-ea"/>
                <a:cs typeface="+mj-cs"/>
              </a:rPr>
              <a:t>Observe that the Entered USD field reflects a value of 0.00 for both lines. This occurs because the Revaluation process does not alter the actual USD bank balance; rather, it exclusively adjusts the equivalent Accounted EGP value within the ledger to align with the current market exchange rate.</a:t>
            </a:r>
          </a:p>
        </p:txBody>
      </p:sp>
      <p:pic>
        <p:nvPicPr>
          <p:cNvPr id="4" name="Content Placeholder 3">
            <a:extLst>
              <a:ext uri="{FF2B5EF4-FFF2-40B4-BE49-F238E27FC236}">
                <a16:creationId xmlns:a16="http://schemas.microsoft.com/office/drawing/2014/main" id="{68227B1B-4460-DDE7-767B-E658FB430622}"/>
              </a:ext>
            </a:extLst>
          </p:cNvPr>
          <p:cNvPicPr>
            <a:picLocks noGrp="1" noChangeAspect="1"/>
          </p:cNvPicPr>
          <p:nvPr>
            <p:ph idx="1"/>
          </p:nvPr>
        </p:nvPicPr>
        <p:blipFill>
          <a:blip r:embed="rId2"/>
          <a:stretch>
            <a:fillRect/>
          </a:stretch>
        </p:blipFill>
        <p:spPr>
          <a:xfrm>
            <a:off x="2689644" y="364587"/>
            <a:ext cx="6812712" cy="4394199"/>
          </a:xfrm>
          <a:prstGeom prst="rect">
            <a:avLst/>
          </a:prstGeom>
        </p:spPr>
      </p:pic>
    </p:spTree>
    <p:extLst>
      <p:ext uri="{BB962C8B-B14F-4D97-AF65-F5344CB8AC3E}">
        <p14:creationId xmlns:p14="http://schemas.microsoft.com/office/powerpoint/2010/main" val="136922608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AB7329-9B1D-2DDC-B326-5D94B5BA749C}"/>
              </a:ext>
            </a:extLst>
          </p:cNvPr>
          <p:cNvSpPr>
            <a:spLocks noGrp="1"/>
          </p:cNvSpPr>
          <p:nvPr>
            <p:ph type="title"/>
          </p:nvPr>
        </p:nvSpPr>
        <p:spPr>
          <a:xfrm>
            <a:off x="1371599" y="294538"/>
            <a:ext cx="9895951" cy="1033669"/>
          </a:xfrm>
        </p:spPr>
        <p:txBody>
          <a:bodyPr>
            <a:normAutofit/>
          </a:bodyPr>
          <a:lstStyle/>
          <a:p>
            <a:r>
              <a:rPr lang="en-US" sz="4000" b="1" u="sng">
                <a:solidFill>
                  <a:srgbClr val="FFFFFF"/>
                </a:solidFill>
              </a:rPr>
              <a:t>Translation</a:t>
            </a:r>
            <a:endParaRPr lang="en-US" sz="4000">
              <a:solidFill>
                <a:srgbClr val="FFFFFF"/>
              </a:solidFill>
            </a:endParaRPr>
          </a:p>
        </p:txBody>
      </p:sp>
      <p:sp>
        <p:nvSpPr>
          <p:cNvPr id="3" name="Content Placeholder 2">
            <a:extLst>
              <a:ext uri="{FF2B5EF4-FFF2-40B4-BE49-F238E27FC236}">
                <a16:creationId xmlns:a16="http://schemas.microsoft.com/office/drawing/2014/main" id="{1F57872E-B1FC-A781-2377-AA9DD561082D}"/>
              </a:ext>
            </a:extLst>
          </p:cNvPr>
          <p:cNvSpPr>
            <a:spLocks noGrp="1"/>
          </p:cNvSpPr>
          <p:nvPr>
            <p:ph idx="1"/>
          </p:nvPr>
        </p:nvSpPr>
        <p:spPr>
          <a:xfrm>
            <a:off x="1371599" y="2318197"/>
            <a:ext cx="9724031" cy="3683358"/>
          </a:xfrm>
        </p:spPr>
        <p:txBody>
          <a:bodyPr anchor="ctr">
            <a:normAutofit/>
          </a:bodyPr>
          <a:lstStyle/>
          <a:p>
            <a:r>
              <a:rPr lang="en-US" sz="2000"/>
              <a:t>Configuring the system to translate General Ledger Balances from the functional currency (EGP) to another reporting currency (USD) for the purpose of financial statement Consolidation or fulfilling parent company reporting requirements, while automatically routing translation variances to a designated adjustment account.</a:t>
            </a:r>
          </a:p>
          <a:p>
            <a:r>
              <a:rPr lang="en-US" sz="2000"/>
              <a:t> First - Prerequisites: Prior to initiating the translation process, we accessed the Specify Ledger Options screen to verify the configuration of the Cumulative Translation Adjustment (CTA) Account, and to assign the default exchange rate types (Default Period End/Average Rate Type).</a:t>
            </a:r>
          </a:p>
          <a:p>
            <a:endParaRPr lang="en-US" sz="2000"/>
          </a:p>
        </p:txBody>
      </p:sp>
    </p:spTree>
    <p:extLst>
      <p:ext uri="{BB962C8B-B14F-4D97-AF65-F5344CB8AC3E}">
        <p14:creationId xmlns:p14="http://schemas.microsoft.com/office/powerpoint/2010/main" val="422603628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2FC43D76-D8F7-2F03-B803-D9424FC577DD}"/>
              </a:ext>
            </a:extLst>
          </p:cNvPr>
          <p:cNvPicPr>
            <a:picLocks noGrp="1" noChangeAspect="1"/>
          </p:cNvPicPr>
          <p:nvPr>
            <p:ph idx="1"/>
          </p:nvPr>
        </p:nvPicPr>
        <p:blipFill>
          <a:blip r:embed="rId2"/>
          <a:stretch>
            <a:fillRect/>
          </a:stretch>
        </p:blipFill>
        <p:spPr>
          <a:xfrm>
            <a:off x="895766" y="1675227"/>
            <a:ext cx="10400467" cy="4394199"/>
          </a:xfrm>
          <a:prstGeom prst="rect">
            <a:avLst/>
          </a:prstGeom>
        </p:spPr>
      </p:pic>
    </p:spTree>
    <p:extLst>
      <p:ext uri="{BB962C8B-B14F-4D97-AF65-F5344CB8AC3E}">
        <p14:creationId xmlns:p14="http://schemas.microsoft.com/office/powerpoint/2010/main" val="250360392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A6968F-865E-4A3E-FFFC-82903B839842}"/>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kern="1200">
                <a:solidFill>
                  <a:schemeClr val="bg1"/>
                </a:solidFill>
                <a:latin typeface="+mj-lt"/>
                <a:ea typeface="+mj-ea"/>
                <a:cs typeface="+mj-cs"/>
              </a:rPr>
              <a:t>- Creating the Reporting Currency: From the General Accounting setup menu, navigate to the Manage Reporting Currencies task.</a:t>
            </a:r>
          </a:p>
        </p:txBody>
      </p:sp>
      <p:pic>
        <p:nvPicPr>
          <p:cNvPr id="4" name="Content Placeholder 3">
            <a:extLst>
              <a:ext uri="{FF2B5EF4-FFF2-40B4-BE49-F238E27FC236}">
                <a16:creationId xmlns:a16="http://schemas.microsoft.com/office/drawing/2014/main" id="{83CC4B94-3F25-B103-CFD3-4CE271EDCBAA}"/>
              </a:ext>
            </a:extLst>
          </p:cNvPr>
          <p:cNvPicPr>
            <a:picLocks noGrp="1" noChangeAspect="1"/>
          </p:cNvPicPr>
          <p:nvPr>
            <p:ph idx="1"/>
          </p:nvPr>
        </p:nvPicPr>
        <p:blipFill>
          <a:blip r:embed="rId2"/>
          <a:stretch>
            <a:fillRect/>
          </a:stretch>
        </p:blipFill>
        <p:spPr>
          <a:xfrm>
            <a:off x="1213556" y="1675227"/>
            <a:ext cx="9764888" cy="4394199"/>
          </a:xfrm>
          <a:prstGeom prst="rect">
            <a:avLst/>
          </a:prstGeom>
        </p:spPr>
      </p:pic>
    </p:spTree>
    <p:extLst>
      <p:ext uri="{BB962C8B-B14F-4D97-AF65-F5344CB8AC3E}">
        <p14:creationId xmlns:p14="http://schemas.microsoft.com/office/powerpoint/2010/main" val="177129406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09412C-3D46-A13D-FF9C-2527D9AABE80}"/>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1800" kern="1200">
                <a:solidFill>
                  <a:schemeClr val="bg1"/>
                </a:solidFill>
                <a:latin typeface="+mj-lt"/>
                <a:ea typeface="+mj-ea"/>
                <a:cs typeface="+mj-cs"/>
              </a:rPr>
              <a:t>On the review screen for the ShaimaaProGL EG Ledger, click the Add (+) icon to create a new translation setup.</a:t>
            </a:r>
            <a:br>
              <a:rPr lang="en-US" sz="1800" kern="1200">
                <a:solidFill>
                  <a:schemeClr val="bg1"/>
                </a:solidFill>
                <a:latin typeface="+mj-lt"/>
                <a:ea typeface="+mj-ea"/>
                <a:cs typeface="+mj-cs"/>
              </a:rPr>
            </a:br>
            <a:endParaRPr lang="en-US" sz="1800" kern="1200">
              <a:solidFill>
                <a:schemeClr val="bg1"/>
              </a:solidFill>
              <a:latin typeface="+mj-lt"/>
              <a:ea typeface="+mj-ea"/>
              <a:cs typeface="+mj-cs"/>
            </a:endParaRPr>
          </a:p>
        </p:txBody>
      </p:sp>
      <p:pic>
        <p:nvPicPr>
          <p:cNvPr id="4" name="Content Placeholder 3">
            <a:extLst>
              <a:ext uri="{FF2B5EF4-FFF2-40B4-BE49-F238E27FC236}">
                <a16:creationId xmlns:a16="http://schemas.microsoft.com/office/drawing/2014/main" id="{8A9F92F0-5DD0-B21B-8E69-12EAD3197E42}"/>
              </a:ext>
            </a:extLst>
          </p:cNvPr>
          <p:cNvPicPr>
            <a:picLocks noGrp="1" noChangeAspect="1"/>
          </p:cNvPicPr>
          <p:nvPr>
            <p:ph idx="1"/>
          </p:nvPr>
        </p:nvPicPr>
        <p:blipFill>
          <a:blip r:embed="rId2"/>
          <a:stretch>
            <a:fillRect/>
          </a:stretch>
        </p:blipFill>
        <p:spPr>
          <a:xfrm>
            <a:off x="643467" y="1882152"/>
            <a:ext cx="10905066" cy="3980348"/>
          </a:xfrm>
          <a:prstGeom prst="rect">
            <a:avLst/>
          </a:prstGeom>
        </p:spPr>
      </p:pic>
    </p:spTree>
    <p:extLst>
      <p:ext uri="{BB962C8B-B14F-4D97-AF65-F5344CB8AC3E}">
        <p14:creationId xmlns:p14="http://schemas.microsoft.com/office/powerpoint/2010/main" val="304191971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7826C13-7988-8764-0E1B-3B667C02F2FD}"/>
              </a:ext>
            </a:extLst>
          </p:cNvPr>
          <p:cNvSpPr>
            <a:spLocks noGrp="1"/>
          </p:cNvSpPr>
          <p:nvPr>
            <p:ph idx="1"/>
          </p:nvPr>
        </p:nvSpPr>
        <p:spPr>
          <a:xfrm>
            <a:off x="4810259" y="649480"/>
            <a:ext cx="6555347" cy="5546047"/>
          </a:xfrm>
        </p:spPr>
        <p:txBody>
          <a:bodyPr anchor="ctr">
            <a:normAutofit/>
          </a:bodyPr>
          <a:lstStyle/>
          <a:p>
            <a:r>
              <a:rPr lang="en-US" sz="2000"/>
              <a:t>On the Create Reporting Currency screen, we configured the following pivotal settings: o Currency Conversion Level: 'Balance' was selected, indicating that the system will exclusively translate the final balances at month-end, rather than individual journal entries. o Currency: Designated the US Dollar (USD) as the target reporting currency. o Translation Options: Utilized the "Nile Rate 2" for both the Period Average Rate and the Period End Rate. o Accounting Translation Rules: Specified the Period-To-Date (PTD) rule for translating revenues and expenses, and the Year-To-Date (YTD) rule for translating equity</a:t>
            </a:r>
          </a:p>
        </p:txBody>
      </p:sp>
    </p:spTree>
    <p:extLst>
      <p:ext uri="{BB962C8B-B14F-4D97-AF65-F5344CB8AC3E}">
        <p14:creationId xmlns:p14="http://schemas.microsoft.com/office/powerpoint/2010/main" val="174073189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1753C038-525C-0A88-8166-8DBB9B051FAA}"/>
              </a:ext>
            </a:extLst>
          </p:cNvPr>
          <p:cNvPicPr>
            <a:picLocks noGrp="1" noChangeAspect="1"/>
          </p:cNvPicPr>
          <p:nvPr>
            <p:ph idx="1"/>
          </p:nvPr>
        </p:nvPicPr>
        <p:blipFill>
          <a:blip r:embed="rId2"/>
          <a:stretch>
            <a:fillRect/>
          </a:stretch>
        </p:blipFill>
        <p:spPr>
          <a:xfrm>
            <a:off x="643467" y="920834"/>
            <a:ext cx="10905066" cy="5016332"/>
          </a:xfrm>
          <a:prstGeom prst="rect">
            <a:avLst/>
          </a:prstGeom>
        </p:spPr>
      </p:pic>
    </p:spTree>
    <p:extLst>
      <p:ext uri="{BB962C8B-B14F-4D97-AF65-F5344CB8AC3E}">
        <p14:creationId xmlns:p14="http://schemas.microsoft.com/office/powerpoint/2010/main" val="788210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093A2E5-167F-49A4-C1FB-D68320D40EAC}"/>
              </a:ext>
            </a:extLst>
          </p:cNvPr>
          <p:cNvSpPr>
            <a:spLocks noGrp="1"/>
          </p:cNvSpPr>
          <p:nvPr>
            <p:ph idx="1"/>
          </p:nvPr>
        </p:nvSpPr>
        <p:spPr>
          <a:xfrm>
            <a:off x="1371599" y="2318197"/>
            <a:ext cx="9724031" cy="3683358"/>
          </a:xfrm>
        </p:spPr>
        <p:txBody>
          <a:bodyPr anchor="ctr">
            <a:normAutofit/>
          </a:bodyPr>
          <a:lstStyle/>
          <a:p>
            <a:pPr marL="0" indent="0">
              <a:buNone/>
            </a:pPr>
            <a:r>
              <a:rPr lang="en-US" dirty="0"/>
              <a:t>The actual execution of the Translate Balances program to convert ledger values into the target reporting currency, followed by an analytical Balance Inquiry to verify the accuracy of the translated balances and ensure the ability to trace the Audit Trail down to the detailed journal entry level.</a:t>
            </a:r>
          </a:p>
          <a:p>
            <a:endParaRPr lang="en-US" sz="2000" dirty="0"/>
          </a:p>
        </p:txBody>
      </p:sp>
    </p:spTree>
    <p:extLst>
      <p:ext uri="{BB962C8B-B14F-4D97-AF65-F5344CB8AC3E}">
        <p14:creationId xmlns:p14="http://schemas.microsoft.com/office/powerpoint/2010/main" val="387370641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13A80A-DB59-8469-1DBB-7476EF064D9F}"/>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kern="1200">
                <a:solidFill>
                  <a:schemeClr val="bg1"/>
                </a:solidFill>
                <a:latin typeface="+mj-lt"/>
                <a:ea typeface="+mj-ea"/>
                <a:cs typeface="+mj-cs"/>
              </a:rPr>
              <a:t>From the Period Close dashboard, navigate to the tasks list and select to run the Translate Balances program</a:t>
            </a:r>
          </a:p>
        </p:txBody>
      </p:sp>
      <p:pic>
        <p:nvPicPr>
          <p:cNvPr id="4" name="Content Placeholder 3">
            <a:extLst>
              <a:ext uri="{FF2B5EF4-FFF2-40B4-BE49-F238E27FC236}">
                <a16:creationId xmlns:a16="http://schemas.microsoft.com/office/drawing/2014/main" id="{7DA398B6-43E3-5EB9-B29C-65589614A409}"/>
              </a:ext>
            </a:extLst>
          </p:cNvPr>
          <p:cNvPicPr>
            <a:picLocks noGrp="1" noChangeAspect="1"/>
          </p:cNvPicPr>
          <p:nvPr>
            <p:ph idx="1"/>
          </p:nvPr>
        </p:nvPicPr>
        <p:blipFill>
          <a:blip r:embed="rId2"/>
          <a:stretch>
            <a:fillRect/>
          </a:stretch>
        </p:blipFill>
        <p:spPr>
          <a:xfrm>
            <a:off x="864809" y="1675227"/>
            <a:ext cx="10462381" cy="4394199"/>
          </a:xfrm>
          <a:prstGeom prst="rect">
            <a:avLst/>
          </a:prstGeom>
        </p:spPr>
      </p:pic>
    </p:spTree>
    <p:extLst>
      <p:ext uri="{BB962C8B-B14F-4D97-AF65-F5344CB8AC3E}">
        <p14:creationId xmlns:p14="http://schemas.microsoft.com/office/powerpoint/2010/main" val="276429299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CE08AC-293E-1F8F-07D8-701C1B1C6DE2}"/>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1900" kern="1200">
                <a:solidFill>
                  <a:srgbClr val="FFFFFF"/>
                </a:solidFill>
                <a:latin typeface="+mj-lt"/>
                <a:ea typeface="+mj-ea"/>
                <a:cs typeface="+mj-cs"/>
              </a:rPr>
              <a:t>On the Basic Options screen, specify the execution parameters such as the Ledger, the Target Currency: USD, the Accounting Period, and the Balancing Segment: 10, then click Submit.</a:t>
            </a:r>
          </a:p>
        </p:txBody>
      </p:sp>
      <p:pic>
        <p:nvPicPr>
          <p:cNvPr id="4" name="Content Placeholder 3">
            <a:extLst>
              <a:ext uri="{FF2B5EF4-FFF2-40B4-BE49-F238E27FC236}">
                <a16:creationId xmlns:a16="http://schemas.microsoft.com/office/drawing/2014/main" id="{05A20377-C0BF-D3E9-2E38-044CB987AEC3}"/>
              </a:ext>
            </a:extLst>
          </p:cNvPr>
          <p:cNvPicPr>
            <a:picLocks noGrp="1" noChangeAspect="1"/>
          </p:cNvPicPr>
          <p:nvPr>
            <p:ph idx="1"/>
          </p:nvPr>
        </p:nvPicPr>
        <p:blipFill>
          <a:blip r:embed="rId2"/>
          <a:stretch>
            <a:fillRect/>
          </a:stretch>
        </p:blipFill>
        <p:spPr>
          <a:xfrm>
            <a:off x="432225" y="2011819"/>
            <a:ext cx="11327549" cy="4361107"/>
          </a:xfrm>
          <a:prstGeom prst="rect">
            <a:avLst/>
          </a:prstGeom>
        </p:spPr>
      </p:pic>
    </p:spTree>
    <p:extLst>
      <p:ext uri="{BB962C8B-B14F-4D97-AF65-F5344CB8AC3E}">
        <p14:creationId xmlns:p14="http://schemas.microsoft.com/office/powerpoint/2010/main" val="302768601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E10DA6-A578-D286-1FCB-87390814E95D}"/>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400" kern="1200">
                <a:solidFill>
                  <a:srgbClr val="FFFFFF"/>
                </a:solidFill>
                <a:latin typeface="+mj-lt"/>
                <a:ea typeface="+mj-ea"/>
                <a:cs typeface="+mj-cs"/>
              </a:rPr>
              <a:t>The system generates a Process ID to confirm the initiation of the process.</a:t>
            </a:r>
          </a:p>
        </p:txBody>
      </p:sp>
      <p:pic>
        <p:nvPicPr>
          <p:cNvPr id="4" name="Content Placeholder 3">
            <a:extLst>
              <a:ext uri="{FF2B5EF4-FFF2-40B4-BE49-F238E27FC236}">
                <a16:creationId xmlns:a16="http://schemas.microsoft.com/office/drawing/2014/main" id="{0B783AD8-9EC7-9AB3-8C8E-109D8703E8CA}"/>
              </a:ext>
            </a:extLst>
          </p:cNvPr>
          <p:cNvPicPr>
            <a:picLocks noGrp="1" noChangeAspect="1"/>
          </p:cNvPicPr>
          <p:nvPr>
            <p:ph idx="1"/>
          </p:nvPr>
        </p:nvPicPr>
        <p:blipFill>
          <a:blip r:embed="rId2"/>
          <a:stretch>
            <a:fillRect/>
          </a:stretch>
        </p:blipFill>
        <p:spPr>
          <a:xfrm>
            <a:off x="432225" y="2195893"/>
            <a:ext cx="11327549" cy="3992960"/>
          </a:xfrm>
          <a:prstGeom prst="rect">
            <a:avLst/>
          </a:prstGeom>
        </p:spPr>
      </p:pic>
    </p:spTree>
    <p:extLst>
      <p:ext uri="{BB962C8B-B14F-4D97-AF65-F5344CB8AC3E}">
        <p14:creationId xmlns:p14="http://schemas.microsoft.com/office/powerpoint/2010/main" val="246085730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092CC3-C45D-ADA4-8946-707CEB0C17BA}"/>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2500" kern="1200">
                <a:solidFill>
                  <a:srgbClr val="FFFFFF"/>
                </a:solidFill>
                <a:latin typeface="+mj-lt"/>
                <a:ea typeface="+mj-ea"/>
                <a:cs typeface="+mj-cs"/>
              </a:rPr>
              <a:t>Inquiry &amp; Reconciliation: To verify the results, return to the Period Close screen and select the Inquire on Detail Balances task.</a:t>
            </a:r>
          </a:p>
        </p:txBody>
      </p:sp>
      <p:pic>
        <p:nvPicPr>
          <p:cNvPr id="4" name="Content Placeholder 3">
            <a:extLst>
              <a:ext uri="{FF2B5EF4-FFF2-40B4-BE49-F238E27FC236}">
                <a16:creationId xmlns:a16="http://schemas.microsoft.com/office/drawing/2014/main" id="{C4DB0705-57B9-7CF4-FE27-8F0E3C8CF25F}"/>
              </a:ext>
            </a:extLst>
          </p:cNvPr>
          <p:cNvPicPr>
            <a:picLocks noGrp="1" noChangeAspect="1"/>
          </p:cNvPicPr>
          <p:nvPr>
            <p:ph idx="1"/>
          </p:nvPr>
        </p:nvPicPr>
        <p:blipFill>
          <a:blip r:embed="rId2"/>
          <a:stretch>
            <a:fillRect/>
          </a:stretch>
        </p:blipFill>
        <p:spPr>
          <a:xfrm>
            <a:off x="1093573" y="1966293"/>
            <a:ext cx="10004852" cy="4452160"/>
          </a:xfrm>
          <a:prstGeom prst="rect">
            <a:avLst/>
          </a:prstGeom>
        </p:spPr>
      </p:pic>
    </p:spTree>
    <p:extLst>
      <p:ext uri="{BB962C8B-B14F-4D97-AF65-F5344CB8AC3E}">
        <p14:creationId xmlns:p14="http://schemas.microsoft.com/office/powerpoint/2010/main" val="79704736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D3016D2-28B0-17F4-E92A-6B755264FC8B}"/>
              </a:ext>
            </a:extLst>
          </p:cNvPr>
          <p:cNvSpPr>
            <a:spLocks noGrp="1"/>
          </p:cNvSpPr>
          <p:nvPr>
            <p:ph idx="1"/>
          </p:nvPr>
        </p:nvSpPr>
        <p:spPr>
          <a:xfrm>
            <a:off x="4810259" y="649480"/>
            <a:ext cx="6555347" cy="5546047"/>
          </a:xfrm>
        </p:spPr>
        <p:txBody>
          <a:bodyPr anchor="ctr">
            <a:normAutofit/>
          </a:bodyPr>
          <a:lstStyle/>
          <a:p>
            <a:r>
              <a:rPr lang="en-US" sz="2000"/>
              <a:t>On the search screen, to specifically focus on foreign currency accounts, designate the Currency Type as "Entered" and select "USD" as the currency. </a:t>
            </a:r>
            <a:endParaRPr lang="ar-EG" sz="2000"/>
          </a:p>
          <a:p>
            <a:r>
              <a:rPr lang="en-US" sz="2000"/>
              <a:t>The search results provide a comprehensive dual-balance presentation: one line details the balance in the foreign currency (USD), while another line displays its local currency equivalent (EGP), covering the opening balance, period activity, and ending balance.</a:t>
            </a:r>
          </a:p>
        </p:txBody>
      </p:sp>
    </p:spTree>
    <p:extLst>
      <p:ext uri="{BB962C8B-B14F-4D97-AF65-F5344CB8AC3E}">
        <p14:creationId xmlns:p14="http://schemas.microsoft.com/office/powerpoint/2010/main" val="79290151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6BDBF581-D7AC-96CC-4A82-FE2CBD5A31AB}"/>
              </a:ext>
            </a:extLst>
          </p:cNvPr>
          <p:cNvPicPr>
            <a:picLocks noGrp="1" noChangeAspect="1"/>
          </p:cNvPicPr>
          <p:nvPr>
            <p:ph idx="1"/>
          </p:nvPr>
        </p:nvPicPr>
        <p:blipFill>
          <a:blip r:embed="rId2"/>
          <a:stretch>
            <a:fillRect/>
          </a:stretch>
        </p:blipFill>
        <p:spPr>
          <a:xfrm>
            <a:off x="457200" y="510920"/>
            <a:ext cx="11277600" cy="5836159"/>
          </a:xfrm>
          <a:prstGeom prst="rect">
            <a:avLst/>
          </a:prstGeom>
        </p:spPr>
      </p:pic>
    </p:spTree>
    <p:extLst>
      <p:ext uri="{BB962C8B-B14F-4D97-AF65-F5344CB8AC3E}">
        <p14:creationId xmlns:p14="http://schemas.microsoft.com/office/powerpoint/2010/main" val="335778557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56CE01-2CFE-9F1D-CD82-D82589E75022}"/>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1600" kern="1200">
                <a:solidFill>
                  <a:srgbClr val="FFFFFF"/>
                </a:solidFill>
                <a:latin typeface="+mj-lt"/>
                <a:ea typeface="+mj-ea"/>
                <a:cs typeface="+mj-cs"/>
              </a:rPr>
              <a:t>For deeper analysis, clicking directly on any of the displayed balances navigates to the Journal Lines detail screen. This view displays every individual journal entry that contributed to the formation of this balance, clearly illustrating both the Entered and Accounted values for each transaction.</a:t>
            </a:r>
          </a:p>
        </p:txBody>
      </p:sp>
      <p:pic>
        <p:nvPicPr>
          <p:cNvPr id="7" name="Content Placeholder 6">
            <a:extLst>
              <a:ext uri="{FF2B5EF4-FFF2-40B4-BE49-F238E27FC236}">
                <a16:creationId xmlns:a16="http://schemas.microsoft.com/office/drawing/2014/main" id="{D3A8E9B1-9906-FC85-C583-688B8156ABB7}"/>
              </a:ext>
            </a:extLst>
          </p:cNvPr>
          <p:cNvPicPr>
            <a:picLocks noGrp="1" noChangeAspect="1"/>
          </p:cNvPicPr>
          <p:nvPr>
            <p:ph idx="1"/>
          </p:nvPr>
        </p:nvPicPr>
        <p:blipFill>
          <a:blip r:embed="rId2"/>
          <a:stretch>
            <a:fillRect/>
          </a:stretch>
        </p:blipFill>
        <p:spPr>
          <a:xfrm>
            <a:off x="225190" y="2530503"/>
            <a:ext cx="11741616" cy="3370153"/>
          </a:xfrm>
          <a:prstGeom prst="rect">
            <a:avLst/>
          </a:prstGeom>
        </p:spPr>
      </p:pic>
    </p:spTree>
    <p:extLst>
      <p:ext uri="{BB962C8B-B14F-4D97-AF65-F5344CB8AC3E}">
        <p14:creationId xmlns:p14="http://schemas.microsoft.com/office/powerpoint/2010/main" val="72083711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51BBA1D-38AA-4A2D-E3DB-52F19F8879C9}"/>
              </a:ext>
            </a:extLst>
          </p:cNvPr>
          <p:cNvSpPr>
            <a:spLocks noGrp="1"/>
          </p:cNvSpPr>
          <p:nvPr>
            <p:ph idx="1"/>
          </p:nvPr>
        </p:nvSpPr>
        <p:spPr>
          <a:xfrm>
            <a:off x="4810259" y="649480"/>
            <a:ext cx="6555347" cy="5546047"/>
          </a:xfrm>
        </p:spPr>
        <p:txBody>
          <a:bodyPr anchor="ctr">
            <a:normAutofit/>
          </a:bodyPr>
          <a:lstStyle/>
          <a:p>
            <a:pPr marL="0" indent="0">
              <a:buNone/>
            </a:pPr>
            <a:r>
              <a:rPr lang="en-US" sz="2000" b="1"/>
              <a:t>By clicking on any balance, users can drill down into the detailed journals and underlying transactions. This drill-down capability empowers Financial Managers and Auditors to navigate seamlessly from the translated Summary Balance down to the Source Transaction with a single click, ensuring the highest levels of transparency and compliance. </a:t>
            </a:r>
            <a:endParaRPr lang="ar-EG" sz="2000" b="1"/>
          </a:p>
          <a:p>
            <a:pPr marL="0" indent="0">
              <a:buNone/>
            </a:pPr>
            <a:endParaRPr lang="ar-EG" sz="2000" b="1"/>
          </a:p>
          <a:p>
            <a:pPr marL="0" indent="0">
              <a:buNone/>
            </a:pPr>
            <a:r>
              <a:rPr lang="en-US" sz="2000" b="1"/>
              <a:t>Utilizing the "Currency Type: Entered" filter displays the transactions executed in both the foreign and local currencies simultaneously. This visibility significantly streamlines the process for accountants to accurately reconcile foreign Bank Statements.</a:t>
            </a:r>
            <a:endParaRPr lang="en-US" sz="2000"/>
          </a:p>
          <a:p>
            <a:endParaRPr lang="en-US" sz="2000"/>
          </a:p>
        </p:txBody>
      </p:sp>
    </p:spTree>
    <p:extLst>
      <p:ext uri="{BB962C8B-B14F-4D97-AF65-F5344CB8AC3E}">
        <p14:creationId xmlns:p14="http://schemas.microsoft.com/office/powerpoint/2010/main" val="167618570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236CAC-5540-9D03-9A5A-9AC0686C162E}"/>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D13D050-D048-4DC2-39C1-384FDBB5E9B0}"/>
              </a:ext>
            </a:extLst>
          </p:cNvPr>
          <p:cNvSpPr>
            <a:spLocks noGrp="1"/>
          </p:cNvSpPr>
          <p:nvPr>
            <p:ph type="ctrTitle"/>
          </p:nvPr>
        </p:nvSpPr>
        <p:spPr>
          <a:xfrm>
            <a:off x="1314824" y="735106"/>
            <a:ext cx="10053763" cy="2928470"/>
          </a:xfrm>
        </p:spPr>
        <p:txBody>
          <a:bodyPr anchor="b">
            <a:normAutofit/>
          </a:bodyPr>
          <a:lstStyle/>
          <a:p>
            <a:pPr algn="l"/>
            <a:r>
              <a:rPr lang="en-US" sz="4800">
                <a:solidFill>
                  <a:srgbClr val="FFFFFF"/>
                </a:solidFill>
              </a:rPr>
              <a:t>Budget </a:t>
            </a:r>
          </a:p>
        </p:txBody>
      </p:sp>
    </p:spTree>
    <p:extLst>
      <p:ext uri="{BB962C8B-B14F-4D97-AF65-F5344CB8AC3E}">
        <p14:creationId xmlns:p14="http://schemas.microsoft.com/office/powerpoint/2010/main" val="2996427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9CA195E-BC54-0E6F-BA0B-639F314B24C4}"/>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Introduction to Budget in Oracle Fusion</a:t>
            </a:r>
          </a:p>
        </p:txBody>
      </p:sp>
      <p:graphicFrame>
        <p:nvGraphicFramePr>
          <p:cNvPr id="5" name="Content Placeholder 2">
            <a:extLst>
              <a:ext uri="{FF2B5EF4-FFF2-40B4-BE49-F238E27FC236}">
                <a16:creationId xmlns:a16="http://schemas.microsoft.com/office/drawing/2014/main" id="{68EBDBBB-2FEE-060D-7DF9-9481DE526917}"/>
              </a:ext>
            </a:extLst>
          </p:cNvPr>
          <p:cNvGraphicFramePr>
            <a:graphicFrameLocks noGrp="1"/>
          </p:cNvGraphicFramePr>
          <p:nvPr>
            <p:ph idx="1"/>
            <p:extLst>
              <p:ext uri="{D42A27DB-BD31-4B8C-83A1-F6EECF244321}">
                <p14:modId xmlns:p14="http://schemas.microsoft.com/office/powerpoint/2010/main" val="373861261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887286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3F9AD27-324F-8482-2855-FD85A6079B25}"/>
              </a:ext>
            </a:extLst>
          </p:cNvPr>
          <p:cNvSpPr>
            <a:spLocks noGrp="1"/>
          </p:cNvSpPr>
          <p:nvPr>
            <p:ph idx="1"/>
          </p:nvPr>
        </p:nvSpPr>
        <p:spPr>
          <a:xfrm>
            <a:off x="1371599" y="2318197"/>
            <a:ext cx="9724031" cy="3683358"/>
          </a:xfrm>
        </p:spPr>
        <p:txBody>
          <a:bodyPr anchor="ctr">
            <a:normAutofit/>
          </a:bodyPr>
          <a:lstStyle/>
          <a:p>
            <a:r>
              <a:rPr lang="en-US" sz="2000"/>
              <a:t>For example, a company may allocate EGP 120,000 annually for salaries, EGP 24,000 for rent, and EGP 18,000 for electricity. These amounts represent the planned budget, while actual expenses reflect what the company really spends.</a:t>
            </a:r>
          </a:p>
          <a:p>
            <a:r>
              <a:rPr lang="en-US" sz="2000"/>
              <a:t>In Oracle Fusion, the budget can be entered for specific account combinations and accounting periods, such as January through December 2026. This allows the company to track its financial performance and identify differences between budgeted and actual amounts.</a:t>
            </a:r>
          </a:p>
          <a:p>
            <a:endParaRPr lang="en-US" sz="2000"/>
          </a:p>
        </p:txBody>
      </p:sp>
    </p:spTree>
    <p:extLst>
      <p:ext uri="{BB962C8B-B14F-4D97-AF65-F5344CB8AC3E}">
        <p14:creationId xmlns:p14="http://schemas.microsoft.com/office/powerpoint/2010/main" val="3896131274"/>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49366AC-63DA-B93A-592F-CC1F16A7B56F}"/>
              </a:ext>
            </a:extLst>
          </p:cNvPr>
          <p:cNvSpPr>
            <a:spLocks noGrp="1"/>
          </p:cNvSpPr>
          <p:nvPr>
            <p:ph idx="1"/>
          </p:nvPr>
        </p:nvSpPr>
        <p:spPr>
          <a:xfrm>
            <a:off x="1371599" y="2318197"/>
            <a:ext cx="9724031" cy="3683358"/>
          </a:xfrm>
        </p:spPr>
        <p:txBody>
          <a:bodyPr anchor="ctr">
            <a:normAutofit/>
          </a:bodyPr>
          <a:lstStyle/>
          <a:p>
            <a:r>
              <a:rPr lang="en-US" sz="2000"/>
              <a:t>The main objectives of budgeting are to:</a:t>
            </a:r>
          </a:p>
          <a:p>
            <a:r>
              <a:rPr lang="en-US" sz="2000"/>
              <a:t>Plan and allocate financial resources.</a:t>
            </a:r>
          </a:p>
          <a:p>
            <a:r>
              <a:rPr lang="en-US" sz="2000"/>
              <a:t>Control and monitor expenses.</a:t>
            </a:r>
          </a:p>
          <a:p>
            <a:r>
              <a:rPr lang="en-US" sz="2000"/>
              <a:t>Compare budgeted amounts with actual results.</a:t>
            </a:r>
          </a:p>
          <a:p>
            <a:r>
              <a:rPr lang="en-US" sz="2000"/>
              <a:t>Support financial analysis and decision-making.</a:t>
            </a:r>
          </a:p>
          <a:p>
            <a:r>
              <a:rPr lang="en-US" sz="2000"/>
              <a:t>Help ensure spending stays within approved limits when Budgetary Control is configured.</a:t>
            </a:r>
          </a:p>
          <a:p>
            <a:r>
              <a:rPr lang="en-US" sz="2000"/>
              <a:t>In summary: Budgeting in Oracle Fusion helps an organization plan its finances, monitor performance, and make informed financial decisions throughout the fiscal year.</a:t>
            </a:r>
          </a:p>
          <a:p>
            <a:endParaRPr lang="en-US" sz="2000"/>
          </a:p>
        </p:txBody>
      </p:sp>
    </p:spTree>
    <p:extLst>
      <p:ext uri="{BB962C8B-B14F-4D97-AF65-F5344CB8AC3E}">
        <p14:creationId xmlns:p14="http://schemas.microsoft.com/office/powerpoint/2010/main" val="86583753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3DC5B3D-4B61-751F-4B1E-410144848D04}"/>
              </a:ext>
            </a:extLst>
          </p:cNvPr>
          <p:cNvSpPr>
            <a:spLocks noGrp="1"/>
          </p:cNvSpPr>
          <p:nvPr>
            <p:ph type="title"/>
          </p:nvPr>
        </p:nvSpPr>
        <p:spPr>
          <a:xfrm>
            <a:off x="660041" y="2767106"/>
            <a:ext cx="2880828" cy="3071906"/>
          </a:xfrm>
        </p:spPr>
        <p:txBody>
          <a:bodyPr vert="horz" lIns="91440" tIns="45720" rIns="91440" bIns="45720" rtlCol="0">
            <a:normAutofit/>
          </a:bodyPr>
          <a:lstStyle/>
          <a:p>
            <a:r>
              <a:rPr lang="en-US" sz="4000" kern="1200">
                <a:solidFill>
                  <a:srgbClr val="FFFFFF"/>
                </a:solidFill>
                <a:latin typeface="+mj-lt"/>
                <a:ea typeface="+mj-ea"/>
                <a:cs typeface="+mj-cs"/>
              </a:rPr>
              <a:t>Step 1 is adding the role </a:t>
            </a:r>
          </a:p>
        </p:txBody>
      </p:sp>
      <p:pic>
        <p:nvPicPr>
          <p:cNvPr id="4" name="Content Placeholder 3">
            <a:extLst>
              <a:ext uri="{FF2B5EF4-FFF2-40B4-BE49-F238E27FC236}">
                <a16:creationId xmlns:a16="http://schemas.microsoft.com/office/drawing/2014/main" id="{D4950A1F-DBE9-4A51-BF4E-3D4A5AC6891E}"/>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4502428" y="493541"/>
            <a:ext cx="7225748" cy="5870917"/>
          </a:xfrm>
          <a:prstGeom prst="rect">
            <a:avLst/>
          </a:prstGeom>
          <a:noFill/>
        </p:spPr>
      </p:pic>
    </p:spTree>
    <p:extLst>
      <p:ext uri="{BB962C8B-B14F-4D97-AF65-F5344CB8AC3E}">
        <p14:creationId xmlns:p14="http://schemas.microsoft.com/office/powerpoint/2010/main" val="289750336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A4CB4AB5-0090-7C93-D8ED-FD629AA33DD0}"/>
              </a:ext>
            </a:extLst>
          </p:cNvPr>
          <p:cNvSpPr>
            <a:spLocks noGrp="1"/>
          </p:cNvSpPr>
          <p:nvPr>
            <p:ph type="title"/>
          </p:nvPr>
        </p:nvSpPr>
        <p:spPr>
          <a:xfrm>
            <a:off x="660041" y="2767106"/>
            <a:ext cx="2880828" cy="3071906"/>
          </a:xfrm>
        </p:spPr>
        <p:txBody>
          <a:bodyPr vert="horz" lIns="91440" tIns="45720" rIns="91440" bIns="45720" rtlCol="0">
            <a:normAutofit/>
          </a:bodyPr>
          <a:lstStyle/>
          <a:p>
            <a:r>
              <a:rPr lang="en-US" sz="4000" kern="1200">
                <a:solidFill>
                  <a:srgbClr val="FFFFFF"/>
                </a:solidFill>
                <a:latin typeface="+mj-lt"/>
                <a:ea typeface="+mj-ea"/>
                <a:cs typeface="+mj-cs"/>
              </a:rPr>
              <a:t>After signing in click on the navigator </a:t>
            </a:r>
          </a:p>
        </p:txBody>
      </p:sp>
      <p:pic>
        <p:nvPicPr>
          <p:cNvPr id="4" name="Content Placeholder 3">
            <a:extLst>
              <a:ext uri="{FF2B5EF4-FFF2-40B4-BE49-F238E27FC236}">
                <a16:creationId xmlns:a16="http://schemas.microsoft.com/office/drawing/2014/main" id="{22CA59E8-30F9-6904-3DBD-D4E5258075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4502428" y="1532241"/>
            <a:ext cx="7225748" cy="3793517"/>
          </a:xfrm>
          <a:prstGeom prst="rect">
            <a:avLst/>
          </a:prstGeom>
          <a:noFill/>
        </p:spPr>
      </p:pic>
    </p:spTree>
    <p:extLst>
      <p:ext uri="{BB962C8B-B14F-4D97-AF65-F5344CB8AC3E}">
        <p14:creationId xmlns:p14="http://schemas.microsoft.com/office/powerpoint/2010/main" val="280275074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9B9930-2913-B362-FD13-34261AE3D0A0}"/>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1600" kern="1200">
                <a:solidFill>
                  <a:srgbClr val="FFFFFF"/>
                </a:solidFill>
                <a:latin typeface="+mj-lt"/>
                <a:ea typeface="+mj-ea"/>
                <a:cs typeface="+mj-cs"/>
              </a:rPr>
              <a:t>From the navigator click and tools to drop the list and choose security console</a:t>
            </a:r>
            <a:br>
              <a:rPr lang="en-US" sz="1600" kern="1200">
                <a:solidFill>
                  <a:srgbClr val="FFFFFF"/>
                </a:solidFill>
                <a:latin typeface="+mj-lt"/>
                <a:ea typeface="+mj-ea"/>
                <a:cs typeface="+mj-cs"/>
              </a:rPr>
            </a:br>
            <a:r>
              <a:rPr lang="en-US" sz="1600" kern="1200">
                <a:solidFill>
                  <a:srgbClr val="FFFFFF"/>
                </a:solidFill>
                <a:latin typeface="+mj-lt"/>
                <a:ea typeface="+mj-ea"/>
                <a:cs typeface="+mj-cs"/>
              </a:rPr>
              <a:t>Click on users and search for the user and click edit to add the role, search on budget manager and click add role membership and make sure this will be enabled</a:t>
            </a:r>
            <a:br>
              <a:rPr lang="en-US" sz="1600" kern="1200">
                <a:solidFill>
                  <a:srgbClr val="FFFFFF"/>
                </a:solidFill>
                <a:latin typeface="+mj-lt"/>
                <a:ea typeface="+mj-ea"/>
                <a:cs typeface="+mj-cs"/>
              </a:rPr>
            </a:br>
            <a:endParaRPr lang="en-US" sz="1600" kern="1200">
              <a:solidFill>
                <a:srgbClr val="FFFFFF"/>
              </a:solidFill>
              <a:latin typeface="+mj-lt"/>
              <a:ea typeface="+mj-ea"/>
              <a:cs typeface="+mj-cs"/>
            </a:endParaRPr>
          </a:p>
        </p:txBody>
      </p:sp>
      <p:pic>
        <p:nvPicPr>
          <p:cNvPr id="4" name="Content Placeholder 3">
            <a:extLst>
              <a:ext uri="{FF2B5EF4-FFF2-40B4-BE49-F238E27FC236}">
                <a16:creationId xmlns:a16="http://schemas.microsoft.com/office/drawing/2014/main" id="{62E881B5-98AD-3B58-44E8-266C9B8D4E0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32225" y="2309169"/>
            <a:ext cx="11327549" cy="3766408"/>
          </a:xfrm>
          <a:prstGeom prst="rect">
            <a:avLst/>
          </a:prstGeom>
        </p:spPr>
      </p:pic>
    </p:spTree>
    <p:extLst>
      <p:ext uri="{BB962C8B-B14F-4D97-AF65-F5344CB8AC3E}">
        <p14:creationId xmlns:p14="http://schemas.microsoft.com/office/powerpoint/2010/main" val="335830249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9995097-D487-01CD-296B-9C6B5BD5BED0}"/>
              </a:ext>
            </a:extLst>
          </p:cNvPr>
          <p:cNvSpPr>
            <a:spLocks noGrp="1"/>
          </p:cNvSpPr>
          <p:nvPr>
            <p:ph type="title"/>
          </p:nvPr>
        </p:nvSpPr>
        <p:spPr>
          <a:xfrm>
            <a:off x="660041" y="2767106"/>
            <a:ext cx="2880828" cy="3071906"/>
          </a:xfrm>
        </p:spPr>
        <p:txBody>
          <a:bodyPr vert="horz" lIns="91440" tIns="45720" rIns="91440" bIns="45720" rtlCol="0">
            <a:normAutofit/>
          </a:bodyPr>
          <a:lstStyle/>
          <a:p>
            <a:r>
              <a:rPr lang="en-US" sz="3100" kern="1200">
                <a:solidFill>
                  <a:srgbClr val="FFFFFF"/>
                </a:solidFill>
                <a:latin typeface="+mj-lt"/>
                <a:ea typeface="+mj-ea"/>
                <a:cs typeface="+mj-cs"/>
              </a:rPr>
              <a:t>Step 2 Creating person</a:t>
            </a:r>
            <a:br>
              <a:rPr lang="en-US" sz="3100" kern="1200">
                <a:solidFill>
                  <a:srgbClr val="FFFFFF"/>
                </a:solidFill>
                <a:latin typeface="+mj-lt"/>
                <a:ea typeface="+mj-ea"/>
                <a:cs typeface="+mj-cs"/>
              </a:rPr>
            </a:br>
            <a:r>
              <a:rPr lang="en-US" sz="3100" kern="1200">
                <a:solidFill>
                  <a:srgbClr val="FFFFFF"/>
                </a:solidFill>
                <a:latin typeface="+mj-lt"/>
                <a:ea typeface="+mj-ea"/>
                <a:cs typeface="+mj-cs"/>
              </a:rPr>
              <a:t>Click on the icon that has your name and click setup and maintenance</a:t>
            </a:r>
          </a:p>
        </p:txBody>
      </p:sp>
      <p:pic>
        <p:nvPicPr>
          <p:cNvPr id="4" name="Content Placeholder 3">
            <a:extLst>
              <a:ext uri="{FF2B5EF4-FFF2-40B4-BE49-F238E27FC236}">
                <a16:creationId xmlns:a16="http://schemas.microsoft.com/office/drawing/2014/main" id="{F4C94AD4-DB26-9F43-9362-4334B910DE6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31129" y="467208"/>
            <a:ext cx="5968346" cy="5923584"/>
          </a:xfrm>
          <a:prstGeom prst="rect">
            <a:avLst/>
          </a:prstGeom>
        </p:spPr>
      </p:pic>
    </p:spTree>
    <p:extLst>
      <p:ext uri="{BB962C8B-B14F-4D97-AF65-F5344CB8AC3E}">
        <p14:creationId xmlns:p14="http://schemas.microsoft.com/office/powerpoint/2010/main" val="373670409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E63B8E-B8A0-35D2-1C33-719E364B8B4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2500" kern="1200">
                <a:solidFill>
                  <a:srgbClr val="FFFFFF"/>
                </a:solidFill>
                <a:latin typeface="+mj-lt"/>
                <a:ea typeface="+mj-ea"/>
                <a:cs typeface="+mj-cs"/>
              </a:rPr>
              <a:t>From the top of the screen choose from the offering financials and choose from the dropdown menu users and security and click on manager users </a:t>
            </a:r>
          </a:p>
        </p:txBody>
      </p:sp>
      <p:pic>
        <p:nvPicPr>
          <p:cNvPr id="4" name="Content Placeholder 3">
            <a:extLst>
              <a:ext uri="{FF2B5EF4-FFF2-40B4-BE49-F238E27FC236}">
                <a16:creationId xmlns:a16="http://schemas.microsoft.com/office/drawing/2014/main" id="{F81E4D16-C384-EAEE-CEC3-505C28950AB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007821" y="1966293"/>
            <a:ext cx="10176357" cy="4452160"/>
          </a:xfrm>
          <a:prstGeom prst="rect">
            <a:avLst/>
          </a:prstGeom>
        </p:spPr>
      </p:pic>
    </p:spTree>
    <p:extLst>
      <p:ext uri="{BB962C8B-B14F-4D97-AF65-F5344CB8AC3E}">
        <p14:creationId xmlns:p14="http://schemas.microsoft.com/office/powerpoint/2010/main" val="152267537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26EFAE-DB7A-E937-8A66-CC74FEFBA060}"/>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2800" kern="1200">
                <a:solidFill>
                  <a:srgbClr val="FFFFFF"/>
                </a:solidFill>
                <a:latin typeface="+mj-lt"/>
                <a:ea typeface="+mj-ea"/>
                <a:cs typeface="+mj-cs"/>
              </a:rPr>
              <a:t>Click on (+) and a screen will be displayed to put the first and last name, email and hiring date.</a:t>
            </a:r>
          </a:p>
        </p:txBody>
      </p:sp>
      <p:pic>
        <p:nvPicPr>
          <p:cNvPr id="4" name="Content Placeholder 3">
            <a:extLst>
              <a:ext uri="{FF2B5EF4-FFF2-40B4-BE49-F238E27FC236}">
                <a16:creationId xmlns:a16="http://schemas.microsoft.com/office/drawing/2014/main" id="{7AC7651B-566B-D77E-F60D-6EBDA9A5FF17}"/>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384719" y="1966293"/>
            <a:ext cx="9422560" cy="4452160"/>
          </a:xfrm>
          <a:prstGeom prst="rect">
            <a:avLst/>
          </a:prstGeom>
        </p:spPr>
      </p:pic>
    </p:spTree>
    <p:extLst>
      <p:ext uri="{BB962C8B-B14F-4D97-AF65-F5344CB8AC3E}">
        <p14:creationId xmlns:p14="http://schemas.microsoft.com/office/powerpoint/2010/main" val="330129874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116E13-688E-832A-1F04-DA2CB6A5FC9E}"/>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1900" kern="1200">
                <a:solidFill>
                  <a:srgbClr val="FFFFFF"/>
                </a:solidFill>
                <a:latin typeface="+mj-lt"/>
                <a:ea typeface="+mj-ea"/>
                <a:cs typeface="+mj-cs"/>
              </a:rPr>
              <a:t>In the employment information we need to choose the prompt type, and connect the legal entity and business unit will the person use. </a:t>
            </a:r>
            <a:br>
              <a:rPr lang="en-US" sz="1900" kern="1200">
                <a:solidFill>
                  <a:srgbClr val="FFFFFF"/>
                </a:solidFill>
                <a:latin typeface="+mj-lt"/>
                <a:ea typeface="+mj-ea"/>
                <a:cs typeface="+mj-cs"/>
              </a:rPr>
            </a:br>
            <a:r>
              <a:rPr lang="en-US" sz="1900" kern="1200">
                <a:solidFill>
                  <a:srgbClr val="FFFFFF"/>
                </a:solidFill>
                <a:latin typeface="+mj-lt"/>
                <a:ea typeface="+mj-ea"/>
                <a:cs typeface="+mj-cs"/>
              </a:rPr>
              <a:t>Click save and close then done.</a:t>
            </a:r>
          </a:p>
        </p:txBody>
      </p:sp>
      <p:pic>
        <p:nvPicPr>
          <p:cNvPr id="4" name="Content Placeholder 3">
            <a:extLst>
              <a:ext uri="{FF2B5EF4-FFF2-40B4-BE49-F238E27FC236}">
                <a16:creationId xmlns:a16="http://schemas.microsoft.com/office/drawing/2014/main" id="{87E09C0A-CBCE-917B-CA04-F437C3DA310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752429" y="1966293"/>
            <a:ext cx="8687141" cy="4452160"/>
          </a:xfrm>
          <a:prstGeom prst="rect">
            <a:avLst/>
          </a:prstGeom>
        </p:spPr>
      </p:pic>
    </p:spTree>
    <p:extLst>
      <p:ext uri="{BB962C8B-B14F-4D97-AF65-F5344CB8AC3E}">
        <p14:creationId xmlns:p14="http://schemas.microsoft.com/office/powerpoint/2010/main" val="310621497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522610-C53B-D4B5-8EF1-F510D9BDE4ED}"/>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1900" kern="1200">
                <a:solidFill>
                  <a:srgbClr val="FFFFFF"/>
                </a:solidFill>
                <a:latin typeface="+mj-lt"/>
                <a:ea typeface="+mj-ea"/>
                <a:cs typeface="+mj-cs"/>
              </a:rPr>
              <a:t>Step 3 add manager </a:t>
            </a:r>
            <a:br>
              <a:rPr lang="en-US" sz="1900" kern="1200">
                <a:solidFill>
                  <a:srgbClr val="FFFFFF"/>
                </a:solidFill>
                <a:latin typeface="+mj-lt"/>
                <a:ea typeface="+mj-ea"/>
                <a:cs typeface="+mj-cs"/>
              </a:rPr>
            </a:br>
            <a:r>
              <a:rPr lang="en-US" sz="1900" kern="1200">
                <a:solidFill>
                  <a:srgbClr val="FFFFFF"/>
                </a:solidFill>
                <a:latin typeface="+mj-lt"/>
                <a:ea typeface="+mj-ea"/>
                <a:cs typeface="+mj-cs"/>
              </a:rPr>
              <a:t>From setup and maintenance choose Organization structure then choose manager Business unit. </a:t>
            </a:r>
            <a:br>
              <a:rPr lang="en-US" sz="1900" kern="1200">
                <a:solidFill>
                  <a:srgbClr val="FFFFFF"/>
                </a:solidFill>
                <a:latin typeface="+mj-lt"/>
                <a:ea typeface="+mj-ea"/>
                <a:cs typeface="+mj-cs"/>
              </a:rPr>
            </a:br>
            <a:endParaRPr lang="en-US" sz="1900" kern="1200">
              <a:solidFill>
                <a:srgbClr val="FFFFFF"/>
              </a:solidFill>
              <a:latin typeface="+mj-lt"/>
              <a:ea typeface="+mj-ea"/>
              <a:cs typeface="+mj-cs"/>
            </a:endParaRPr>
          </a:p>
        </p:txBody>
      </p:sp>
      <p:pic>
        <p:nvPicPr>
          <p:cNvPr id="4" name="Content Placeholder 3">
            <a:extLst>
              <a:ext uri="{FF2B5EF4-FFF2-40B4-BE49-F238E27FC236}">
                <a16:creationId xmlns:a16="http://schemas.microsoft.com/office/drawing/2014/main" id="{725B3B60-81C2-50AC-623F-E33A6169048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32225" y="2790588"/>
            <a:ext cx="11327549" cy="2803569"/>
          </a:xfrm>
          <a:prstGeom prst="rect">
            <a:avLst/>
          </a:prstGeom>
        </p:spPr>
      </p:pic>
    </p:spTree>
    <p:extLst>
      <p:ext uri="{BB962C8B-B14F-4D97-AF65-F5344CB8AC3E}">
        <p14:creationId xmlns:p14="http://schemas.microsoft.com/office/powerpoint/2010/main" val="486074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2DE4A3-F7C2-8B99-7ECF-D38CA2876238}"/>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a:solidFill>
                  <a:srgbClr val="FFFFFF"/>
                </a:solidFill>
                <a:latin typeface="+mj-lt"/>
                <a:ea typeface="+mj-ea"/>
                <a:cs typeface="+mj-cs"/>
              </a:rPr>
              <a:t>Search for the business unit and choose it </a:t>
            </a:r>
          </a:p>
        </p:txBody>
      </p:sp>
      <p:pic>
        <p:nvPicPr>
          <p:cNvPr id="4" name="Content Placeholder 3">
            <a:extLst>
              <a:ext uri="{FF2B5EF4-FFF2-40B4-BE49-F238E27FC236}">
                <a16:creationId xmlns:a16="http://schemas.microsoft.com/office/drawing/2014/main" id="{27335C43-254B-59AD-B96B-72FC62492CE8}"/>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530796" y="1966293"/>
            <a:ext cx="11130406" cy="4452160"/>
          </a:xfrm>
          <a:prstGeom prst="rect">
            <a:avLst/>
          </a:prstGeom>
          <a:noFill/>
        </p:spPr>
      </p:pic>
    </p:spTree>
    <p:extLst>
      <p:ext uri="{BB962C8B-B14F-4D97-AF65-F5344CB8AC3E}">
        <p14:creationId xmlns:p14="http://schemas.microsoft.com/office/powerpoint/2010/main" val="151200063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B72D95-23DC-0358-B5C2-7D0D253E2764}"/>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2500" kern="1200">
                <a:solidFill>
                  <a:srgbClr val="FFFFFF"/>
                </a:solidFill>
                <a:latin typeface="+mj-lt"/>
                <a:ea typeface="+mj-ea"/>
                <a:cs typeface="+mj-cs"/>
              </a:rPr>
              <a:t>Put the manager that you created and click save and close.</a:t>
            </a:r>
            <a:br>
              <a:rPr lang="en-US" sz="2500" kern="1200">
                <a:solidFill>
                  <a:srgbClr val="FFFFFF"/>
                </a:solidFill>
                <a:latin typeface="+mj-lt"/>
                <a:ea typeface="+mj-ea"/>
                <a:cs typeface="+mj-cs"/>
              </a:rPr>
            </a:br>
            <a:endParaRPr lang="en-US" sz="2500" kern="1200">
              <a:solidFill>
                <a:srgbClr val="FFFFFF"/>
              </a:solidFill>
              <a:latin typeface="+mj-lt"/>
              <a:ea typeface="+mj-ea"/>
              <a:cs typeface="+mj-cs"/>
            </a:endParaRPr>
          </a:p>
        </p:txBody>
      </p:sp>
      <p:pic>
        <p:nvPicPr>
          <p:cNvPr id="4" name="Content Placeholder 3">
            <a:extLst>
              <a:ext uri="{FF2B5EF4-FFF2-40B4-BE49-F238E27FC236}">
                <a16:creationId xmlns:a16="http://schemas.microsoft.com/office/drawing/2014/main" id="{28081515-B20D-C195-06B8-27EB6AAE436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432225" y="2167573"/>
            <a:ext cx="11327549" cy="4049600"/>
          </a:xfrm>
          <a:prstGeom prst="rect">
            <a:avLst/>
          </a:prstGeom>
          <a:noFill/>
        </p:spPr>
      </p:pic>
    </p:spTree>
    <p:extLst>
      <p:ext uri="{BB962C8B-B14F-4D97-AF65-F5344CB8AC3E}">
        <p14:creationId xmlns:p14="http://schemas.microsoft.com/office/powerpoint/2010/main" val="1804167906"/>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AF88DD-49AB-94A4-4F21-481B92197AF8}"/>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1900" kern="1200">
                <a:solidFill>
                  <a:srgbClr val="FFFFFF"/>
                </a:solidFill>
                <a:latin typeface="+mj-lt"/>
                <a:ea typeface="+mj-ea"/>
                <a:cs typeface="+mj-cs"/>
              </a:rPr>
              <a:t>Creating budget has 4 steps</a:t>
            </a:r>
            <a:br>
              <a:rPr lang="en-US" sz="1900" kern="1200">
                <a:solidFill>
                  <a:srgbClr val="FFFFFF"/>
                </a:solidFill>
                <a:latin typeface="+mj-lt"/>
                <a:ea typeface="+mj-ea"/>
                <a:cs typeface="+mj-cs"/>
              </a:rPr>
            </a:br>
            <a:r>
              <a:rPr lang="en-US" sz="1900" kern="1200">
                <a:solidFill>
                  <a:srgbClr val="FFFFFF"/>
                </a:solidFill>
                <a:latin typeface="+mj-lt"/>
                <a:ea typeface="+mj-ea"/>
                <a:cs typeface="+mj-cs"/>
              </a:rPr>
              <a:t>Enable budgetary control and encumbrance account</a:t>
            </a:r>
            <a:br>
              <a:rPr lang="en-US" sz="1900" kern="1200">
                <a:solidFill>
                  <a:srgbClr val="FFFFFF"/>
                </a:solidFill>
                <a:latin typeface="+mj-lt"/>
                <a:ea typeface="+mj-ea"/>
                <a:cs typeface="+mj-cs"/>
              </a:rPr>
            </a:br>
            <a:r>
              <a:rPr lang="en-US" sz="1900" kern="1200">
                <a:solidFill>
                  <a:srgbClr val="FFFFFF"/>
                </a:solidFill>
                <a:latin typeface="+mj-lt"/>
                <a:ea typeface="+mj-ea"/>
                <a:cs typeface="+mj-cs"/>
              </a:rPr>
              <a:t>From budgetary control and encumbrance account click manage control </a:t>
            </a:r>
          </a:p>
        </p:txBody>
      </p:sp>
      <p:pic>
        <p:nvPicPr>
          <p:cNvPr id="4" name="Content Placeholder 3">
            <a:extLst>
              <a:ext uri="{FF2B5EF4-FFF2-40B4-BE49-F238E27FC236}">
                <a16:creationId xmlns:a16="http://schemas.microsoft.com/office/drawing/2014/main" id="{C988E2D5-D812-C90F-876C-A5C09238B0CB}"/>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31950" y="1966293"/>
            <a:ext cx="10728099" cy="4452160"/>
          </a:xfrm>
          <a:prstGeom prst="rect">
            <a:avLst/>
          </a:prstGeom>
        </p:spPr>
      </p:pic>
    </p:spTree>
    <p:extLst>
      <p:ext uri="{BB962C8B-B14F-4D97-AF65-F5344CB8AC3E}">
        <p14:creationId xmlns:p14="http://schemas.microsoft.com/office/powerpoint/2010/main" val="36272127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623BEDB-FC67-A4D8-BB4F-872847AF017A}"/>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1700" kern="1200">
                <a:solidFill>
                  <a:schemeClr val="tx1"/>
                </a:solidFill>
                <a:latin typeface="+mj-lt"/>
                <a:ea typeface="+mj-ea"/>
                <a:cs typeface="+mj-cs"/>
              </a:rPr>
              <a:t>Search for your ledger and choose it, a screen will be displayed make sure that you enabled budgetary control and Encumbrance accounting, and add the encumbrance accounting we added 10-100-24990-10-1000 as encumbrance accounting for our company.</a:t>
            </a:r>
          </a:p>
        </p:txBody>
      </p:sp>
      <p:pic>
        <p:nvPicPr>
          <p:cNvPr id="4" name="Content Placeholder 3">
            <a:extLst>
              <a:ext uri="{FF2B5EF4-FFF2-40B4-BE49-F238E27FC236}">
                <a16:creationId xmlns:a16="http://schemas.microsoft.com/office/drawing/2014/main" id="{2F78369D-43D9-2017-E917-BAD2CBDFBD01}"/>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412216" y="1656382"/>
            <a:ext cx="9367568" cy="4707204"/>
          </a:xfrm>
          <a:prstGeom prst="rect">
            <a:avLst/>
          </a:prstGeom>
        </p:spPr>
      </p:pic>
    </p:spTree>
    <p:extLst>
      <p:ext uri="{BB962C8B-B14F-4D97-AF65-F5344CB8AC3E}">
        <p14:creationId xmlns:p14="http://schemas.microsoft.com/office/powerpoint/2010/main" val="839538972"/>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Content Placeholder 2">
            <a:extLst>
              <a:ext uri="{FF2B5EF4-FFF2-40B4-BE49-F238E27FC236}">
                <a16:creationId xmlns:a16="http://schemas.microsoft.com/office/drawing/2014/main" id="{71573514-2EA8-1350-C21A-7464488E1924}"/>
              </a:ext>
            </a:extLst>
          </p:cNvPr>
          <p:cNvGraphicFramePr>
            <a:graphicFrameLocks noGrp="1"/>
          </p:cNvGraphicFramePr>
          <p:nvPr>
            <p:ph idx="1"/>
            <p:extLst>
              <p:ext uri="{D42A27DB-BD31-4B8C-83A1-F6EECF244321}">
                <p14:modId xmlns:p14="http://schemas.microsoft.com/office/powerpoint/2010/main" val="95147523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8493708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2FB4A8-C4E0-CB8F-711F-2E22DA223FC0}"/>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2800" kern="1200">
                <a:solidFill>
                  <a:srgbClr val="FFFFFF"/>
                </a:solidFill>
                <a:latin typeface="+mj-lt"/>
                <a:ea typeface="+mj-ea"/>
                <a:cs typeface="+mj-cs"/>
              </a:rPr>
              <a:t>2-Make a calendar for budget </a:t>
            </a:r>
            <a:br>
              <a:rPr lang="en-US" sz="2800" kern="1200">
                <a:solidFill>
                  <a:srgbClr val="FFFFFF"/>
                </a:solidFill>
                <a:latin typeface="+mj-lt"/>
                <a:ea typeface="+mj-ea"/>
                <a:cs typeface="+mj-cs"/>
              </a:rPr>
            </a:br>
            <a:r>
              <a:rPr lang="en-US" sz="2800" kern="1200">
                <a:solidFill>
                  <a:srgbClr val="FFFFFF"/>
                </a:solidFill>
                <a:latin typeface="+mj-lt"/>
                <a:ea typeface="+mj-ea"/>
                <a:cs typeface="+mj-cs"/>
              </a:rPr>
              <a:t> Click on manager control budget then + create </a:t>
            </a:r>
          </a:p>
        </p:txBody>
      </p:sp>
      <p:pic>
        <p:nvPicPr>
          <p:cNvPr id="4" name="Content Placeholder 3">
            <a:extLst>
              <a:ext uri="{FF2B5EF4-FFF2-40B4-BE49-F238E27FC236}">
                <a16:creationId xmlns:a16="http://schemas.microsoft.com/office/drawing/2014/main" id="{91B3C677-002D-D7AE-4F20-FD0FD44374B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432225" y="2394124"/>
            <a:ext cx="11327549" cy="3596498"/>
          </a:xfrm>
          <a:prstGeom prst="rect">
            <a:avLst/>
          </a:prstGeom>
          <a:noFill/>
        </p:spPr>
      </p:pic>
    </p:spTree>
    <p:extLst>
      <p:ext uri="{BB962C8B-B14F-4D97-AF65-F5344CB8AC3E}">
        <p14:creationId xmlns:p14="http://schemas.microsoft.com/office/powerpoint/2010/main" val="264715909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AFAC9A-2549-7CD2-D38E-80E83CEE5990}"/>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kern="1200">
                <a:solidFill>
                  <a:schemeClr val="bg1"/>
                </a:solidFill>
                <a:latin typeface="+mj-lt"/>
                <a:ea typeface="+mj-ea"/>
                <a:cs typeface="+mj-cs"/>
              </a:rPr>
              <a:t>Make sure your putting name, connecting budget calendar with the ledger, choose the periods (start and end), the source type, currency, the budget manager and the source budget name. </a:t>
            </a:r>
          </a:p>
        </p:txBody>
      </p:sp>
      <p:pic>
        <p:nvPicPr>
          <p:cNvPr id="4" name="Content Placeholder 3">
            <a:extLst>
              <a:ext uri="{FF2B5EF4-FFF2-40B4-BE49-F238E27FC236}">
                <a16:creationId xmlns:a16="http://schemas.microsoft.com/office/drawing/2014/main" id="{28A15FAF-04DD-5B25-C357-14B451752A87}"/>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65902" y="1675227"/>
            <a:ext cx="9060196" cy="4394199"/>
          </a:xfrm>
          <a:prstGeom prst="rect">
            <a:avLst/>
          </a:prstGeom>
        </p:spPr>
      </p:pic>
    </p:spTree>
    <p:extLst>
      <p:ext uri="{BB962C8B-B14F-4D97-AF65-F5344CB8AC3E}">
        <p14:creationId xmlns:p14="http://schemas.microsoft.com/office/powerpoint/2010/main" val="613744839"/>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C9E1A9-2B37-C6FB-A862-CE153AD06BA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2500" kern="1200">
                <a:solidFill>
                  <a:srgbClr val="FFFFFF"/>
                </a:solidFill>
                <a:latin typeface="+mj-lt"/>
                <a:ea typeface="+mj-ea"/>
                <a:cs typeface="+mj-cs"/>
              </a:rPr>
              <a:t>Click action and make it in use then Click save and close ( waring message will be displayed click yes)</a:t>
            </a:r>
          </a:p>
        </p:txBody>
      </p:sp>
      <p:pic>
        <p:nvPicPr>
          <p:cNvPr id="4" name="Content Placeholder 3">
            <a:extLst>
              <a:ext uri="{FF2B5EF4-FFF2-40B4-BE49-F238E27FC236}">
                <a16:creationId xmlns:a16="http://schemas.microsoft.com/office/drawing/2014/main" id="{41E49275-D2FF-763E-F595-1FB0DF21CB4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32225" y="2422445"/>
            <a:ext cx="11327549" cy="3539856"/>
          </a:xfrm>
          <a:prstGeom prst="rect">
            <a:avLst/>
          </a:prstGeom>
        </p:spPr>
      </p:pic>
    </p:spTree>
    <p:extLst>
      <p:ext uri="{BB962C8B-B14F-4D97-AF65-F5344CB8AC3E}">
        <p14:creationId xmlns:p14="http://schemas.microsoft.com/office/powerpoint/2010/main" val="422158376"/>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5238C5-3F54-09B3-5C08-3D038B55C108}"/>
              </a:ext>
            </a:extLst>
          </p:cNvPr>
          <p:cNvSpPr>
            <a:spLocks noGrp="1"/>
          </p:cNvSpPr>
          <p:nvPr>
            <p:ph type="title"/>
          </p:nvPr>
        </p:nvSpPr>
        <p:spPr>
          <a:xfrm>
            <a:off x="630936" y="640823"/>
            <a:ext cx="3419856" cy="5583148"/>
          </a:xfrm>
        </p:spPr>
        <p:txBody>
          <a:bodyPr anchor="ctr">
            <a:normAutofit/>
          </a:bodyPr>
          <a:lstStyle/>
          <a:p>
            <a:r>
              <a:rPr lang="en-US" sz="2200" b="1" u="sng"/>
              <a:t>Step 3 Manage Control Budget Data Access for Users:</a:t>
            </a:r>
            <a:br>
              <a:rPr lang="ar-EG" sz="2200" b="1" u="sng"/>
            </a:br>
            <a:r>
              <a:rPr lang="en-US" sz="2200"/>
              <a:t>From setup and maintenance click from the offering on the budgetary control and encumbrance account then Manage Control Budget Data Access for Users</a:t>
            </a:r>
            <a:br>
              <a:rPr lang="en-US" sz="2200"/>
            </a:br>
            <a:r>
              <a:rPr lang="en-US" sz="2200"/>
              <a:t>Click create and add the user’s name, role and connect it with the business unit </a:t>
            </a:r>
            <a:br>
              <a:rPr lang="en-US" sz="2200"/>
            </a:br>
            <a:r>
              <a:rPr lang="en-US" sz="2200"/>
              <a:t>Click save and close.</a:t>
            </a:r>
          </a:p>
        </p:txBody>
      </p:sp>
      <p:sp>
        <p:nvSpPr>
          <p:cNvPr id="18"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9382345E-76B1-BD05-E2B3-ABFF8FC0AA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93734" y="1289729"/>
            <a:ext cx="7448515" cy="4278541"/>
          </a:xfrm>
          <a:prstGeom prst="rect">
            <a:avLst/>
          </a:prstGeom>
        </p:spPr>
      </p:pic>
    </p:spTree>
    <p:extLst>
      <p:ext uri="{BB962C8B-B14F-4D97-AF65-F5344CB8AC3E}">
        <p14:creationId xmlns:p14="http://schemas.microsoft.com/office/powerpoint/2010/main" val="20555534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B3E090-56B0-162F-FD63-95082CBBF5AA}"/>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2500" kern="1200">
                <a:solidFill>
                  <a:srgbClr val="FFFFFF"/>
                </a:solidFill>
                <a:latin typeface="+mj-lt"/>
                <a:ea typeface="+mj-ea"/>
                <a:cs typeface="+mj-cs"/>
              </a:rPr>
              <a:t>4- Open periods</a:t>
            </a:r>
            <a:br>
              <a:rPr lang="en-US" sz="2500" kern="1200">
                <a:solidFill>
                  <a:srgbClr val="FFFFFF"/>
                </a:solidFill>
                <a:latin typeface="+mj-lt"/>
                <a:ea typeface="+mj-ea"/>
                <a:cs typeface="+mj-cs"/>
              </a:rPr>
            </a:br>
            <a:r>
              <a:rPr lang="en-US" sz="2500" kern="1200">
                <a:solidFill>
                  <a:srgbClr val="FFFFFF"/>
                </a:solidFill>
                <a:latin typeface="+mj-lt"/>
                <a:ea typeface="+mj-ea"/>
                <a:cs typeface="+mj-cs"/>
              </a:rPr>
              <a:t>We have 2 options to reach budgetary control from the navigate or the home page </a:t>
            </a:r>
          </a:p>
        </p:txBody>
      </p:sp>
      <p:pic>
        <p:nvPicPr>
          <p:cNvPr id="4" name="Content Placeholder 3">
            <a:extLst>
              <a:ext uri="{FF2B5EF4-FFF2-40B4-BE49-F238E27FC236}">
                <a16:creationId xmlns:a16="http://schemas.microsoft.com/office/drawing/2014/main" id="{EAB06B6B-3C01-AD9C-910B-A4DB8FC52C6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432225" y="2394124"/>
            <a:ext cx="11327549" cy="3596498"/>
          </a:xfrm>
          <a:prstGeom prst="rect">
            <a:avLst/>
          </a:prstGeom>
          <a:noFill/>
        </p:spPr>
      </p:pic>
    </p:spTree>
    <p:extLst>
      <p:ext uri="{BB962C8B-B14F-4D97-AF65-F5344CB8AC3E}">
        <p14:creationId xmlns:p14="http://schemas.microsoft.com/office/powerpoint/2010/main" val="214787229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66A9A4E-3F5E-32D0-8163-226897A51EF9}"/>
              </a:ext>
            </a:extLst>
          </p:cNvPr>
          <p:cNvSpPr>
            <a:spLocks noGrp="1"/>
          </p:cNvSpPr>
          <p:nvPr>
            <p:ph type="title"/>
          </p:nvPr>
        </p:nvSpPr>
        <p:spPr>
          <a:xfrm>
            <a:off x="660041" y="2767106"/>
            <a:ext cx="2880828" cy="3071906"/>
          </a:xfrm>
        </p:spPr>
        <p:txBody>
          <a:bodyPr vert="horz" lIns="91440" tIns="45720" rIns="91440" bIns="45720" rtlCol="0">
            <a:normAutofit/>
          </a:bodyPr>
          <a:lstStyle/>
          <a:p>
            <a:r>
              <a:rPr lang="en-US" sz="4000" kern="1200">
                <a:solidFill>
                  <a:srgbClr val="FFFFFF"/>
                </a:solidFill>
                <a:latin typeface="+mj-lt"/>
                <a:ea typeface="+mj-ea"/>
                <a:cs typeface="+mj-cs"/>
              </a:rPr>
              <a:t>From the task list choose budget period status</a:t>
            </a:r>
          </a:p>
        </p:txBody>
      </p:sp>
      <p:pic>
        <p:nvPicPr>
          <p:cNvPr id="4" name="Content Placeholder 3">
            <a:extLst>
              <a:ext uri="{FF2B5EF4-FFF2-40B4-BE49-F238E27FC236}">
                <a16:creationId xmlns:a16="http://schemas.microsoft.com/office/drawing/2014/main" id="{163DDF94-67B1-F587-C365-203A44E653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57173" y="467208"/>
            <a:ext cx="5716258" cy="5923584"/>
          </a:xfrm>
          <a:prstGeom prst="rect">
            <a:avLst/>
          </a:prstGeom>
        </p:spPr>
      </p:pic>
    </p:spTree>
    <p:extLst>
      <p:ext uri="{BB962C8B-B14F-4D97-AF65-F5344CB8AC3E}">
        <p14:creationId xmlns:p14="http://schemas.microsoft.com/office/powerpoint/2010/main" val="400880439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BB6685-3E74-2E9F-1346-BC70CC19B656}"/>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kern="1200">
                <a:solidFill>
                  <a:schemeClr val="bg1"/>
                </a:solidFill>
                <a:latin typeface="+mj-lt"/>
                <a:ea typeface="+mj-ea"/>
                <a:cs typeface="+mj-cs"/>
              </a:rPr>
              <a:t>Make sure you’re opening all the periods you will use.</a:t>
            </a:r>
            <a:br>
              <a:rPr lang="en-US" sz="2200" kern="1200">
                <a:solidFill>
                  <a:schemeClr val="bg1"/>
                </a:solidFill>
                <a:latin typeface="+mj-lt"/>
                <a:ea typeface="+mj-ea"/>
                <a:cs typeface="+mj-cs"/>
              </a:rPr>
            </a:br>
            <a:r>
              <a:rPr lang="en-US" sz="2200" kern="1200">
                <a:solidFill>
                  <a:schemeClr val="bg1"/>
                </a:solidFill>
                <a:latin typeface="+mj-lt"/>
                <a:ea typeface="+mj-ea"/>
                <a:cs typeface="+mj-cs"/>
              </a:rPr>
              <a:t>Click save and close </a:t>
            </a:r>
          </a:p>
        </p:txBody>
      </p:sp>
      <p:pic>
        <p:nvPicPr>
          <p:cNvPr id="4" name="Content Placeholder 3">
            <a:extLst>
              <a:ext uri="{FF2B5EF4-FFF2-40B4-BE49-F238E27FC236}">
                <a16:creationId xmlns:a16="http://schemas.microsoft.com/office/drawing/2014/main" id="{E374C254-38FF-D528-6BC4-C34EED5B3138}"/>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89129" y="1675227"/>
            <a:ext cx="9013741" cy="4394199"/>
          </a:xfrm>
          <a:prstGeom prst="rect">
            <a:avLst/>
          </a:prstGeom>
        </p:spPr>
      </p:pic>
    </p:spTree>
    <p:extLst>
      <p:ext uri="{BB962C8B-B14F-4D97-AF65-F5344CB8AC3E}">
        <p14:creationId xmlns:p14="http://schemas.microsoft.com/office/powerpoint/2010/main" val="367260475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993DD2-BF29-3AF7-F81D-4F26C9DDE0C9}"/>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000" kern="1200">
                <a:solidFill>
                  <a:schemeClr val="bg1"/>
                </a:solidFill>
                <a:latin typeface="+mj-lt"/>
                <a:ea typeface="+mj-ea"/>
                <a:cs typeface="+mj-cs"/>
              </a:rPr>
              <a:t>From the task list choose Enable budget on spread sheet and put the budget usage and control budget</a:t>
            </a:r>
            <a:br>
              <a:rPr lang="en-US" sz="2000" kern="1200">
                <a:solidFill>
                  <a:schemeClr val="bg1"/>
                </a:solidFill>
                <a:latin typeface="+mj-lt"/>
                <a:ea typeface="+mj-ea"/>
                <a:cs typeface="+mj-cs"/>
              </a:rPr>
            </a:br>
            <a:r>
              <a:rPr lang="en-US" sz="2000" kern="1200">
                <a:solidFill>
                  <a:schemeClr val="bg1"/>
                </a:solidFill>
                <a:latin typeface="+mj-lt"/>
                <a:ea typeface="+mj-ea"/>
                <a:cs typeface="+mj-cs"/>
              </a:rPr>
              <a:t>Make sure you’re choosing new budget or replacement then click on create spread sheet</a:t>
            </a:r>
          </a:p>
        </p:txBody>
      </p:sp>
      <p:pic>
        <p:nvPicPr>
          <p:cNvPr id="4" name="Content Placeholder 3">
            <a:extLst>
              <a:ext uri="{FF2B5EF4-FFF2-40B4-BE49-F238E27FC236}">
                <a16:creationId xmlns:a16="http://schemas.microsoft.com/office/drawing/2014/main" id="{1D0BA3A6-9A57-CEF3-3826-11D14F9709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986467" y="1675227"/>
            <a:ext cx="10219065" cy="4394199"/>
          </a:xfrm>
          <a:prstGeom prst="rect">
            <a:avLst/>
          </a:prstGeom>
          <a:noFill/>
        </p:spPr>
      </p:pic>
    </p:spTree>
    <p:extLst>
      <p:ext uri="{BB962C8B-B14F-4D97-AF65-F5344CB8AC3E}">
        <p14:creationId xmlns:p14="http://schemas.microsoft.com/office/powerpoint/2010/main" val="113029916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C143AF-0A08-5F4F-3AA6-F0C6EC584FAB}"/>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kern="1200">
                <a:solidFill>
                  <a:schemeClr val="bg1"/>
                </a:solidFill>
                <a:latin typeface="+mj-lt"/>
                <a:ea typeface="+mj-ea"/>
                <a:cs typeface="+mj-cs"/>
              </a:rPr>
              <a:t>After downloading the excel sheet sign in and put the account the details on the budget from Jan till Dec.</a:t>
            </a:r>
          </a:p>
        </p:txBody>
      </p:sp>
      <p:pic>
        <p:nvPicPr>
          <p:cNvPr id="4" name="Content Placeholder 3">
            <a:extLst>
              <a:ext uri="{FF2B5EF4-FFF2-40B4-BE49-F238E27FC236}">
                <a16:creationId xmlns:a16="http://schemas.microsoft.com/office/drawing/2014/main" id="{3758DF25-7910-78A2-6BB0-9BBDBD1CEC69}"/>
              </a:ext>
            </a:extLst>
          </p:cNvPr>
          <p:cNvPicPr>
            <a:picLocks noGrp="1" noChangeAspect="1"/>
          </p:cNvPicPr>
          <p:nvPr>
            <p:ph idx="1"/>
          </p:nvPr>
        </p:nvPicPr>
        <p:blipFill>
          <a:blip r:embed="rId2"/>
          <a:stretch>
            <a:fillRect/>
          </a:stretch>
        </p:blipFill>
        <p:spPr>
          <a:xfrm>
            <a:off x="643467" y="1977571"/>
            <a:ext cx="10905066" cy="3789510"/>
          </a:xfrm>
          <a:prstGeom prst="rect">
            <a:avLst/>
          </a:prstGeom>
        </p:spPr>
      </p:pic>
    </p:spTree>
    <p:extLst>
      <p:ext uri="{BB962C8B-B14F-4D97-AF65-F5344CB8AC3E}">
        <p14:creationId xmlns:p14="http://schemas.microsoft.com/office/powerpoint/2010/main" val="2728151097"/>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1837F1-EAD4-A44B-2396-642B17BE8C08}"/>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2800" kern="1200">
                <a:solidFill>
                  <a:srgbClr val="FFFFFF"/>
                </a:solidFill>
                <a:latin typeface="+mj-lt"/>
                <a:ea typeface="+mj-ea"/>
                <a:cs typeface="+mj-cs"/>
              </a:rPr>
              <a:t>Click on submit and from schedule process on the navigator check if it’s running successfully.</a:t>
            </a:r>
          </a:p>
        </p:txBody>
      </p:sp>
      <p:pic>
        <p:nvPicPr>
          <p:cNvPr id="4" name="Content Placeholder 3">
            <a:extLst>
              <a:ext uri="{FF2B5EF4-FFF2-40B4-BE49-F238E27FC236}">
                <a16:creationId xmlns:a16="http://schemas.microsoft.com/office/drawing/2014/main" id="{E295E6F8-5C0A-6079-6EC0-563B482AB864}"/>
              </a:ext>
            </a:extLst>
          </p:cNvPr>
          <p:cNvPicPr>
            <a:picLocks noGrp="1" noChangeAspect="1"/>
          </p:cNvPicPr>
          <p:nvPr>
            <p:ph idx="1"/>
          </p:nvPr>
        </p:nvPicPr>
        <p:blipFill>
          <a:blip r:embed="rId2"/>
          <a:stretch>
            <a:fillRect/>
          </a:stretch>
        </p:blipFill>
        <p:spPr>
          <a:xfrm>
            <a:off x="432225" y="3187054"/>
            <a:ext cx="11327549" cy="2010638"/>
          </a:xfrm>
          <a:prstGeom prst="rect">
            <a:avLst/>
          </a:prstGeom>
        </p:spPr>
      </p:pic>
    </p:spTree>
    <p:extLst>
      <p:ext uri="{BB962C8B-B14F-4D97-AF65-F5344CB8AC3E}">
        <p14:creationId xmlns:p14="http://schemas.microsoft.com/office/powerpoint/2010/main" val="174889044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95846D9-E07B-9C8C-3925-9F9DA6B10233}"/>
              </a:ext>
            </a:extLst>
          </p:cNvPr>
          <p:cNvSpPr>
            <a:spLocks noGrp="1"/>
          </p:cNvSpPr>
          <p:nvPr>
            <p:ph type="title"/>
          </p:nvPr>
        </p:nvSpPr>
        <p:spPr>
          <a:xfrm>
            <a:off x="660041" y="2767106"/>
            <a:ext cx="2880828" cy="3071906"/>
          </a:xfrm>
        </p:spPr>
        <p:txBody>
          <a:bodyPr vert="horz" lIns="91440" tIns="45720" rIns="91440" bIns="45720" rtlCol="0">
            <a:normAutofit/>
          </a:bodyPr>
          <a:lstStyle/>
          <a:p>
            <a:r>
              <a:rPr lang="en-US" sz="3100" kern="1200">
                <a:solidFill>
                  <a:srgbClr val="FFFFFF"/>
                </a:solidFill>
                <a:latin typeface="+mj-lt"/>
                <a:ea typeface="+mj-ea"/>
                <a:cs typeface="+mj-cs"/>
              </a:rPr>
              <a:t>Transfer and increase </a:t>
            </a:r>
            <a:br>
              <a:rPr lang="en-US" sz="3100" kern="1200">
                <a:solidFill>
                  <a:srgbClr val="FFFFFF"/>
                </a:solidFill>
                <a:latin typeface="+mj-lt"/>
                <a:ea typeface="+mj-ea"/>
                <a:cs typeface="+mj-cs"/>
              </a:rPr>
            </a:br>
            <a:r>
              <a:rPr lang="en-US" sz="3100" kern="1200">
                <a:solidFill>
                  <a:srgbClr val="FFFFFF"/>
                </a:solidFill>
                <a:latin typeface="+mj-lt"/>
                <a:ea typeface="+mj-ea"/>
                <a:cs typeface="+mj-cs"/>
              </a:rPr>
              <a:t> To transfer Click on review budgetary control balance </a:t>
            </a:r>
          </a:p>
        </p:txBody>
      </p:sp>
      <p:pic>
        <p:nvPicPr>
          <p:cNvPr id="4" name="Content Placeholder 3">
            <a:extLst>
              <a:ext uri="{FF2B5EF4-FFF2-40B4-BE49-F238E27FC236}">
                <a16:creationId xmlns:a16="http://schemas.microsoft.com/office/drawing/2014/main" id="{CF235F4A-5100-8E11-CC53-18B260AA29FC}"/>
              </a:ext>
            </a:extLst>
          </p:cNvPr>
          <p:cNvPicPr>
            <a:picLocks noGrp="1" noChangeAspect="1"/>
          </p:cNvPicPr>
          <p:nvPr>
            <p:ph idx="1"/>
          </p:nvPr>
        </p:nvPicPr>
        <p:blipFill>
          <a:blip r:embed="rId2"/>
          <a:stretch>
            <a:fillRect/>
          </a:stretch>
        </p:blipFill>
        <p:spPr>
          <a:xfrm>
            <a:off x="4502428" y="1179986"/>
            <a:ext cx="7225748" cy="4498027"/>
          </a:xfrm>
          <a:prstGeom prst="rect">
            <a:avLst/>
          </a:prstGeom>
        </p:spPr>
      </p:pic>
    </p:spTree>
    <p:extLst>
      <p:ext uri="{BB962C8B-B14F-4D97-AF65-F5344CB8AC3E}">
        <p14:creationId xmlns:p14="http://schemas.microsoft.com/office/powerpoint/2010/main" val="400437435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24DD52-E350-90E7-463A-CB4201AABCB1}"/>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2500" kern="1200">
                <a:solidFill>
                  <a:srgbClr val="FFFFFF"/>
                </a:solidFill>
                <a:latin typeface="+mj-lt"/>
                <a:ea typeface="+mj-ea"/>
                <a:cs typeface="+mj-cs"/>
              </a:rPr>
              <a:t>Search for the budget name that you create, put the company account project and everything and the balances will be displayed</a:t>
            </a:r>
          </a:p>
        </p:txBody>
      </p:sp>
      <p:pic>
        <p:nvPicPr>
          <p:cNvPr id="4" name="Content Placeholder 3">
            <a:extLst>
              <a:ext uri="{FF2B5EF4-FFF2-40B4-BE49-F238E27FC236}">
                <a16:creationId xmlns:a16="http://schemas.microsoft.com/office/drawing/2014/main" id="{9DA5156D-C3D3-0712-8CAC-21F789343980}"/>
              </a:ext>
            </a:extLst>
          </p:cNvPr>
          <p:cNvPicPr>
            <a:picLocks noGrp="1" noChangeAspect="1"/>
          </p:cNvPicPr>
          <p:nvPr>
            <p:ph idx="1"/>
          </p:nvPr>
        </p:nvPicPr>
        <p:blipFill>
          <a:blip r:embed="rId2"/>
          <a:stretch>
            <a:fillRect/>
          </a:stretch>
        </p:blipFill>
        <p:spPr>
          <a:xfrm>
            <a:off x="1458332" y="1966293"/>
            <a:ext cx="9275335" cy="4452160"/>
          </a:xfrm>
          <a:prstGeom prst="rect">
            <a:avLst/>
          </a:prstGeom>
        </p:spPr>
      </p:pic>
    </p:spTree>
    <p:extLst>
      <p:ext uri="{BB962C8B-B14F-4D97-AF65-F5344CB8AC3E}">
        <p14:creationId xmlns:p14="http://schemas.microsoft.com/office/powerpoint/2010/main" val="312158006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alculator, pen, compass, money and a paper with graphs printed on it">
            <a:extLst>
              <a:ext uri="{FF2B5EF4-FFF2-40B4-BE49-F238E27FC236}">
                <a16:creationId xmlns:a16="http://schemas.microsoft.com/office/drawing/2014/main" id="{A128E2DD-54EB-06BD-432E-8D133563A3DD}"/>
              </a:ext>
            </a:extLst>
          </p:cNvPr>
          <p:cNvPicPr>
            <a:picLocks noChangeAspect="1"/>
          </p:cNvPicPr>
          <p:nvPr/>
        </p:nvPicPr>
        <p:blipFill>
          <a:blip r:embed="rId2"/>
          <a:srcRect l="25333" r="21110" b="-1"/>
          <a:stretch>
            <a:fillRect/>
          </a:stretch>
        </p:blipFill>
        <p:spPr>
          <a:xfrm>
            <a:off x="20" y="10"/>
            <a:ext cx="6095980" cy="6857990"/>
          </a:xfrm>
          <a:prstGeom prst="rect">
            <a:avLst/>
          </a:prstGeom>
        </p:spPr>
      </p:pic>
      <p:grpSp>
        <p:nvGrpSpPr>
          <p:cNvPr id="9" name="Group 8">
            <a:extLst>
              <a:ext uri="{FF2B5EF4-FFF2-40B4-BE49-F238E27FC236}">
                <a16:creationId xmlns:a16="http://schemas.microsoft.com/office/drawing/2014/main" id="{5EFBDE31-BB3E-6CFC-23CD-B5976DA38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3362" cy="6858000"/>
            <a:chOff x="12068638" y="0"/>
            <a:chExt cx="123362" cy="6858000"/>
          </a:xfrm>
        </p:grpSpPr>
        <p:sp>
          <p:nvSpPr>
            <p:cNvPr id="22" name="Rectangle 21">
              <a:extLst>
                <a:ext uri="{FF2B5EF4-FFF2-40B4-BE49-F238E27FC236}">
                  <a16:creationId xmlns:a16="http://schemas.microsoft.com/office/drawing/2014/main" id="{180A60EC-72BB-121F-556A-E2837FD99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91A2FAE-D41C-FF5D-B0A0-7808248ED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4139706"/>
              <a:ext cx="123362" cy="2718294"/>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53C3717E-405C-804E-AEDC-F9C4CF577063}"/>
              </a:ext>
            </a:extLst>
          </p:cNvPr>
          <p:cNvSpPr>
            <a:spLocks noGrp="1"/>
          </p:cNvSpPr>
          <p:nvPr>
            <p:ph idx="1"/>
          </p:nvPr>
        </p:nvSpPr>
        <p:spPr>
          <a:xfrm>
            <a:off x="6823878" y="2533476"/>
            <a:ext cx="4491820" cy="3447832"/>
          </a:xfrm>
        </p:spPr>
        <p:txBody>
          <a:bodyPr>
            <a:normAutofit/>
          </a:bodyPr>
          <a:lstStyle/>
          <a:p>
            <a:pPr marL="0" indent="0">
              <a:buNone/>
            </a:pPr>
            <a:r>
              <a:rPr lang="en-US" sz="2000"/>
              <a:t>NSS wanted to transfer EGP 500 from Insurance to Advertising to cover additional marketing expenses for January 2026. This transfer reallocates the existing budget without increasing the total budget.</a:t>
            </a:r>
          </a:p>
        </p:txBody>
      </p:sp>
    </p:spTree>
    <p:extLst>
      <p:ext uri="{BB962C8B-B14F-4D97-AF65-F5344CB8AC3E}">
        <p14:creationId xmlns:p14="http://schemas.microsoft.com/office/powerpoint/2010/main" val="1514433174"/>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E3F9C3-8FE7-D1D2-B3C8-11E542243E23}"/>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2500" kern="1200">
                <a:solidFill>
                  <a:srgbClr val="FFFFFF"/>
                </a:solidFill>
                <a:latin typeface="+mj-lt"/>
                <a:ea typeface="+mj-ea"/>
                <a:cs typeface="+mj-cs"/>
              </a:rPr>
              <a:t>Click on the account and select transfer from and then select on the other account and select transfer</a:t>
            </a:r>
          </a:p>
        </p:txBody>
      </p:sp>
      <p:pic>
        <p:nvPicPr>
          <p:cNvPr id="4" name="Content Placeholder 3">
            <a:extLst>
              <a:ext uri="{FF2B5EF4-FFF2-40B4-BE49-F238E27FC236}">
                <a16:creationId xmlns:a16="http://schemas.microsoft.com/office/drawing/2014/main" id="{80342CF1-7AF1-3215-1322-328924E65861}"/>
              </a:ext>
            </a:extLst>
          </p:cNvPr>
          <p:cNvPicPr>
            <a:picLocks noGrp="1" noChangeAspect="1"/>
          </p:cNvPicPr>
          <p:nvPr>
            <p:ph idx="1"/>
          </p:nvPr>
        </p:nvPicPr>
        <p:blipFill>
          <a:blip r:embed="rId2"/>
          <a:stretch>
            <a:fillRect/>
          </a:stretch>
        </p:blipFill>
        <p:spPr>
          <a:xfrm>
            <a:off x="2068552" y="1966293"/>
            <a:ext cx="8054894" cy="4452160"/>
          </a:xfrm>
          <a:prstGeom prst="rect">
            <a:avLst/>
          </a:prstGeom>
        </p:spPr>
      </p:pic>
    </p:spTree>
    <p:extLst>
      <p:ext uri="{BB962C8B-B14F-4D97-AF65-F5344CB8AC3E}">
        <p14:creationId xmlns:p14="http://schemas.microsoft.com/office/powerpoint/2010/main" val="1609994968"/>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47E93C5-8659-BA5E-9B8D-0EF6ACCFEEA1}"/>
              </a:ext>
            </a:extLst>
          </p:cNvPr>
          <p:cNvSpPr>
            <a:spLocks noGrp="1"/>
          </p:cNvSpPr>
          <p:nvPr>
            <p:ph type="title"/>
          </p:nvPr>
        </p:nvSpPr>
        <p:spPr>
          <a:xfrm>
            <a:off x="660041" y="2767106"/>
            <a:ext cx="2880828" cy="3071906"/>
          </a:xfrm>
        </p:spPr>
        <p:txBody>
          <a:bodyPr vert="horz" lIns="91440" tIns="45720" rIns="91440" bIns="45720" rtlCol="0">
            <a:normAutofit/>
          </a:bodyPr>
          <a:lstStyle/>
          <a:p>
            <a:r>
              <a:rPr lang="en-US" sz="3400" kern="1200">
                <a:solidFill>
                  <a:srgbClr val="FFFFFF"/>
                </a:solidFill>
                <a:latin typeface="+mj-lt"/>
                <a:ea typeface="+mj-ea"/>
                <a:cs typeface="+mj-cs"/>
              </a:rPr>
              <a:t>to Put the amounts and then put the Justifications then click submit </a:t>
            </a:r>
          </a:p>
        </p:txBody>
      </p:sp>
      <p:pic>
        <p:nvPicPr>
          <p:cNvPr id="4" name="Content Placeholder 3">
            <a:extLst>
              <a:ext uri="{FF2B5EF4-FFF2-40B4-BE49-F238E27FC236}">
                <a16:creationId xmlns:a16="http://schemas.microsoft.com/office/drawing/2014/main" id="{F9A30FC3-0B57-366D-3B43-89B0BCA06066}"/>
              </a:ext>
            </a:extLst>
          </p:cNvPr>
          <p:cNvPicPr>
            <a:picLocks noGrp="1" noChangeAspect="1"/>
          </p:cNvPicPr>
          <p:nvPr>
            <p:ph idx="1"/>
          </p:nvPr>
        </p:nvPicPr>
        <p:blipFill>
          <a:blip r:embed="rId2"/>
          <a:stretch>
            <a:fillRect/>
          </a:stretch>
        </p:blipFill>
        <p:spPr>
          <a:xfrm>
            <a:off x="4502428" y="1216115"/>
            <a:ext cx="7225748" cy="4425770"/>
          </a:xfrm>
          <a:prstGeom prst="rect">
            <a:avLst/>
          </a:prstGeom>
        </p:spPr>
      </p:pic>
    </p:spTree>
    <p:extLst>
      <p:ext uri="{BB962C8B-B14F-4D97-AF65-F5344CB8AC3E}">
        <p14:creationId xmlns:p14="http://schemas.microsoft.com/office/powerpoint/2010/main" val="3591217589"/>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734CA3-0FC2-0770-3130-2B7CE3BD5B0E}"/>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a:solidFill>
                  <a:srgbClr val="FFFFFF"/>
                </a:solidFill>
                <a:latin typeface="+mj-lt"/>
                <a:ea typeface="+mj-ea"/>
                <a:cs typeface="+mj-cs"/>
              </a:rPr>
              <a:t>A request will be running and will reflect on the balances.</a:t>
            </a:r>
          </a:p>
        </p:txBody>
      </p:sp>
      <p:pic>
        <p:nvPicPr>
          <p:cNvPr id="4" name="Content Placeholder 3">
            <a:extLst>
              <a:ext uri="{FF2B5EF4-FFF2-40B4-BE49-F238E27FC236}">
                <a16:creationId xmlns:a16="http://schemas.microsoft.com/office/drawing/2014/main" id="{E2838182-EBBB-3063-562C-67AB1F96719A}"/>
              </a:ext>
            </a:extLst>
          </p:cNvPr>
          <p:cNvPicPr>
            <a:picLocks noGrp="1" noChangeAspect="1"/>
          </p:cNvPicPr>
          <p:nvPr>
            <p:ph idx="1"/>
          </p:nvPr>
        </p:nvPicPr>
        <p:blipFill>
          <a:blip r:embed="rId2"/>
          <a:stretch>
            <a:fillRect/>
          </a:stretch>
        </p:blipFill>
        <p:spPr>
          <a:xfrm>
            <a:off x="432225" y="2153415"/>
            <a:ext cx="11327549" cy="4077916"/>
          </a:xfrm>
          <a:prstGeom prst="rect">
            <a:avLst/>
          </a:prstGeom>
        </p:spPr>
      </p:pic>
    </p:spTree>
    <p:extLst>
      <p:ext uri="{BB962C8B-B14F-4D97-AF65-F5344CB8AC3E}">
        <p14:creationId xmlns:p14="http://schemas.microsoft.com/office/powerpoint/2010/main" val="71622241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50A2E37-D9D1-8F3B-C570-4487F82DE65C}"/>
              </a:ext>
            </a:extLst>
          </p:cNvPr>
          <p:cNvSpPr>
            <a:spLocks noGrp="1"/>
          </p:cNvSpPr>
          <p:nvPr>
            <p:ph type="title"/>
          </p:nvPr>
        </p:nvSpPr>
        <p:spPr>
          <a:xfrm>
            <a:off x="660041" y="2767106"/>
            <a:ext cx="2880828" cy="3071906"/>
          </a:xfrm>
        </p:spPr>
        <p:txBody>
          <a:bodyPr vert="horz" lIns="91440" tIns="45720" rIns="91440" bIns="45720" rtlCol="0">
            <a:normAutofit/>
          </a:bodyPr>
          <a:lstStyle/>
          <a:p>
            <a:r>
              <a:rPr lang="en-US" sz="1900" kern="1200">
                <a:solidFill>
                  <a:srgbClr val="FFFFFF"/>
                </a:solidFill>
                <a:latin typeface="+mj-lt"/>
                <a:ea typeface="+mj-ea"/>
                <a:cs typeface="+mj-cs"/>
              </a:rPr>
              <a:t>or you can increase account’s budget through editing the amounts from task list – ener budget in spreadsheet  (but this time you will choose budget entry classification as a revision)</a:t>
            </a:r>
          </a:p>
        </p:txBody>
      </p:sp>
      <p:pic>
        <p:nvPicPr>
          <p:cNvPr id="4" name="Content Placeholder 3">
            <a:extLst>
              <a:ext uri="{FF2B5EF4-FFF2-40B4-BE49-F238E27FC236}">
                <a16:creationId xmlns:a16="http://schemas.microsoft.com/office/drawing/2014/main" id="{024202F0-E2BA-96B7-A75E-F9CE25979A5E}"/>
              </a:ext>
            </a:extLst>
          </p:cNvPr>
          <p:cNvPicPr>
            <a:picLocks noGrp="1" noChangeAspect="1"/>
          </p:cNvPicPr>
          <p:nvPr>
            <p:ph idx="1"/>
          </p:nvPr>
        </p:nvPicPr>
        <p:blipFill>
          <a:blip r:embed="rId2"/>
          <a:stretch>
            <a:fillRect/>
          </a:stretch>
        </p:blipFill>
        <p:spPr>
          <a:xfrm>
            <a:off x="4502428" y="692248"/>
            <a:ext cx="7225748" cy="5473504"/>
          </a:xfrm>
          <a:prstGeom prst="rect">
            <a:avLst/>
          </a:prstGeom>
        </p:spPr>
      </p:pic>
    </p:spTree>
    <p:extLst>
      <p:ext uri="{BB962C8B-B14F-4D97-AF65-F5344CB8AC3E}">
        <p14:creationId xmlns:p14="http://schemas.microsoft.com/office/powerpoint/2010/main" val="297752547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Rectangle 12">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4" name="Content Placeholder 3">
            <a:extLst>
              <a:ext uri="{FF2B5EF4-FFF2-40B4-BE49-F238E27FC236}">
                <a16:creationId xmlns:a16="http://schemas.microsoft.com/office/drawing/2014/main" id="{6CBFF700-7A58-9071-597E-7C20521F034E}"/>
              </a:ext>
            </a:extLst>
          </p:cNvPr>
          <p:cNvPicPr>
            <a:picLocks noGrp="1" noChangeAspect="1"/>
          </p:cNvPicPr>
          <p:nvPr>
            <p:ph idx="1"/>
          </p:nvPr>
        </p:nvPicPr>
        <p:blipFill>
          <a:blip r:embed="rId2"/>
          <a:stretch>
            <a:fillRect/>
          </a:stretch>
        </p:blipFill>
        <p:spPr>
          <a:xfrm>
            <a:off x="1263578" y="1721047"/>
            <a:ext cx="9664846" cy="3237722"/>
          </a:xfrm>
          <a:prstGeom prst="rect">
            <a:avLst/>
          </a:prstGeom>
        </p:spPr>
      </p:pic>
    </p:spTree>
    <p:extLst>
      <p:ext uri="{BB962C8B-B14F-4D97-AF65-F5344CB8AC3E}">
        <p14:creationId xmlns:p14="http://schemas.microsoft.com/office/powerpoint/2010/main" val="117792659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5FEAC0-6812-AA56-D034-47E85C023D42}"/>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2500" kern="1200">
                <a:solidFill>
                  <a:srgbClr val="FFFFFF"/>
                </a:solidFill>
                <a:latin typeface="+mj-lt"/>
                <a:ea typeface="+mj-ea"/>
                <a:cs typeface="+mj-cs"/>
              </a:rPr>
              <a:t>NSS created a Budget Revision for Account 52152, increasing the budget by 500 EGP per month from January through December 2026. ✅</a:t>
            </a:r>
          </a:p>
        </p:txBody>
      </p:sp>
      <p:pic>
        <p:nvPicPr>
          <p:cNvPr id="4" name="Content Placeholder 3">
            <a:extLst>
              <a:ext uri="{FF2B5EF4-FFF2-40B4-BE49-F238E27FC236}">
                <a16:creationId xmlns:a16="http://schemas.microsoft.com/office/drawing/2014/main" id="{C5CC714E-0C25-BA7A-5347-7C79FE2C5B9C}"/>
              </a:ext>
            </a:extLst>
          </p:cNvPr>
          <p:cNvPicPr>
            <a:picLocks noGrp="1" noChangeAspect="1"/>
          </p:cNvPicPr>
          <p:nvPr>
            <p:ph idx="1"/>
          </p:nvPr>
        </p:nvPicPr>
        <p:blipFill>
          <a:blip r:embed="rId2"/>
          <a:stretch>
            <a:fillRect/>
          </a:stretch>
        </p:blipFill>
        <p:spPr>
          <a:xfrm>
            <a:off x="432225" y="2592356"/>
            <a:ext cx="11327549" cy="3200034"/>
          </a:xfrm>
          <a:prstGeom prst="rect">
            <a:avLst/>
          </a:prstGeom>
        </p:spPr>
      </p:pic>
    </p:spTree>
    <p:extLst>
      <p:ext uri="{BB962C8B-B14F-4D97-AF65-F5344CB8AC3E}">
        <p14:creationId xmlns:p14="http://schemas.microsoft.com/office/powerpoint/2010/main" val="708286433"/>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413D56AB-9F5E-269D-652C-E42F689522CB}"/>
              </a:ext>
            </a:extLst>
          </p:cNvPr>
          <p:cNvPicPr>
            <a:picLocks noGrp="1" noChangeAspect="1"/>
          </p:cNvPicPr>
          <p:nvPr>
            <p:ph idx="1"/>
          </p:nvPr>
        </p:nvPicPr>
        <p:blipFill>
          <a:blip r:embed="rId2"/>
          <a:stretch>
            <a:fillRect/>
          </a:stretch>
        </p:blipFill>
        <p:spPr>
          <a:xfrm>
            <a:off x="457200" y="567309"/>
            <a:ext cx="11277600" cy="5723382"/>
          </a:xfrm>
          <a:prstGeom prst="rect">
            <a:avLst/>
          </a:prstGeom>
        </p:spPr>
      </p:pic>
    </p:spTree>
    <p:extLst>
      <p:ext uri="{BB962C8B-B14F-4D97-AF65-F5344CB8AC3E}">
        <p14:creationId xmlns:p14="http://schemas.microsoft.com/office/powerpoint/2010/main" val="2254600621"/>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700429-92CE-645A-7C09-01D312F8B6CE}"/>
              </a:ext>
            </a:extLst>
          </p:cNvPr>
          <p:cNvSpPr>
            <a:spLocks noGrp="1"/>
          </p:cNvSpPr>
          <p:nvPr>
            <p:ph type="title"/>
          </p:nvPr>
        </p:nvSpPr>
        <p:spPr>
          <a:xfrm>
            <a:off x="761803" y="350196"/>
            <a:ext cx="4646904" cy="1624520"/>
          </a:xfrm>
        </p:spPr>
        <p:txBody>
          <a:bodyPr anchor="ctr">
            <a:normAutofit/>
          </a:bodyPr>
          <a:lstStyle/>
          <a:p>
            <a:r>
              <a:rPr lang="en-US" sz="4000" b="1"/>
              <a:t>Check Funds and Reserve Funds</a:t>
            </a:r>
            <a:endParaRPr lang="en-US" sz="4000"/>
          </a:p>
        </p:txBody>
      </p:sp>
      <p:sp>
        <p:nvSpPr>
          <p:cNvPr id="3" name="Content Placeholder 2">
            <a:extLst>
              <a:ext uri="{FF2B5EF4-FFF2-40B4-BE49-F238E27FC236}">
                <a16:creationId xmlns:a16="http://schemas.microsoft.com/office/drawing/2014/main" id="{03389806-61B1-E5C2-DA99-531B12102572}"/>
              </a:ext>
            </a:extLst>
          </p:cNvPr>
          <p:cNvSpPr>
            <a:spLocks noGrp="1"/>
          </p:cNvSpPr>
          <p:nvPr>
            <p:ph idx="1"/>
          </p:nvPr>
        </p:nvSpPr>
        <p:spPr>
          <a:xfrm>
            <a:off x="761802" y="2743200"/>
            <a:ext cx="4646905" cy="3613149"/>
          </a:xfrm>
        </p:spPr>
        <p:txBody>
          <a:bodyPr anchor="ctr">
            <a:normAutofit/>
          </a:bodyPr>
          <a:lstStyle/>
          <a:p>
            <a:r>
              <a:rPr lang="en-US" sz="2000" b="1"/>
              <a:t>Business Scenario</a:t>
            </a:r>
            <a:endParaRPr lang="en-US" sz="2000"/>
          </a:p>
          <a:p>
            <a:r>
              <a:rPr lang="en-US" sz="2000"/>
              <a:t>The organization wants to reserve </a:t>
            </a:r>
            <a:r>
              <a:rPr lang="en-US" sz="2000" b="1"/>
              <a:t>EGP 10,000</a:t>
            </a:r>
            <a:r>
              <a:rPr lang="en-US" sz="2000"/>
              <a:t> for future office supply purchases and ensure that sufficient budget is available.</a:t>
            </a:r>
          </a:p>
          <a:p>
            <a:endParaRPr lang="en-US" sz="2000"/>
          </a:p>
        </p:txBody>
      </p:sp>
      <p:pic>
        <p:nvPicPr>
          <p:cNvPr id="5" name="Picture 4" descr="Desk with productivity items">
            <a:extLst>
              <a:ext uri="{FF2B5EF4-FFF2-40B4-BE49-F238E27FC236}">
                <a16:creationId xmlns:a16="http://schemas.microsoft.com/office/drawing/2014/main" id="{C240C02E-70B2-CE54-76F4-79581445D312}"/>
              </a:ext>
            </a:extLst>
          </p:cNvPr>
          <p:cNvPicPr>
            <a:picLocks noChangeAspect="1"/>
          </p:cNvPicPr>
          <p:nvPr/>
        </p:nvPicPr>
        <p:blipFill>
          <a:blip r:embed="rId2"/>
          <a:srcRect l="27925" r="12675" b="-2"/>
          <a:stretch>
            <a:fillRect/>
          </a:stretch>
        </p:blipFill>
        <p:spPr>
          <a:xfrm>
            <a:off x="6096000" y="1"/>
            <a:ext cx="6102825" cy="6858000"/>
          </a:xfrm>
          <a:prstGeom prst="rect">
            <a:avLst/>
          </a:prstGeom>
        </p:spPr>
      </p:pic>
    </p:spTree>
    <p:extLst>
      <p:ext uri="{BB962C8B-B14F-4D97-AF65-F5344CB8AC3E}">
        <p14:creationId xmlns:p14="http://schemas.microsoft.com/office/powerpoint/2010/main" val="3840738114"/>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819678D-B1D1-8207-8C6A-00C711D20195}"/>
              </a:ext>
            </a:extLst>
          </p:cNvPr>
          <p:cNvSpPr>
            <a:spLocks noGrp="1"/>
          </p:cNvSpPr>
          <p:nvPr>
            <p:ph idx="1"/>
          </p:nvPr>
        </p:nvSpPr>
        <p:spPr>
          <a:xfrm>
            <a:off x="761802" y="2743200"/>
            <a:ext cx="4646905" cy="3613149"/>
          </a:xfrm>
        </p:spPr>
        <p:txBody>
          <a:bodyPr anchor="ctr">
            <a:normAutofit/>
          </a:bodyPr>
          <a:lstStyle/>
          <a:p>
            <a:r>
              <a:rPr lang="en-US" sz="1600" b="1"/>
              <a:t>Step 1: Create Journal</a:t>
            </a:r>
            <a:endParaRPr lang="en-US" sz="1600"/>
          </a:p>
          <a:p>
            <a:r>
              <a:rPr lang="en-US" sz="1600"/>
              <a:t>Navigate to:</a:t>
            </a:r>
          </a:p>
          <a:p>
            <a:r>
              <a:rPr lang="en-US" sz="1600" b="1"/>
              <a:t>General Accounting → Journals → Create Journal</a:t>
            </a:r>
            <a:endParaRPr lang="en-US" sz="1600"/>
          </a:p>
          <a:p>
            <a:r>
              <a:rPr lang="en-US" sz="1600"/>
              <a:t>Enter:</a:t>
            </a:r>
          </a:p>
          <a:p>
            <a:pPr lvl="0"/>
            <a:r>
              <a:rPr lang="en-US" sz="1600"/>
              <a:t>Journal Batch: ENC_2026</a:t>
            </a:r>
          </a:p>
          <a:p>
            <a:pPr lvl="0"/>
            <a:r>
              <a:rPr lang="en-US" sz="1600"/>
              <a:t>Description: Reserve Budget for Future Purchase</a:t>
            </a:r>
          </a:p>
          <a:p>
            <a:pPr lvl="0"/>
            <a:r>
              <a:rPr lang="en-US" sz="1600"/>
              <a:t>Journal: ENC_JRN_001</a:t>
            </a:r>
          </a:p>
          <a:p>
            <a:pPr lvl="0"/>
            <a:r>
              <a:rPr lang="en-US" sz="1600"/>
              <a:t>Ledger: NSS Primary Ledger EG</a:t>
            </a:r>
          </a:p>
          <a:p>
            <a:r>
              <a:rPr lang="en-US" sz="1600"/>
              <a:t>Accounting Date: 30-Jun-2026</a:t>
            </a:r>
          </a:p>
        </p:txBody>
      </p:sp>
      <p:pic>
        <p:nvPicPr>
          <p:cNvPr id="5" name="Picture 4" descr="The calendar on a table stacked on top of notebooks">
            <a:extLst>
              <a:ext uri="{FF2B5EF4-FFF2-40B4-BE49-F238E27FC236}">
                <a16:creationId xmlns:a16="http://schemas.microsoft.com/office/drawing/2014/main" id="{E307EEDB-D006-C6E7-C50B-7BBE532E49BA}"/>
              </a:ext>
            </a:extLst>
          </p:cNvPr>
          <p:cNvPicPr>
            <a:picLocks noChangeAspect="1"/>
          </p:cNvPicPr>
          <p:nvPr/>
        </p:nvPicPr>
        <p:blipFill>
          <a:blip r:embed="rId2"/>
          <a:srcRect l="28139" r="12461" b="-2"/>
          <a:stretch>
            <a:fillRect/>
          </a:stretch>
        </p:blipFill>
        <p:spPr>
          <a:xfrm>
            <a:off x="6096000" y="1"/>
            <a:ext cx="6102825" cy="6858000"/>
          </a:xfrm>
          <a:prstGeom prst="rect">
            <a:avLst/>
          </a:prstGeom>
        </p:spPr>
      </p:pic>
    </p:spTree>
    <p:extLst>
      <p:ext uri="{BB962C8B-B14F-4D97-AF65-F5344CB8AC3E}">
        <p14:creationId xmlns:p14="http://schemas.microsoft.com/office/powerpoint/2010/main" val="1267736839"/>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05216CD-D01E-61E7-4D04-EFF08AEE788A}"/>
              </a:ext>
            </a:extLst>
          </p:cNvPr>
          <p:cNvSpPr>
            <a:spLocks noGrp="1"/>
          </p:cNvSpPr>
          <p:nvPr>
            <p:ph idx="1"/>
          </p:nvPr>
        </p:nvSpPr>
        <p:spPr>
          <a:xfrm>
            <a:off x="761802" y="2743200"/>
            <a:ext cx="4646905" cy="3613149"/>
          </a:xfrm>
        </p:spPr>
        <p:txBody>
          <a:bodyPr anchor="ctr">
            <a:normAutofit/>
          </a:bodyPr>
          <a:lstStyle/>
          <a:p>
            <a:r>
              <a:rPr lang="en-US" sz="1100" b="1"/>
              <a:t>Step 2: Enter Journal Lines</a:t>
            </a:r>
            <a:endParaRPr lang="en-US" sz="1100"/>
          </a:p>
          <a:p>
            <a:r>
              <a:rPr lang="en-US" sz="1100" b="1"/>
              <a:t>Line 1</a:t>
            </a:r>
            <a:endParaRPr lang="en-US" sz="1100"/>
          </a:p>
          <a:p>
            <a:pPr lvl="0"/>
            <a:r>
              <a:rPr lang="en-US" sz="1100"/>
              <a:t>Account: 52152</a:t>
            </a:r>
          </a:p>
          <a:p>
            <a:pPr lvl="0"/>
            <a:r>
              <a:rPr lang="en-US" sz="1100"/>
              <a:t>Debit: 10,000</a:t>
            </a:r>
          </a:p>
          <a:p>
            <a:pPr lvl="0"/>
            <a:r>
              <a:rPr lang="en-US" sz="1100"/>
              <a:t>Credit: 0</a:t>
            </a:r>
          </a:p>
          <a:p>
            <a:pPr lvl="0"/>
            <a:r>
              <a:rPr lang="en-US" sz="1100"/>
              <a:t>Description: Office Supplies Commitment</a:t>
            </a:r>
          </a:p>
          <a:p>
            <a:r>
              <a:rPr lang="en-US" sz="1100" b="1"/>
              <a:t>Line 2</a:t>
            </a:r>
            <a:endParaRPr lang="en-US" sz="1100"/>
          </a:p>
          <a:p>
            <a:pPr lvl="0"/>
            <a:r>
              <a:rPr lang="en-US" sz="1100"/>
              <a:t>Account: 53110</a:t>
            </a:r>
          </a:p>
          <a:p>
            <a:pPr lvl="0"/>
            <a:r>
              <a:rPr lang="en-US" sz="1100"/>
              <a:t>Debit: 0</a:t>
            </a:r>
          </a:p>
          <a:p>
            <a:pPr lvl="0"/>
            <a:r>
              <a:rPr lang="en-US" sz="1100"/>
              <a:t>Credit: 10,000</a:t>
            </a:r>
          </a:p>
          <a:p>
            <a:pPr lvl="0"/>
            <a:r>
              <a:rPr lang="en-US" sz="1100"/>
              <a:t>Description: Encumbrance Reserve</a:t>
            </a:r>
          </a:p>
          <a:p>
            <a:br>
              <a:rPr lang="en-US" sz="1100"/>
            </a:br>
            <a:endParaRPr lang="en-US" sz="1100"/>
          </a:p>
          <a:p>
            <a:endParaRPr lang="en-US" sz="1100"/>
          </a:p>
        </p:txBody>
      </p:sp>
      <p:pic>
        <p:nvPicPr>
          <p:cNvPr id="5" name="Picture 4" descr="A page in a planner">
            <a:extLst>
              <a:ext uri="{FF2B5EF4-FFF2-40B4-BE49-F238E27FC236}">
                <a16:creationId xmlns:a16="http://schemas.microsoft.com/office/drawing/2014/main" id="{7F5CEF90-24A9-6FEC-801E-FED58CB8E42E}"/>
              </a:ext>
            </a:extLst>
          </p:cNvPr>
          <p:cNvPicPr>
            <a:picLocks noChangeAspect="1"/>
          </p:cNvPicPr>
          <p:nvPr/>
        </p:nvPicPr>
        <p:blipFill>
          <a:blip r:embed="rId2"/>
          <a:srcRect l="13878" r="26721" b="-2"/>
          <a:stretch>
            <a:fillRect/>
          </a:stretch>
        </p:blipFill>
        <p:spPr>
          <a:xfrm>
            <a:off x="6096000" y="1"/>
            <a:ext cx="6102825" cy="6858000"/>
          </a:xfrm>
          <a:prstGeom prst="rect">
            <a:avLst/>
          </a:prstGeom>
        </p:spPr>
      </p:pic>
    </p:spTree>
    <p:extLst>
      <p:ext uri="{BB962C8B-B14F-4D97-AF65-F5344CB8AC3E}">
        <p14:creationId xmlns:p14="http://schemas.microsoft.com/office/powerpoint/2010/main" val="442189943"/>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58256" y="-358254"/>
            <a:ext cx="6858000" cy="7574507"/>
          </a:xfrm>
          <a:prstGeom prst="rect">
            <a:avLst/>
          </a:prstGeom>
          <a:ln>
            <a:noFill/>
          </a:ln>
          <a:effectLst>
            <a:outerShdw blurRad="457200" dist="63500" sx="99000" sy="99000" algn="l"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hand holding a pen and shading circles on a sheet">
            <a:extLst>
              <a:ext uri="{FF2B5EF4-FFF2-40B4-BE49-F238E27FC236}">
                <a16:creationId xmlns:a16="http://schemas.microsoft.com/office/drawing/2014/main" id="{78AD682B-43AD-0781-12E5-C9D49C89B3A0}"/>
              </a:ext>
            </a:extLst>
          </p:cNvPr>
          <p:cNvPicPr>
            <a:picLocks noChangeAspect="1"/>
          </p:cNvPicPr>
          <p:nvPr/>
        </p:nvPicPr>
        <p:blipFill>
          <a:blip r:embed="rId2"/>
          <a:srcRect l="14520" r="1" b="1"/>
          <a:stretch>
            <a:fillRect/>
          </a:stretch>
        </p:blipFill>
        <p:spPr>
          <a:xfrm>
            <a:off x="20" y="-1"/>
            <a:ext cx="7574488" cy="5161587"/>
          </a:xfrm>
          <a:prstGeom prst="rect">
            <a:avLst/>
          </a:prstGeom>
        </p:spPr>
      </p:pic>
      <p:sp>
        <p:nvSpPr>
          <p:cNvPr id="3" name="Content Placeholder 2">
            <a:extLst>
              <a:ext uri="{FF2B5EF4-FFF2-40B4-BE49-F238E27FC236}">
                <a16:creationId xmlns:a16="http://schemas.microsoft.com/office/drawing/2014/main" id="{4AD91C03-7E43-744D-09B5-0CBB3A023152}"/>
              </a:ext>
            </a:extLst>
          </p:cNvPr>
          <p:cNvSpPr>
            <a:spLocks noGrp="1"/>
          </p:cNvSpPr>
          <p:nvPr>
            <p:ph idx="1"/>
          </p:nvPr>
        </p:nvSpPr>
        <p:spPr>
          <a:xfrm>
            <a:off x="8340064" y="743803"/>
            <a:ext cx="3144523" cy="5474173"/>
          </a:xfrm>
        </p:spPr>
        <p:txBody>
          <a:bodyPr anchor="ctr">
            <a:normAutofit/>
          </a:bodyPr>
          <a:lstStyle/>
          <a:p>
            <a:r>
              <a:rPr lang="en-US" sz="2000" b="1"/>
              <a:t>Step 3: Save Journal</a:t>
            </a:r>
            <a:endParaRPr lang="en-US" sz="2000"/>
          </a:p>
          <a:p>
            <a:r>
              <a:rPr lang="en-US" sz="2000"/>
              <a:t>Click </a:t>
            </a:r>
            <a:r>
              <a:rPr lang="en-US" sz="2000" b="1"/>
              <a:t>Save</a:t>
            </a:r>
            <a:r>
              <a:rPr lang="en-US" sz="2000"/>
              <a:t>.</a:t>
            </a:r>
          </a:p>
          <a:p>
            <a:pPr marL="0" indent="0">
              <a:buNone/>
            </a:pPr>
            <a:endParaRPr lang="en-US" sz="2000"/>
          </a:p>
          <a:p>
            <a:r>
              <a:rPr lang="en-US" sz="2000" b="1"/>
              <a:t>Step 4: Check Funds</a:t>
            </a:r>
            <a:endParaRPr lang="en-US" sz="2000"/>
          </a:p>
          <a:p>
            <a:r>
              <a:rPr lang="en-US" sz="2000"/>
              <a:t>From </a:t>
            </a:r>
            <a:r>
              <a:rPr lang="en-US" sz="2000" b="1"/>
              <a:t>Journal Actions</a:t>
            </a:r>
            <a:r>
              <a:rPr lang="en-US" sz="2000"/>
              <a:t> select:</a:t>
            </a:r>
          </a:p>
          <a:p>
            <a:r>
              <a:rPr lang="en-US" sz="2000" b="1"/>
              <a:t>Check Funds</a:t>
            </a:r>
            <a:endParaRPr lang="en-US" sz="2000"/>
          </a:p>
          <a:p>
            <a:r>
              <a:rPr lang="en-US" sz="2000" b="1"/>
              <a:t>Result</a:t>
            </a:r>
            <a:endParaRPr lang="en-US" sz="2000"/>
          </a:p>
          <a:p>
            <a:r>
              <a:rPr lang="en-US" sz="2000"/>
              <a:t>✅ Funds Status = Passed</a:t>
            </a:r>
          </a:p>
          <a:p>
            <a:r>
              <a:rPr lang="en-US" sz="2000"/>
              <a:t>✅ Sufficient budget is available.</a:t>
            </a:r>
          </a:p>
          <a:p>
            <a:r>
              <a:rPr lang="en-US" sz="2000"/>
              <a:t>✅ Budget validation completed successfully.</a:t>
            </a:r>
          </a:p>
          <a:p>
            <a:endParaRPr lang="en-US" sz="2000"/>
          </a:p>
        </p:txBody>
      </p:sp>
    </p:spTree>
    <p:extLst>
      <p:ext uri="{BB962C8B-B14F-4D97-AF65-F5344CB8AC3E}">
        <p14:creationId xmlns:p14="http://schemas.microsoft.com/office/powerpoint/2010/main" val="4180051134"/>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D8CD0E4-870B-DF1B-A7D7-EA837712C62B}"/>
              </a:ext>
            </a:extLst>
          </p:cNvPr>
          <p:cNvSpPr>
            <a:spLocks noGrp="1"/>
          </p:cNvSpPr>
          <p:nvPr>
            <p:ph idx="1"/>
          </p:nvPr>
        </p:nvSpPr>
        <p:spPr>
          <a:xfrm>
            <a:off x="4810259" y="649480"/>
            <a:ext cx="6555347" cy="5546047"/>
          </a:xfrm>
        </p:spPr>
        <p:txBody>
          <a:bodyPr anchor="ctr">
            <a:normAutofit/>
          </a:bodyPr>
          <a:lstStyle/>
          <a:p>
            <a:r>
              <a:rPr lang="en-US" sz="2000" b="1"/>
              <a:t>Step 5: Reserve Funds</a:t>
            </a:r>
            <a:endParaRPr lang="en-US" sz="2000"/>
          </a:p>
          <a:p>
            <a:r>
              <a:rPr lang="en-US" sz="2000"/>
              <a:t>From </a:t>
            </a:r>
            <a:r>
              <a:rPr lang="en-US" sz="2000" b="1"/>
              <a:t>Journal Actions</a:t>
            </a:r>
            <a:r>
              <a:rPr lang="en-US" sz="2000"/>
              <a:t> select:</a:t>
            </a:r>
          </a:p>
          <a:p>
            <a:r>
              <a:rPr lang="en-US" sz="2000" b="1"/>
              <a:t>Reserve Funds</a:t>
            </a:r>
            <a:endParaRPr lang="en-US" sz="2000"/>
          </a:p>
          <a:p>
            <a:r>
              <a:rPr lang="en-US" sz="2000" b="1"/>
              <a:t>Result</a:t>
            </a:r>
            <a:endParaRPr lang="en-US" sz="2000"/>
          </a:p>
          <a:p>
            <a:r>
              <a:rPr lang="en-US" sz="2000"/>
              <a:t>✅ Funds Reserved Successfully</a:t>
            </a:r>
          </a:p>
          <a:p>
            <a:r>
              <a:rPr lang="en-US" sz="2000"/>
              <a:t>✅ EGP 10,000 reserved against the control budget.</a:t>
            </a:r>
          </a:p>
          <a:p>
            <a:r>
              <a:rPr lang="en-US" sz="2000"/>
              <a:t>✅ Available budget reduced by EGP 10,000.</a:t>
            </a:r>
          </a:p>
          <a:p>
            <a:pPr marL="0" indent="0">
              <a:buNone/>
            </a:pPr>
            <a:endParaRPr lang="en-US" sz="2000"/>
          </a:p>
          <a:p>
            <a:endParaRPr lang="en-US" sz="2000"/>
          </a:p>
        </p:txBody>
      </p:sp>
    </p:spTree>
    <p:extLst>
      <p:ext uri="{BB962C8B-B14F-4D97-AF65-F5344CB8AC3E}">
        <p14:creationId xmlns:p14="http://schemas.microsoft.com/office/powerpoint/2010/main" val="2415537256"/>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age in a planner">
            <a:extLst>
              <a:ext uri="{FF2B5EF4-FFF2-40B4-BE49-F238E27FC236}">
                <a16:creationId xmlns:a16="http://schemas.microsoft.com/office/drawing/2014/main" id="{29974696-1804-D72D-65FA-533ACCDD759A}"/>
              </a:ext>
            </a:extLst>
          </p:cNvPr>
          <p:cNvPicPr>
            <a:picLocks noChangeAspect="1"/>
          </p:cNvPicPr>
          <p:nvPr/>
        </p:nvPicPr>
        <p:blipFill>
          <a:blip r:embed="rId2"/>
          <a:srcRect l="13911" r="26755" b="-2"/>
          <a:stretch>
            <a:fillRect/>
          </a:stretch>
        </p:blipFill>
        <p:spPr>
          <a:xfrm>
            <a:off x="-1" y="-2"/>
            <a:ext cx="6096001" cy="6858002"/>
          </a:xfrm>
          <a:prstGeom prst="rect">
            <a:avLst/>
          </a:prstGeom>
        </p:spPr>
      </p:pic>
      <p:sp>
        <p:nvSpPr>
          <p:cNvPr id="3" name="Content Placeholder 2">
            <a:extLst>
              <a:ext uri="{FF2B5EF4-FFF2-40B4-BE49-F238E27FC236}">
                <a16:creationId xmlns:a16="http://schemas.microsoft.com/office/drawing/2014/main" id="{ACBD8291-FD9C-0555-13F0-DA840A655098}"/>
              </a:ext>
            </a:extLst>
          </p:cNvPr>
          <p:cNvSpPr>
            <a:spLocks noGrp="1"/>
          </p:cNvSpPr>
          <p:nvPr>
            <p:ph idx="1"/>
          </p:nvPr>
        </p:nvSpPr>
        <p:spPr>
          <a:xfrm>
            <a:off x="6803409" y="2470245"/>
            <a:ext cx="4156512" cy="3769835"/>
          </a:xfrm>
        </p:spPr>
        <p:txBody>
          <a:bodyPr anchor="ctr">
            <a:normAutofit/>
          </a:bodyPr>
          <a:lstStyle/>
          <a:p>
            <a:r>
              <a:rPr lang="en-US" sz="2000" b="1"/>
              <a:t>Step 6: Post Journal</a:t>
            </a:r>
            <a:endParaRPr lang="en-US" sz="2000"/>
          </a:p>
          <a:p>
            <a:r>
              <a:rPr lang="en-US" sz="2000"/>
              <a:t>Click </a:t>
            </a:r>
            <a:r>
              <a:rPr lang="en-US" sz="2000" b="1"/>
              <a:t>Post</a:t>
            </a:r>
            <a:r>
              <a:rPr lang="en-US" sz="2000"/>
              <a:t>.</a:t>
            </a:r>
          </a:p>
          <a:p>
            <a:r>
              <a:rPr lang="en-US" sz="2000" b="1"/>
              <a:t>Result</a:t>
            </a:r>
            <a:endParaRPr lang="en-US" sz="2000"/>
          </a:p>
          <a:p>
            <a:r>
              <a:rPr lang="en-US" sz="2000"/>
              <a:t>✅ Journal posted successfully.</a:t>
            </a:r>
          </a:p>
          <a:p>
            <a:r>
              <a:rPr lang="en-US" sz="2000"/>
              <a:t>✅ Budget commitment recorded</a:t>
            </a:r>
          </a:p>
        </p:txBody>
      </p:sp>
    </p:spTree>
    <p:extLst>
      <p:ext uri="{BB962C8B-B14F-4D97-AF65-F5344CB8AC3E}">
        <p14:creationId xmlns:p14="http://schemas.microsoft.com/office/powerpoint/2010/main" val="419835508"/>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Rectangle 12">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4" name="Content Placeholder 3">
            <a:extLst>
              <a:ext uri="{FF2B5EF4-FFF2-40B4-BE49-F238E27FC236}">
                <a16:creationId xmlns:a16="http://schemas.microsoft.com/office/drawing/2014/main" id="{FA6A5F2C-6F94-D930-56B5-BDF8AAF987EE}"/>
              </a:ext>
            </a:extLst>
          </p:cNvPr>
          <p:cNvPicPr>
            <a:picLocks noGrp="1" noChangeAspect="1"/>
          </p:cNvPicPr>
          <p:nvPr>
            <p:ph idx="1"/>
          </p:nvPr>
        </p:nvPicPr>
        <p:blipFill>
          <a:blip r:embed="rId2"/>
          <a:stretch>
            <a:fillRect/>
          </a:stretch>
        </p:blipFill>
        <p:spPr>
          <a:xfrm>
            <a:off x="1263578" y="1527750"/>
            <a:ext cx="9664846" cy="3624317"/>
          </a:xfrm>
          <a:prstGeom prst="rect">
            <a:avLst/>
          </a:prstGeom>
        </p:spPr>
      </p:pic>
    </p:spTree>
    <p:extLst>
      <p:ext uri="{BB962C8B-B14F-4D97-AF65-F5344CB8AC3E}">
        <p14:creationId xmlns:p14="http://schemas.microsoft.com/office/powerpoint/2010/main" val="2530740458"/>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Rectangle 12">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4" name="Content Placeholder 3">
            <a:extLst>
              <a:ext uri="{FF2B5EF4-FFF2-40B4-BE49-F238E27FC236}">
                <a16:creationId xmlns:a16="http://schemas.microsoft.com/office/drawing/2014/main" id="{75A73005-91BA-E420-FABD-1B4A5695695F}"/>
              </a:ext>
            </a:extLst>
          </p:cNvPr>
          <p:cNvPicPr>
            <a:picLocks noGrp="1" noChangeAspect="1"/>
          </p:cNvPicPr>
          <p:nvPr>
            <p:ph idx="1"/>
          </p:nvPr>
        </p:nvPicPr>
        <p:blipFill rotWithShape="1">
          <a:blip r:embed="rId2"/>
          <a:srcRect t="22604" r="15476" b="12848"/>
          <a:stretch>
            <a:fillRect/>
          </a:stretch>
        </p:blipFill>
        <p:spPr bwMode="auto">
          <a:xfrm>
            <a:off x="1263578" y="1319440"/>
            <a:ext cx="9664846" cy="4040937"/>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42492321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281</TotalTime>
  <Words>6754</Words>
  <Application>Microsoft Office PowerPoint</Application>
  <PresentationFormat>Widescreen</PresentationFormat>
  <Paragraphs>431</Paragraphs>
  <Slides>197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197</vt:i4>
      </vt:variant>
    </vt:vector>
  </HeadingPairs>
  <TitlesOfParts>
    <vt:vector size="202" baseType="lpstr">
      <vt:lpstr>Aptos</vt:lpstr>
      <vt:lpstr>Aptos Display</vt:lpstr>
      <vt:lpstr>Arial</vt:lpstr>
      <vt:lpstr>Calibri</vt:lpstr>
      <vt:lpstr>Office Theme</vt:lpstr>
      <vt:lpstr>Oracle fusion financial</vt:lpstr>
      <vt:lpstr>Topics Covered in the Project:</vt:lpstr>
      <vt:lpstr>Journal Setup and Processing Steps</vt:lpstr>
      <vt:lpstr>Part 1: Create Journal Category</vt:lpstr>
      <vt:lpstr>Step 1: Setup and Maintenance</vt:lpstr>
      <vt:lpstr>Step 1: Setup and Maintenance</vt:lpstr>
      <vt:lpstr>Step 2: General Ledger</vt:lpstr>
      <vt:lpstr>Step 2: General Ledger</vt:lpstr>
      <vt:lpstr>Step 3: Manage Journal Categories </vt:lpstr>
      <vt:lpstr>Step 3: Manage Journal Categories </vt:lpstr>
      <vt:lpstr>Step 4: Creating Category </vt:lpstr>
      <vt:lpstr>Step 4: Creating Category </vt:lpstr>
      <vt:lpstr>Part 2: Create Journal Sequence</vt:lpstr>
      <vt:lpstr>Step 1: Setup and Maintenance </vt:lpstr>
      <vt:lpstr>Step 1: Setup and Maintenance </vt:lpstr>
      <vt:lpstr>Step 2: General Ledger: Manage Accounting and Reporting Sequences </vt:lpstr>
      <vt:lpstr>Step 2: General Ledger: Manage Accounting and Reporting Sequences </vt:lpstr>
      <vt:lpstr>Step 3: Create a New Sequence </vt:lpstr>
      <vt:lpstr>Step 3: Create a New Sequence </vt:lpstr>
      <vt:lpstr>Step 4: Create Sequence: Name and Version </vt:lpstr>
      <vt:lpstr>Step 4: Create Sequence: Name and Version </vt:lpstr>
      <vt:lpstr>Step 5: Sequence Created: Open Sequencing Assignments</vt:lpstr>
      <vt:lpstr>Step 5: Sequence Created: Open Sequencing Assignments</vt:lpstr>
      <vt:lpstr>Step 6: Sequencing Assignments: Create</vt:lpstr>
      <vt:lpstr>Step 6: Sequencing Assignments: Create</vt:lpstr>
      <vt:lpstr>Step 7: Create Sequencing Assignment: Posting</vt:lpstr>
      <vt:lpstr>Step 7: Create Sequencing Assignment: Posting</vt:lpstr>
      <vt:lpstr>Step 8: Create Sequencing Assignment: Period Close </vt:lpstr>
      <vt:lpstr>Step 8: Create Sequencing Assignment: Period Close</vt:lpstr>
      <vt:lpstr>Part 3: Create Batch with Many Journals </vt:lpstr>
      <vt:lpstr>Step 1: General Accounting Home: Open Journals</vt:lpstr>
      <vt:lpstr>Step 1: General Accounting Home: Open Journals</vt:lpstr>
      <vt:lpstr>Step 2: Journals Page: Create Journal</vt:lpstr>
      <vt:lpstr>Step 2: Journals Page: Create Journal</vt:lpstr>
      <vt:lpstr>Step 3: Journal Batch NSS_Batch 1 with Multiple Journals</vt:lpstr>
      <vt:lpstr>Step 3: Journal Batch NSS_Batch 1 with Multiple Journals</vt:lpstr>
      <vt:lpstr>Step 4: Post the Batch: Confirmation Message</vt:lpstr>
      <vt:lpstr>Step 4: Post the Batch: Confirmation Message</vt:lpstr>
      <vt:lpstr>Step 5: Manage Journals: Batch Journals Posted</vt:lpstr>
      <vt:lpstr>Step 5: Manage Journals: Batch Journals Posted</vt:lpstr>
      <vt:lpstr>Part 4: Reverse Journal</vt:lpstr>
      <vt:lpstr>Step 1: Create Journal: Batch NSS Batch 2 with Journal Lines</vt:lpstr>
      <vt:lpstr>Step 1: Create Journal: Batch NSS Batch 2 with Journal Lines</vt:lpstr>
      <vt:lpstr>Step 2: Journal Saved and Selected for Posting</vt:lpstr>
      <vt:lpstr>Step 2: Journal Saved and Selected for Posting</vt:lpstr>
      <vt:lpstr>Step 3: Journals Page: Open Manage Journals</vt:lpstr>
      <vt:lpstr>Step 3: Journals Page: Open Manage Journals</vt:lpstr>
      <vt:lpstr>Step 4: Manage Journals: Search the Posted Journal</vt:lpstr>
      <vt:lpstr>Step 4: Manage Journals: Search the Posted Journal</vt:lpstr>
      <vt:lpstr>Step 5: Select the Journal and Click Reverse Batch</vt:lpstr>
      <vt:lpstr>Step 5: Select the Journal and Click Reverse Batch</vt:lpstr>
      <vt:lpstr>Step 6: Reverse Journal Batch Window</vt:lpstr>
      <vt:lpstr>Step 6: Reverse Journal Batch Window</vt:lpstr>
      <vt:lpstr>Step 7: Choose Reversal Period and Reversal Method</vt:lpstr>
      <vt:lpstr>Step 7: Choose Reversal Period and Reversal Method</vt:lpstr>
      <vt:lpstr>Step 8: Confirmation: Reversal Process Submitted</vt:lpstr>
      <vt:lpstr>Step 8: Confirmation: Reversal Process Submitted</vt:lpstr>
      <vt:lpstr>Step 9: Reversal Journal Created in the Next Period</vt:lpstr>
      <vt:lpstr>Step 9: Reversal Journal Created in the Next Period</vt:lpstr>
      <vt:lpstr>Part 5: Intercompany</vt:lpstr>
      <vt:lpstr>Step 1: Setup and Maintenance</vt:lpstr>
      <vt:lpstr>Step 1: Setup and Maintenance</vt:lpstr>
      <vt:lpstr>Step 2: Intercompany: Manage Intercompany Balancing Rules</vt:lpstr>
      <vt:lpstr>Step 2: Intercompany: Manage Intercompany Balancing Rules</vt:lpstr>
      <vt:lpstr>Step 3: Manage Intercompany Balancing Rules: Primary Segment Rules</vt:lpstr>
      <vt:lpstr>Step 3: Manage Intercompany Balancing Rules: Primary Segment Rules</vt:lpstr>
      <vt:lpstr>Step 4: Create Primary Segment Balancing Rules</vt:lpstr>
      <vt:lpstr>Step 4: Create Primary Segment Balancing Rules</vt:lpstr>
      <vt:lpstr>Step 5: Balancing Rules Created</vt:lpstr>
      <vt:lpstr>Step 5: Balancing Rules Created</vt:lpstr>
      <vt:lpstr>Step 6: Create an Intercompany Journal</vt:lpstr>
      <vt:lpstr>Step 6: Create an Intercompany Journal</vt:lpstr>
      <vt:lpstr>Step 7: Post the Journal: Confirmation Message</vt:lpstr>
      <vt:lpstr>Step 7: Post the Journal: Confirmation Message</vt:lpstr>
      <vt:lpstr>Step 8: Manage Journals: Intercompany Journal Posted</vt:lpstr>
      <vt:lpstr>Step 8: Manage Journals: Intercompany Journal Posted</vt:lpstr>
      <vt:lpstr>Step 9: Open Additional Intercompany Balancing and Clearing Options</vt:lpstr>
      <vt:lpstr>Step 9: Open Additional Intercompany Balancing and Clearing Options</vt:lpstr>
      <vt:lpstr>Step 10: Create Additional Options: Summarization</vt:lpstr>
      <vt:lpstr>Step 10: Create Additional Options: Summarization</vt:lpstr>
      <vt:lpstr>Step 11: Clearing Company Value</vt:lpstr>
      <vt:lpstr>Step 12: Condition for Many-to-Many Journals</vt:lpstr>
      <vt:lpstr>Part 6: Cross-Validation Rules</vt:lpstr>
      <vt:lpstr>Step 1: Setup and Maintenance</vt:lpstr>
      <vt:lpstr>Step 1: Setup and Maintenance</vt:lpstr>
      <vt:lpstr>Step 2: Financial Reporting Structures: Manage Cross-Validation Rules</vt:lpstr>
      <vt:lpstr>Step 2: Financial Reporting Structures: Manage Cross-Validation Rules</vt:lpstr>
      <vt:lpstr>Step 3: Manage Cross-Validations: Rules Tab</vt:lpstr>
      <vt:lpstr>Step 3: Manage Cross-Validations: Rules Tab</vt:lpstr>
      <vt:lpstr>Step 4: Select the Chart of Accounts and Create the Rule</vt:lpstr>
      <vt:lpstr>Step 4: Select the Chart of Accounts and Create the Rule</vt:lpstr>
      <vt:lpstr>Step 5: Condition Filter: Add Fields</vt:lpstr>
      <vt:lpstr>Step 5: Condition Filter: Add Fields</vt:lpstr>
      <vt:lpstr>Step 6: Condition Filter: Department and Account Conditions</vt:lpstr>
      <vt:lpstr>Step 6: Condition Filter: Department and Account Conditions</vt:lpstr>
      <vt:lpstr>Step 7: Cross-Validation Rule Details </vt:lpstr>
      <vt:lpstr>Step 7: Cross-Validation Rule Details</vt:lpstr>
      <vt:lpstr>Applications of Foreign Currency Transactions and Period-End Financial Settlements: Revaluation &amp; Translation</vt:lpstr>
      <vt:lpstr>PowerPoint Presentation</vt:lpstr>
      <vt:lpstr>PowerPoint Presentation</vt:lpstr>
      <vt:lpstr>Within the functional area, select Financial Reporting Structure Subsequently, navigate to the Manage Currencies task</vt:lpstr>
      <vt:lpstr>Through the search screen, search for the target foreign currency code to be used, such as USD, and verify that the currency is activated on the system by the presence of a ✔ mark in the Enabled field. </vt:lpstr>
      <vt:lpstr>PowerPoint Presentation</vt:lpstr>
      <vt:lpstr>Create Conversion Rate Type </vt:lpstr>
      <vt:lpstr>Create Conversion Rate Type </vt:lpstr>
      <vt:lpstr>In the Currency Rates Manager screen, add a new Custom Rate Type, specifying its name and description as demonstrated by the creation of "Nile Spot".</vt:lpstr>
      <vt:lpstr>To designate this type as the system's default option, select its corresponding row, then open the Actions menu and select the Change Default Rate Type command</vt:lpstr>
      <vt:lpstr>Upon saving, a green checkmark (✔) appears in the Default Rate Type column adjacent to the created rate, confirming its successful activation as the default option.</vt:lpstr>
      <vt:lpstr>PowerPoint Presentation</vt:lpstr>
      <vt:lpstr>Create Currency daily Rate</vt:lpstr>
      <vt:lpstr>Prior to entering exchange rates, it is imperative to ensure that the user account possesses the Employee Role. This is verified through the user information screen, which displays the Assigned Roles, such as the Employee role, that grant access to system tools.</vt:lpstr>
      <vt:lpstr>Secondly - Download ADF: Upon verifying the privileges, navigate to the Tools menu from the main menu, and select the Download ADF Desktop Integrator option. This tool establishes the communication bridge between Oracle and Microsoft Excel.</vt:lpstr>
      <vt:lpstr>Thirdly - Create in Spreadsheet: Subsequently, navigate to the Currency Rates Manager screen, specifically to the Daily Rates tab. By clicking the Create in Spreadsheet button, the system will download a Smart Excel Template pre-configured to receive data.</vt:lpstr>
      <vt:lpstr>PowerPoint Presentation</vt:lpstr>
      <vt:lpstr>Upon opening the downloaded Excel file, the system first requires Authentication by logging in with the Oracle Cloud user account to ensure secure data transmission</vt:lpstr>
      <vt:lpstr>Entering Exchange Rate Data: The data is arranged within the table such that a distinct row is allocated for each currency pair. We specify the From Currency and the To Currency, and subsequently select the previously created Rate Type, such as "NileRate"</vt:lpstr>
      <vt:lpstr>PowerPoint Presentation</vt:lpstr>
      <vt:lpstr>The Submission Options window will appear, where we must ensure the "Automatically submit daily rates import program" option is enabled, and subsequently click OK.</vt:lpstr>
      <vt:lpstr>The system will process the data and display a Confirmation message indicating the number of successfully inserted records and the Process ID submitted to the Daily Rates Interface Table.</vt:lpstr>
      <vt:lpstr>PowerPoint Presentation</vt:lpstr>
      <vt:lpstr> By returning to the Currency Rates Manager screen and querying the imported currencies, such as SAR to EGP, it is clearly evident that the rates uploaded via ADF have been successfully recorded and their effective dates are active.</vt:lpstr>
      <vt:lpstr>Create Journal With Functional &amp; Foreign Currency Navigate to the General Accounting application, then proceed to the Journals management screen to Create Journal.</vt:lpstr>
      <vt:lpstr>PowerPoint Presentation</vt:lpstr>
      <vt:lpstr>The segregation between the Entered and Accounted fields constitutes Oracle's fundamental mechanism to ensure that all transactions ultimately flow into the Trial Balance in a single currency (the Functional Currency), while preserving the original values for bank reconciliations and supplier/customer settlements.</vt:lpstr>
      <vt:lpstr>Creating and Posting a diverse set of journal entries to establish sufficient balances for testing the subsequent Revaluation process.</vt:lpstr>
      <vt:lpstr>PowerPoint Presentation</vt:lpstr>
      <vt:lpstr>Revaluation </vt:lpstr>
      <vt:lpstr>Through the Setup and Maintenance screen, navigate to the General Ledger functional area, and subsequently select the Manage Revaluations task.</vt:lpstr>
      <vt:lpstr>On the Manage Revaluations screen, click the Add (+) icon to create a new Revaluation template</vt:lpstr>
      <vt:lpstr>On the Edit Revaluation screen, enter the template's defining parameters, such as the Name "revaluation cash in bank", and specify the Chart of Accounts and the Revaluation Currency as USD</vt:lpstr>
      <vt:lpstr>PowerPoint Presentation</vt:lpstr>
      <vt:lpstr>Returning to the Manage Revaluations screen, select the established "revaluation cash in bank" template, and subsequently click the Generate button.</vt:lpstr>
      <vt:lpstr>The Basic Options window for process execution will appear, where we specify the process parameters, such as the Data Access Set and the Ledger, to ensure the journals are accurately routed to the correct ledger. Specify the Accounting Period as Oct-26. Crucially, input the Accounting Date and the Rate Date; these are designated here as October 15, 2026, to align with the previously uploaded conversion rate</vt:lpstr>
      <vt:lpstr>Upon clicking Submit, the system generates a Confirmation message providing the Process ID.  To monitor the execution status, navigate to the Scheduled Processes screen and query using the Process ID to verify that the Revalue Balances program has completed successfully with a Status of "Succeeded".</vt:lpstr>
      <vt:lpstr>Reviewing and analyzing the accounting journal generated by the Revaluation process (Revaluation Journal), and verifying the accurate accounting routing for currency variances (Unrealized Exchange Gains/Losses) and their direct impact on the financial statements.. Navigating to the Manage Journals screen and querying for posted journals clearly reveals the automatically generated journal, designated with the Source and Category: Revaluation</vt:lpstr>
      <vt:lpstr>Upon accessing the Journal Lines, we observe that the system utilized the updated Conversion Rate to calculate the variances.</vt:lpstr>
      <vt:lpstr>Observe that the Entered USD field reflects a value of 0.00 for both lines. This occurs because the Revaluation process does not alter the actual USD bank balance; rather, it exclusively adjusts the equivalent Accounted EGP value within the ledger to align with the current market exchange rate.</vt:lpstr>
      <vt:lpstr>Translation</vt:lpstr>
      <vt:lpstr>PowerPoint Presentation</vt:lpstr>
      <vt:lpstr>- Creating the Reporting Currency: From the General Accounting setup menu, navigate to the Manage Reporting Currencies task.</vt:lpstr>
      <vt:lpstr>On the review screen for the ShaimaaProGL EG Ledger, click the Add (+) icon to create a new translation setup. </vt:lpstr>
      <vt:lpstr>PowerPoint Presentation</vt:lpstr>
      <vt:lpstr>PowerPoint Presentation</vt:lpstr>
      <vt:lpstr>PowerPoint Presentation</vt:lpstr>
      <vt:lpstr>From the Period Close dashboard, navigate to the tasks list and select to run the Translate Balances program</vt:lpstr>
      <vt:lpstr>On the Basic Options screen, specify the execution parameters such as the Ledger, the Target Currency: USD, the Accounting Period, and the Balancing Segment: 10, then click Submit.</vt:lpstr>
      <vt:lpstr>The system generates a Process ID to confirm the initiation of the process.</vt:lpstr>
      <vt:lpstr>Inquiry &amp; Reconciliation: To verify the results, return to the Period Close screen and select the Inquire on Detail Balances task.</vt:lpstr>
      <vt:lpstr>PowerPoint Presentation</vt:lpstr>
      <vt:lpstr>PowerPoint Presentation</vt:lpstr>
      <vt:lpstr>For deeper analysis, clicking directly on any of the displayed balances navigates to the Journal Lines detail screen. This view displays every individual journal entry that contributed to the formation of this balance, clearly illustrating both the Entered and Accounted values for each transaction.</vt:lpstr>
      <vt:lpstr>PowerPoint Presentation</vt:lpstr>
      <vt:lpstr>Budget </vt:lpstr>
      <vt:lpstr>Introduction to Budget in Oracle Fusion</vt:lpstr>
      <vt:lpstr>PowerPoint Presentation</vt:lpstr>
      <vt:lpstr>PowerPoint Presentation</vt:lpstr>
      <vt:lpstr>Step 1 is adding the role </vt:lpstr>
      <vt:lpstr>After signing in click on the navigator </vt:lpstr>
      <vt:lpstr>From the navigator click and tools to drop the list and choose security console Click on users and search for the user and click edit to add the role, search on budget manager and click add role membership and make sure this will be enabled </vt:lpstr>
      <vt:lpstr>Step 2 Creating person Click on the icon that has your name and click setup and maintenance</vt:lpstr>
      <vt:lpstr>From the top of the screen choose from the offering financials and choose from the dropdown menu users and security and click on manager users </vt:lpstr>
      <vt:lpstr>Click on (+) and a screen will be displayed to put the first and last name, email and hiring date.</vt:lpstr>
      <vt:lpstr>In the employment information we need to choose the prompt type, and connect the legal entity and business unit will the person use.  Click save and close then done.</vt:lpstr>
      <vt:lpstr>Step 3 add manager  From setup and maintenance choose Organization structure then choose manager Business unit.  </vt:lpstr>
      <vt:lpstr>Search for the business unit and choose it </vt:lpstr>
      <vt:lpstr>Put the manager that you created and click save and close. </vt:lpstr>
      <vt:lpstr>Creating budget has 4 steps Enable budgetary control and encumbrance account From budgetary control and encumbrance account click manage control </vt:lpstr>
      <vt:lpstr>Search for your ledger and choose it, a screen will be displayed make sure that you enabled budgetary control and Encumbrance accounting, and add the encumbrance accounting we added 10-100-24990-10-1000 as encumbrance accounting for our company.</vt:lpstr>
      <vt:lpstr>PowerPoint Presentation</vt:lpstr>
      <vt:lpstr>2-Make a calendar for budget   Click on manager control budget then + create </vt:lpstr>
      <vt:lpstr>Make sure your putting name, connecting budget calendar with the ledger, choose the periods (start and end), the source type, currency, the budget manager and the source budget name. </vt:lpstr>
      <vt:lpstr>Click action and make it in use then Click save and close ( waring message will be displayed click yes)</vt:lpstr>
      <vt:lpstr>Step 3 Manage Control Budget Data Access for Users: From setup and maintenance click from the offering on the budgetary control and encumbrance account then Manage Control Budget Data Access for Users Click create and add the user’s name, role and connect it with the business unit  Click save and close.</vt:lpstr>
      <vt:lpstr>4- Open periods We have 2 options to reach budgetary control from the navigate or the home page </vt:lpstr>
      <vt:lpstr>From the task list choose budget period status</vt:lpstr>
      <vt:lpstr>Make sure you’re opening all the periods you will use. Click save and close </vt:lpstr>
      <vt:lpstr>From the task list choose Enable budget on spread sheet and put the budget usage and control budget Make sure you’re choosing new budget or replacement then click on create spread sheet</vt:lpstr>
      <vt:lpstr>After downloading the excel sheet sign in and put the account the details on the budget from Jan till Dec.</vt:lpstr>
      <vt:lpstr>Click on submit and from schedule process on the navigator check if it’s running successfully.</vt:lpstr>
      <vt:lpstr>Transfer and increase   To transfer Click on review budgetary control balance </vt:lpstr>
      <vt:lpstr>Search for the budget name that you create, put the company account project and everything and the balances will be displayed</vt:lpstr>
      <vt:lpstr>PowerPoint Presentation</vt:lpstr>
      <vt:lpstr>Click on the account and select transfer from and then select on the other account and select transfer</vt:lpstr>
      <vt:lpstr>to Put the amounts and then put the Justifications then click submit </vt:lpstr>
      <vt:lpstr>A request will be running and will reflect on the balances.</vt:lpstr>
      <vt:lpstr>or you can increase account’s budget through editing the amounts from task list – ener budget in spreadsheet  (but this time you will choose budget entry classification as a revision)</vt:lpstr>
      <vt:lpstr>PowerPoint Presentation</vt:lpstr>
      <vt:lpstr>NSS created a Budget Revision for Account 52152, increasing the budget by 500 EGP per month from January through December 2026. ✅</vt:lpstr>
      <vt:lpstr>PowerPoint Presentation</vt:lpstr>
      <vt:lpstr>Check Funds and Reserve Funds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شيماء سيد حسين</dc:creator>
  <cp:lastModifiedBy>شيماء سيد حسين</cp:lastModifiedBy>
  <cp:revision>5</cp:revision>
  <dcterms:created xsi:type="dcterms:W3CDTF">2026-10-26T17:53:56Z</dcterms:created>
  <dcterms:modified xsi:type="dcterms:W3CDTF">2026-10-27T17:55:32Z</dcterms:modified>
</cp:coreProperties>
</file>